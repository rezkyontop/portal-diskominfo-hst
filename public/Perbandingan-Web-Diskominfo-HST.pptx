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id-ID"/>
    </a:defPPr>
    <a:lvl1pPr marL="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erbandingan-web-diskominf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id-ID" smtClean="0"/>
              <a:t>1/27/13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erbandingan-web-diskominf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id-ID" smtClean="0"/>
              <a:t>1/27/13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id-ID" smtClean="0"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id-ID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id-ID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id-ID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id-ID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eff90f49fa1beb9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958f49fcda3115a.png"/>
  <Relationship Id="rId3" Type="http://schemas.openxmlformats.org/officeDocument/2006/relationships/image" Target="../media/image_beff90f49fa1beb9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0db8632d05a9f19.png"/>
  <Relationship Id="rId3" Type="http://schemas.openxmlformats.org/officeDocument/2006/relationships/image" Target="../media/image_e624d9cc68383721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55000">
              <a:srgbClr val="0E1728"/>
            </a:gs>
            <a:gs pos="100000">
              <a:srgbClr val="101E3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glow-a"/>
          <p:cNvSpPr/>
          <p:nvPr/>
        </p:nvSpPr>
        <p:spPr>
          <a:xfrm>
            <a:off x="6953250" y="-2095500"/>
            <a:ext cx="6286500" cy="6286500"/>
          </a:xfrm>
          <a:prstGeom prst="ellipse">
            <a:avLst/>
          </a:prstGeom>
          <a:gradFill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cover-glow-b"/>
          <p:cNvSpPr/>
          <p:nvPr/>
        </p:nvSpPr>
        <p:spPr>
          <a:xfrm>
            <a:off x="-1809750" y="3333750"/>
            <a:ext cx="5715000" cy="5715000"/>
          </a:xfrm>
          <a:prstGeom prst="ellipse">
            <a:avLst/>
          </a:prstGeom>
          <a:gradFill>
            <a:gsLst>
              <a:gs pos="0">
                <a:srgbClr val="818CF8">
                  <a:alpha val="20000"/>
                </a:srgbClr>
              </a:gs>
              <a:gs pos="100000">
                <a:srgbClr val="818C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6" name="cover-badge"/>
          <p:cNvGrpSpPr/>
          <p:nvPr/>
        </p:nvGrpSpPr>
        <p:grpSpPr>
          <a:xfrm>
            <a:off x="762000" y="1238250"/>
            <a:ext cx="3276600" cy="361950"/>
            <a:chOff x="762000" y="1238250"/>
            <a:chExt cx="3276600" cy="36195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276600" cy="361950"/>
            </a:xfrm>
            <a:prstGeom prst="roundRect">
              <a:avLst>
                <a:gd name="adj" fmla="val 50000"/>
              </a:avLst>
            </a:prstGeom>
            <a:solidFill>
              <a:srgbClr val="22D3EE">
                <a:alpha val="10000"/>
              </a:srgbClr>
            </a:solidFill>
            <a:ln w="14288">
              <a:solidFill>
                <a:srgbClr val="22D3EE">
                  <a:alpha val="45000"/>
                </a:srgb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65835" y="1354931"/>
              <a:ext cx="2894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KABUPATEN HULU SUNGAI TENGAH</a:t>
              </a: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745236" y="2082165"/>
            <a:ext cx="5138878" cy="1216914"/>
            <a:chOff x="745236" y="2082165"/>
            <a:chExt cx="5138878" cy="1216914"/>
          </a:xfrm>
        </p:grpSpPr>
        <p:sp>
          <p:nvSpPr>
            <p:cNvPr id="7" name="TextBox 7"/>
            <p:cNvSpPr txBox="1"/>
            <p:nvPr/>
          </p:nvSpPr>
          <p:spPr>
            <a:xfrm>
              <a:off x="745236" y="2082165"/>
              <a:ext cx="5138878" cy="1216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Membangun Ulang</a:t>
              </a:r>
              <a:br/>
              <a:r>
                <a:rPr lang="id-ID" sz="33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Portal Diskominfo SP HST</a:t>
              </a:r>
            </a:p>
          </p:txBody>
        </p:sp>
      </p:grpSp>
      <p:grpSp>
        <p:nvGrpSpPr>
          <p:cNvPr id="10" name="cover-sub"/>
          <p:cNvGrpSpPr/>
          <p:nvPr/>
        </p:nvGrpSpPr>
        <p:grpSpPr>
          <a:xfrm>
            <a:off x="752094" y="3770948"/>
            <a:ext cx="3999944" cy="743331"/>
            <a:chOff x="752094" y="3770948"/>
            <a:chExt cx="3999944" cy="743331"/>
          </a:xfrm>
        </p:grpSpPr>
        <p:sp>
          <p:nvSpPr>
            <p:cNvPr id="9" name="TextBox 9"/>
            <p:cNvSpPr txBox="1"/>
            <p:nvPr/>
          </p:nvSpPr>
          <p:spPr>
            <a:xfrm>
              <a:off x="752094" y="3770948"/>
              <a:ext cx="3999944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id-ID" sz="195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Perbandingan Website Lama vs Baru</a:t>
              </a:r>
              <a:br/>
              <a:r>
                <a:rPr lang="id-ID" sz="195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berbasis bukti terukur, bukan opini</a:t>
              </a:r>
            </a:p>
          </p:txBody>
        </p:sp>
      </p:grpSp>
      <p:grpSp>
        <p:nvGrpSpPr>
          <p:cNvPr id="13" name="cover-meta"/>
          <p:cNvGrpSpPr/>
          <p:nvPr/>
        </p:nvGrpSpPr>
        <p:grpSpPr>
          <a:xfrm>
            <a:off x="755523" y="4972050"/>
            <a:ext cx="5911977" cy="759428"/>
            <a:chOff x="755523" y="4972050"/>
            <a:chExt cx="5911977" cy="759428"/>
          </a:xfrm>
        </p:grpSpPr>
        <p:sp>
          <p:nvSpPr>
            <p:cNvPr id="11" name="Rectangle 11"/>
            <p:cNvSpPr/>
            <p:nvPr/>
          </p:nvSpPr>
          <p:spPr>
            <a:xfrm>
              <a:off x="762000" y="4972050"/>
              <a:ext cx="5905500" cy="28575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100000">
                  <a:srgbClr val="818CF8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523" y="5215414"/>
              <a:ext cx="396586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id-ID" sz="128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Dinas Komunikasi, Informatika, Statistik dan Persandian</a:t>
              </a:r>
              <a:br/>
              <a:r>
                <a:rPr lang="id-ID" sz="128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Kabupaten Hulu Sungai Tengah · September 2026</a:t>
              </a:r>
            </a:p>
          </p:txBody>
        </p:sp>
      </p:grpSp>
      <p:grpSp>
        <p:nvGrpSpPr>
          <p:cNvPr id="17" name="cover-visual"/>
          <p:cNvGrpSpPr/>
          <p:nvPr/>
        </p:nvGrpSpPr>
        <p:grpSpPr>
          <a:xfrm>
            <a:off x="6858000" y="1714500"/>
            <a:ext cx="4610100" cy="2857500"/>
            <a:chOff x="6858000" y="1714500"/>
            <a:chExt cx="46101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6858000" y="1714500"/>
              <a:ext cx="4610100" cy="2857500"/>
            </a:xfrm>
            <a:prstGeom prst="roundRect">
              <a:avLst>
                <a:gd name="adj" fmla="val 5333"/>
              </a:avLst>
            </a:prstGeom>
            <a:solidFill>
              <a:srgbClr val="121E31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rcRect l="0" t="413" r="0" b="413"/>
            <a:stretch>
              <a:fillRect/>
            </a:stretch>
          </p:blipFill>
          <p:spPr>
            <a:xfrm>
              <a:off x="6858000" y="1714500"/>
              <a:ext cx="4610100" cy="2857500"/>
            </a:xfrm>
            <a:prstGeom prst="roundRect">
              <a:avLst>
                <a:gd name="adj" fmla="val 5333"/>
              </a:avLst>
            </a:prstGeom>
          </p:spPr>
        </p:pic>
        <p:sp>
          <p:nvSpPr>
            <p:cNvPr id="16" name="Rectangle 16"/>
            <p:cNvSpPr/>
            <p:nvPr/>
          </p:nvSpPr>
          <p:spPr>
            <a:xfrm>
              <a:off x="6858000" y="1714500"/>
              <a:ext cx="4610100" cy="2857500"/>
            </a:xfrm>
            <a:prstGeom prst="roundRect">
              <a:avLst>
                <a:gd name="adj" fmla="val 5333"/>
              </a:avLst>
            </a:prstGeom>
            <a:noFill/>
            <a:ln w="14288">
              <a:solidFill>
                <a:srgbClr val="22D3EE">
                  <a:alpha val="50000"/>
                </a:srgbClr>
              </a:solidFill>
            </a:ln>
          </p:spPr>
        </p:sp>
      </p:grpSp>
      <p:grpSp>
        <p:nvGrpSpPr>
          <p:cNvPr id="21" name="cover-tags"/>
          <p:cNvGrpSpPr/>
          <p:nvPr/>
        </p:nvGrpSpPr>
        <p:grpSpPr>
          <a:xfrm>
            <a:off x="787400" y="5988049"/>
            <a:ext cx="3166335" cy="292260"/>
            <a:chOff x="787400" y="5988049"/>
            <a:chExt cx="3166335" cy="292260"/>
          </a:xfrm>
        </p:grpSpPr>
        <p:sp>
          <p:nvSpPr>
            <p:cNvPr id="18" name="Freeform 18"/>
            <p:cNvSpPr/>
            <p:nvPr/>
          </p:nvSpPr>
          <p:spPr>
            <a:xfrm>
              <a:off x="787400" y="6000750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244599" y="5988049"/>
              <a:ext cx="177802" cy="254002"/>
            </a:xfrm>
            <a:custGeom>
              <a:avLst/>
              <a:gdLst/>
              <a:ahLst/>
              <a:cxnLst/>
              <a:rect l="l" t="t" r="r" b="b"/>
              <a:pathLst>
                <a:path w="177802" h="254002">
                  <a:moveTo>
                    <a:pt x="139701" y="1"/>
                  </a:moveTo>
                  <a:cubicBezTo>
                    <a:pt x="159875" y="0"/>
                    <a:pt x="176554" y="15726"/>
                    <a:pt x="177737" y="35866"/>
                  </a:cubicBezTo>
                  <a:lnTo>
                    <a:pt x="177801" y="38101"/>
                  </a:lnTo>
                  <a:lnTo>
                    <a:pt x="177801" y="215901"/>
                  </a:lnTo>
                  <a:cubicBezTo>
                    <a:pt x="177802" y="236075"/>
                    <a:pt x="162076" y="252753"/>
                    <a:pt x="141936" y="253937"/>
                  </a:cubicBezTo>
                  <a:lnTo>
                    <a:pt x="139701" y="254000"/>
                  </a:lnTo>
                  <a:lnTo>
                    <a:pt x="38101" y="254000"/>
                  </a:lnTo>
                  <a:cubicBezTo>
                    <a:pt x="17926" y="254002"/>
                    <a:pt x="1248" y="238276"/>
                    <a:pt x="65" y="218136"/>
                  </a:cubicBezTo>
                  <a:lnTo>
                    <a:pt x="1" y="215901"/>
                  </a:lnTo>
                  <a:lnTo>
                    <a:pt x="1" y="38101"/>
                  </a:lnTo>
                  <a:cubicBezTo>
                    <a:pt x="0" y="17926"/>
                    <a:pt x="15726" y="1248"/>
                    <a:pt x="35866" y="65"/>
                  </a:cubicBezTo>
                  <a:lnTo>
                    <a:pt x="38101" y="1"/>
                  </a:lnTo>
                  <a:lnTo>
                    <a:pt x="139701" y="1"/>
                  </a:lnTo>
                  <a:close/>
                  <a:moveTo>
                    <a:pt x="88901" y="177801"/>
                  </a:moveTo>
                  <a:cubicBezTo>
                    <a:pt x="82462" y="177802"/>
                    <a:pt x="77043" y="182620"/>
                    <a:pt x="76290" y="189015"/>
                  </a:cubicBezTo>
                  <a:lnTo>
                    <a:pt x="76201" y="190501"/>
                  </a:lnTo>
                  <a:lnTo>
                    <a:pt x="76290" y="192114"/>
                  </a:lnTo>
                  <a:cubicBezTo>
                    <a:pt x="77050" y="198502"/>
                    <a:pt x="82467" y="203313"/>
                    <a:pt x="88901" y="203313"/>
                  </a:cubicBezTo>
                  <a:cubicBezTo>
                    <a:pt x="95335" y="203313"/>
                    <a:pt x="100752" y="198502"/>
                    <a:pt x="101512" y="192114"/>
                  </a:cubicBezTo>
                  <a:lnTo>
                    <a:pt x="101601" y="190628"/>
                  </a:lnTo>
                  <a:lnTo>
                    <a:pt x="101512" y="189015"/>
                  </a:lnTo>
                  <a:cubicBezTo>
                    <a:pt x="100759" y="182620"/>
                    <a:pt x="95339" y="177802"/>
                    <a:pt x="88901" y="177801"/>
                  </a:cubicBezTo>
                  <a:close/>
                  <a:moveTo>
                    <a:pt x="101601" y="25401"/>
                  </a:moveTo>
                  <a:lnTo>
                    <a:pt x="76201" y="25401"/>
                  </a:lnTo>
                  <a:lnTo>
                    <a:pt x="74715" y="25490"/>
                  </a:lnTo>
                  <a:cubicBezTo>
                    <a:pt x="68326" y="26250"/>
                    <a:pt x="63515" y="31667"/>
                    <a:pt x="63515" y="38101"/>
                  </a:cubicBezTo>
                  <a:cubicBezTo>
                    <a:pt x="63515" y="44535"/>
                    <a:pt x="68326" y="49952"/>
                    <a:pt x="74715" y="50712"/>
                  </a:cubicBezTo>
                  <a:lnTo>
                    <a:pt x="76201" y="50801"/>
                  </a:lnTo>
                  <a:lnTo>
                    <a:pt x="101601" y="50801"/>
                  </a:lnTo>
                  <a:lnTo>
                    <a:pt x="103087" y="50712"/>
                  </a:lnTo>
                  <a:cubicBezTo>
                    <a:pt x="109475" y="49952"/>
                    <a:pt x="114287" y="44535"/>
                    <a:pt x="114287" y="38101"/>
                  </a:cubicBezTo>
                  <a:cubicBezTo>
                    <a:pt x="114287" y="31667"/>
                    <a:pt x="109475" y="26250"/>
                    <a:pt x="103087" y="25490"/>
                  </a:cubicBezTo>
                  <a:lnTo>
                    <a:pt x="101601" y="25401"/>
                  </a:lnTo>
                  <a:close/>
                </a:path>
              </a:pathLst>
            </a:custGeom>
            <a:solidFill>
              <a:srgbClr val="818C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2585" y="6060281"/>
              <a:ext cx="2321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Responsif · Mode gelap · Aksesibel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-glow"/>
          <p:cNvSpPr/>
          <p:nvPr/>
        </p:nvSpPr>
        <p:spPr>
          <a:xfrm>
            <a:off x="8286750" y="-2095500"/>
            <a:ext cx="5334000" cy="5334000"/>
          </a:xfrm>
          <a:prstGeom prst="ellipse">
            <a:avLst/>
          </a:prstGeom>
          <a:gradFill>
            <a:gsLst>
              <a:gs pos="0">
                <a:srgbClr val="22D3EE">
                  <a:alpha val="14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5" name="header"/>
          <p:cNvGrpSpPr/>
          <p:nvPr/>
        </p:nvGrpSpPr>
        <p:grpSpPr>
          <a:xfrm>
            <a:off x="745236" y="602456"/>
            <a:ext cx="8263558" cy="944023"/>
            <a:chOff x="745236" y="602456"/>
            <a:chExt cx="8263558" cy="944023"/>
          </a:xfrm>
        </p:grpSpPr>
        <p:sp>
          <p:nvSpPr>
            <p:cNvPr id="3" name="TextBox 3"/>
            <p:cNvSpPr txBox="1"/>
            <p:nvPr/>
          </p:nvSpPr>
          <p:spPr>
            <a:xfrm>
              <a:off x="756285" y="602456"/>
              <a:ext cx="2060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RINGKASAN EKSEKUTIF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5236" y="901065"/>
              <a:ext cx="82635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Kesimpulan: Web Baru Unggul Terukur</a:t>
              </a:r>
            </a:p>
          </p:txBody>
        </p:sp>
      </p:grpSp>
      <p:grpSp>
        <p:nvGrpSpPr>
          <p:cNvPr id="10" name="kpi-speed"/>
          <p:cNvGrpSpPr/>
          <p:nvPr/>
        </p:nvGrpSpPr>
        <p:grpSpPr>
          <a:xfrm>
            <a:off x="762000" y="2152650"/>
            <a:ext cx="2495550" cy="1562100"/>
            <a:chOff x="762000" y="2152650"/>
            <a:chExt cx="2495550" cy="1562100"/>
          </a:xfrm>
        </p:grpSpPr>
        <p:sp>
          <p:nvSpPr>
            <p:cNvPr id="6" name="Rectangle 6"/>
            <p:cNvSpPr/>
            <p:nvPr/>
          </p:nvSpPr>
          <p:spPr>
            <a:xfrm>
              <a:off x="762000" y="2152650"/>
              <a:ext cx="2495550" cy="1562100"/>
            </a:xfrm>
            <a:prstGeom prst="roundRect">
              <a:avLst>
                <a:gd name="adj" fmla="val 9756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47103" y="240982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1550" y="2779395"/>
              <a:ext cx="115554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9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3,5×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123" y="3348514"/>
              <a:ext cx="1280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TTFB lebih cepat</a:t>
              </a:r>
            </a:p>
          </p:txBody>
        </p:sp>
      </p:grpSp>
      <p:grpSp>
        <p:nvGrpSpPr>
          <p:cNvPr id="19" name="kpi-seo"/>
          <p:cNvGrpSpPr/>
          <p:nvPr/>
        </p:nvGrpSpPr>
        <p:grpSpPr>
          <a:xfrm>
            <a:off x="3486150" y="2152650"/>
            <a:ext cx="2495550" cy="1562100"/>
            <a:chOff x="3486150" y="2152650"/>
            <a:chExt cx="2495550" cy="1562100"/>
          </a:xfrm>
        </p:grpSpPr>
        <p:sp>
          <p:nvSpPr>
            <p:cNvPr id="11" name="Rectangle 11"/>
            <p:cNvSpPr/>
            <p:nvPr/>
          </p:nvSpPr>
          <p:spPr>
            <a:xfrm>
              <a:off x="3486150" y="2152650"/>
              <a:ext cx="2495550" cy="1562100"/>
            </a:xfrm>
            <a:prstGeom prst="roundRect">
              <a:avLst>
                <a:gd name="adj" fmla="val 9756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780940" y="2393509"/>
              <a:ext cx="222668" cy="302469"/>
              <a:chOff x="3780940" y="2393509"/>
              <a:chExt cx="222668" cy="3024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00475" y="2438398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8" y="2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780940" y="2393509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857625" y="2609850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800072" y="2667000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695700" y="2779395"/>
              <a:ext cx="94407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9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214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3348514"/>
              <a:ext cx="1170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URL di sitemap</a:t>
              </a:r>
            </a:p>
          </p:txBody>
        </p:sp>
      </p:grpSp>
      <p:grpSp>
        <p:nvGrpSpPr>
          <p:cNvPr id="24" name="kpi-sec"/>
          <p:cNvGrpSpPr/>
          <p:nvPr/>
        </p:nvGrpSpPr>
        <p:grpSpPr>
          <a:xfrm>
            <a:off x="6210300" y="2152650"/>
            <a:ext cx="2495550" cy="1562100"/>
            <a:chOff x="6210300" y="2152650"/>
            <a:chExt cx="2495550" cy="1562100"/>
          </a:xfrm>
        </p:grpSpPr>
        <p:sp>
          <p:nvSpPr>
            <p:cNvPr id="20" name="Rectangle 20"/>
            <p:cNvSpPr/>
            <p:nvPr/>
          </p:nvSpPr>
          <p:spPr>
            <a:xfrm>
              <a:off x="6210300" y="2152650"/>
              <a:ext cx="2495550" cy="1562100"/>
            </a:xfrm>
            <a:prstGeom prst="roundRect">
              <a:avLst>
                <a:gd name="adj" fmla="val 9756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461006" y="240982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149344" y="100012"/>
                  </a:moveTo>
                  <a:cubicBezTo>
                    <a:pt x="134391" y="100008"/>
                    <a:pt x="121962" y="111533"/>
                    <a:pt x="120841" y="126444"/>
                  </a:cubicBezTo>
                  <a:lnTo>
                    <a:pt x="120769" y="128588"/>
                  </a:lnTo>
                  <a:lnTo>
                    <a:pt x="120841" y="130731"/>
                  </a:lnTo>
                  <a:cubicBezTo>
                    <a:pt x="121556" y="140147"/>
                    <a:pt x="126877" y="148601"/>
                    <a:pt x="135057" y="153319"/>
                  </a:cubicBezTo>
                  <a:lnTo>
                    <a:pt x="135057" y="178594"/>
                  </a:lnTo>
                  <a:lnTo>
                    <a:pt x="135157" y="180265"/>
                  </a:lnTo>
                  <a:cubicBezTo>
                    <a:pt x="136050" y="187772"/>
                    <a:pt x="142635" y="193284"/>
                    <a:pt x="150182" y="192841"/>
                  </a:cubicBezTo>
                  <a:cubicBezTo>
                    <a:pt x="157728" y="192398"/>
                    <a:pt x="163623" y="186153"/>
                    <a:pt x="163632" y="178594"/>
                  </a:cubicBezTo>
                  <a:lnTo>
                    <a:pt x="163646" y="153333"/>
                  </a:lnTo>
                  <a:cubicBezTo>
                    <a:pt x="174848" y="146865"/>
                    <a:pt x="180308" y="133679"/>
                    <a:pt x="176957" y="121185"/>
                  </a:cubicBezTo>
                  <a:cubicBezTo>
                    <a:pt x="173606" y="108691"/>
                    <a:pt x="162280" y="100007"/>
                    <a:pt x="149344" y="100012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9850" y="2779395"/>
              <a:ext cx="34009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9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2423" y="3348514"/>
              <a:ext cx="13692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header keamanan</a:t>
              </a:r>
            </a:p>
          </p:txBody>
        </p:sp>
      </p:grpSp>
      <p:grpSp>
        <p:nvGrpSpPr>
          <p:cNvPr id="29" name="kpi-tests"/>
          <p:cNvGrpSpPr/>
          <p:nvPr/>
        </p:nvGrpSpPr>
        <p:grpSpPr>
          <a:xfrm>
            <a:off x="8934450" y="2152650"/>
            <a:ext cx="2495550" cy="1562100"/>
            <a:chOff x="8934450" y="2152650"/>
            <a:chExt cx="2495550" cy="1562100"/>
          </a:xfrm>
        </p:grpSpPr>
        <p:sp>
          <p:nvSpPr>
            <p:cNvPr id="25" name="Rectangle 25"/>
            <p:cNvSpPr/>
            <p:nvPr/>
          </p:nvSpPr>
          <p:spPr>
            <a:xfrm>
              <a:off x="8934450" y="2152650"/>
              <a:ext cx="2495550" cy="1562100"/>
            </a:xfrm>
            <a:prstGeom prst="roundRect">
              <a:avLst>
                <a:gd name="adj" fmla="val 9756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220197" y="2409825"/>
              <a:ext cx="228606" cy="285750"/>
            </a:xfrm>
            <a:custGeom>
              <a:avLst/>
              <a:gdLst/>
              <a:ahLst/>
              <a:cxnLst/>
              <a:rect l="l" t="t" r="r" b="b"/>
              <a:pathLst>
                <a:path w="228606" h="285750">
                  <a:moveTo>
                    <a:pt x="199985" y="31004"/>
                  </a:moveTo>
                  <a:cubicBezTo>
                    <a:pt x="217136" y="37047"/>
                    <a:pt x="228606" y="53254"/>
                    <a:pt x="228603" y="71438"/>
                  </a:cubicBezTo>
                  <a:lnTo>
                    <a:pt x="228603" y="242888"/>
                  </a:lnTo>
                  <a:cubicBezTo>
                    <a:pt x="228603" y="266560"/>
                    <a:pt x="209413" y="285750"/>
                    <a:pt x="185741" y="285750"/>
                  </a:cubicBezTo>
                  <a:lnTo>
                    <a:pt x="42866" y="285750"/>
                  </a:lnTo>
                  <a:cubicBezTo>
                    <a:pt x="19193" y="285750"/>
                    <a:pt x="3" y="266560"/>
                    <a:pt x="3" y="242888"/>
                  </a:cubicBezTo>
                  <a:lnTo>
                    <a:pt x="3" y="71438"/>
                  </a:lnTo>
                  <a:cubicBezTo>
                    <a:pt x="0" y="53254"/>
                    <a:pt x="11471" y="37047"/>
                    <a:pt x="28621" y="31004"/>
                  </a:cubicBezTo>
                  <a:cubicBezTo>
                    <a:pt x="29922" y="61598"/>
                    <a:pt x="55106" y="85730"/>
                    <a:pt x="85728" y="85725"/>
                  </a:cubicBezTo>
                  <a:lnTo>
                    <a:pt x="142878" y="85725"/>
                  </a:lnTo>
                  <a:cubicBezTo>
                    <a:pt x="172214" y="85728"/>
                    <a:pt x="196787" y="63519"/>
                    <a:pt x="199742" y="34333"/>
                  </a:cubicBezTo>
                  <a:close/>
                  <a:moveTo>
                    <a:pt x="147064" y="132774"/>
                  </a:moveTo>
                  <a:lnTo>
                    <a:pt x="100016" y="179808"/>
                  </a:lnTo>
                  <a:lnTo>
                    <a:pt x="81542" y="161349"/>
                  </a:lnTo>
                  <a:cubicBezTo>
                    <a:pt x="77955" y="157635"/>
                    <a:pt x="72643" y="156145"/>
                    <a:pt x="67647" y="157453"/>
                  </a:cubicBezTo>
                  <a:cubicBezTo>
                    <a:pt x="62652" y="158760"/>
                    <a:pt x="58751" y="162661"/>
                    <a:pt x="57443" y="167657"/>
                  </a:cubicBezTo>
                  <a:cubicBezTo>
                    <a:pt x="56136" y="172652"/>
                    <a:pt x="57625" y="177964"/>
                    <a:pt x="61339" y="181551"/>
                  </a:cubicBezTo>
                  <a:lnTo>
                    <a:pt x="89914" y="210126"/>
                  </a:lnTo>
                  <a:cubicBezTo>
                    <a:pt x="95494" y="215704"/>
                    <a:pt x="104538" y="215704"/>
                    <a:pt x="110117" y="210126"/>
                  </a:cubicBezTo>
                  <a:lnTo>
                    <a:pt x="167267" y="152976"/>
                  </a:lnTo>
                  <a:cubicBezTo>
                    <a:pt x="172681" y="147370"/>
                    <a:pt x="172604" y="138459"/>
                    <a:pt x="167093" y="132948"/>
                  </a:cubicBezTo>
                  <a:cubicBezTo>
                    <a:pt x="161582" y="127437"/>
                    <a:pt x="152670" y="127359"/>
                    <a:pt x="147064" y="132774"/>
                  </a:cubicBezTo>
                  <a:moveTo>
                    <a:pt x="142878" y="0"/>
                  </a:moveTo>
                  <a:cubicBezTo>
                    <a:pt x="158660" y="0"/>
                    <a:pt x="171453" y="12793"/>
                    <a:pt x="171453" y="28575"/>
                  </a:cubicBezTo>
                  <a:cubicBezTo>
                    <a:pt x="171453" y="44357"/>
                    <a:pt x="158660" y="57150"/>
                    <a:pt x="142878" y="57150"/>
                  </a:cubicBezTo>
                  <a:lnTo>
                    <a:pt x="85728" y="57150"/>
                  </a:lnTo>
                  <a:cubicBezTo>
                    <a:pt x="69947" y="57150"/>
                    <a:pt x="57153" y="44357"/>
                    <a:pt x="57153" y="28575"/>
                  </a:cubicBezTo>
                  <a:cubicBezTo>
                    <a:pt x="57153" y="12793"/>
                    <a:pt x="69947" y="0"/>
                    <a:pt x="85728" y="0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44000" y="2779395"/>
              <a:ext cx="94407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9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178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56573" y="3348514"/>
              <a:ext cx="1553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tes, cakupan 98,89%</a:t>
              </a:r>
            </a:p>
          </p:txBody>
        </p:sp>
      </p:grpSp>
      <p:grpSp>
        <p:nvGrpSpPr>
          <p:cNvPr id="34" name="verdict"/>
          <p:cNvGrpSpPr/>
          <p:nvPr/>
        </p:nvGrpSpPr>
        <p:grpSpPr>
          <a:xfrm>
            <a:off x="762000" y="4114800"/>
            <a:ext cx="10668000" cy="1733550"/>
            <a:chOff x="762000" y="4114800"/>
            <a:chExt cx="10668000" cy="1733550"/>
          </a:xfrm>
        </p:grpSpPr>
        <p:sp>
          <p:nvSpPr>
            <p:cNvPr id="30" name="Rectangle 30"/>
            <p:cNvSpPr/>
            <p:nvPr/>
          </p:nvSpPr>
          <p:spPr>
            <a:xfrm>
              <a:off x="762000" y="4114800"/>
              <a:ext cx="10668000" cy="1733550"/>
            </a:xfrm>
            <a:prstGeom prst="roundRect">
              <a:avLst>
                <a:gd name="adj" fmla="val 8791"/>
              </a:avLst>
            </a:prstGeom>
            <a:solidFill>
              <a:srgbClr val="22D3EE">
                <a:alpha val="6000"/>
              </a:srgbClr>
            </a:solidFill>
            <a:ln w="14288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1085" y="4412456"/>
              <a:ext cx="1188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REKOMENDASI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6894" y="4742498"/>
              <a:ext cx="42326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Lanjutkan peluncuran portal baru.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8418" y="5174932"/>
              <a:ext cx="540268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id-ID" sz="165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Fondasi teknis, keamanan, SEO, dan aksesibilitasnya sudah</a:t>
              </a:r>
              <a:br/>
              <a:r>
                <a:rPr lang="id-ID" sz="165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terbukti terukur — bukan sekadar perubahan tampilan.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756285" y="6286500"/>
            <a:ext cx="10679430" cy="365284"/>
            <a:chOff x="756285" y="6286500"/>
            <a:chExt cx="10679430" cy="365284"/>
          </a:xfrm>
        </p:grpSpPr>
        <p:sp>
          <p:nvSpPr>
            <p:cNvPr id="35" name="Line 35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6285" y="6431756"/>
              <a:ext cx="3868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Diskominfo SP HST · Perbandingan Website Lama vs Baru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61720" y="643175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5741884" cy="944023"/>
            <a:chOff x="745236" y="602456"/>
            <a:chExt cx="5741884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2278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TAMPILAN BERDAMPINGAN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574188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Wajah Lama vs Wajah Baru</a:t>
              </a:r>
            </a:p>
          </p:txBody>
        </p:sp>
      </p:grpSp>
      <p:grpSp>
        <p:nvGrpSpPr>
          <p:cNvPr id="12" name="panel-lama"/>
          <p:cNvGrpSpPr/>
          <p:nvPr/>
        </p:nvGrpSpPr>
        <p:grpSpPr>
          <a:xfrm>
            <a:off x="755523" y="1752600"/>
            <a:ext cx="5111877" cy="3794284"/>
            <a:chOff x="755523" y="1752600"/>
            <a:chExt cx="5111877" cy="3794284"/>
          </a:xfrm>
        </p:grpSpPr>
        <p:sp>
          <p:nvSpPr>
            <p:cNvPr id="5" name="Rectangle 5"/>
            <p:cNvSpPr/>
            <p:nvPr/>
          </p:nvSpPr>
          <p:spPr>
            <a:xfrm>
              <a:off x="762000" y="1752600"/>
              <a:ext cx="2171700" cy="304800"/>
            </a:xfrm>
            <a:prstGeom prst="roundRect">
              <a:avLst>
                <a:gd name="adj" fmla="val 25000"/>
              </a:avLst>
            </a:prstGeom>
            <a:solidFill>
              <a:srgbClr val="64748B">
                <a:alpha val="18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27735" y="1850231"/>
              <a:ext cx="823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WEB LAMA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2171700"/>
              <a:ext cx="5105400" cy="2724150"/>
            </a:xfrm>
            <a:prstGeom prst="roundRect">
              <a:avLst>
                <a:gd name="adj" fmla="val 4895"/>
              </a:avLst>
            </a:prstGeom>
            <a:solidFill>
              <a:srgbClr val="121E31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7314" r="0" b="7313"/>
            <a:stretch>
              <a:fillRect/>
            </a:stretch>
          </p:blipFill>
          <p:spPr>
            <a:xfrm>
              <a:off x="762000" y="2171700"/>
              <a:ext cx="5105400" cy="2724150"/>
            </a:xfrm>
            <a:prstGeom prst="roundRect">
              <a:avLst>
                <a:gd name="adj" fmla="val 4895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62000" y="2171700"/>
              <a:ext cx="5105400" cy="2724150"/>
            </a:xfrm>
            <a:prstGeom prst="roundRect">
              <a:avLst>
                <a:gd name="adj" fmla="val 4895"/>
              </a:avLst>
            </a:prstGeom>
            <a:noFill/>
            <a:ln w="14288">
              <a:solidFill>
                <a:srgbClr val="64748B">
                  <a:alpha val="55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5523" y="5063014"/>
              <a:ext cx="3188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Header biru · hero carousel · teks terpusat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5326856"/>
              <a:ext cx="2362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Pola konvensional situs pemerintah</a:t>
              </a:r>
            </a:p>
          </p:txBody>
        </p:sp>
      </p:grpSp>
      <p:grpSp>
        <p:nvGrpSpPr>
          <p:cNvPr id="20" name="panel-baru"/>
          <p:cNvGrpSpPr/>
          <p:nvPr/>
        </p:nvGrpSpPr>
        <p:grpSpPr>
          <a:xfrm>
            <a:off x="6318123" y="1752600"/>
            <a:ext cx="5111877" cy="3794284"/>
            <a:chOff x="6318123" y="1752600"/>
            <a:chExt cx="5111877" cy="3794284"/>
          </a:xfrm>
        </p:grpSpPr>
        <p:sp>
          <p:nvSpPr>
            <p:cNvPr id="13" name="Rectangle 13"/>
            <p:cNvSpPr/>
            <p:nvPr/>
          </p:nvSpPr>
          <p:spPr>
            <a:xfrm>
              <a:off x="6324600" y="1752600"/>
              <a:ext cx="2171700" cy="304800"/>
            </a:xfrm>
            <a:prstGeom prst="roundRect">
              <a:avLst>
                <a:gd name="adj" fmla="val 25000"/>
              </a:avLst>
            </a:prstGeom>
            <a:solidFill>
              <a:srgbClr val="22D3EE">
                <a:alpha val="14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90335" y="1850231"/>
              <a:ext cx="823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WEB BARU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324600" y="2171700"/>
              <a:ext cx="5105400" cy="2724150"/>
            </a:xfrm>
            <a:prstGeom prst="roundRect">
              <a:avLst>
                <a:gd name="adj" fmla="val 4895"/>
              </a:avLst>
            </a:prstGeom>
            <a:solidFill>
              <a:srgbClr val="121E31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rcRect l="0" t="7314" r="0" b="7313"/>
            <a:stretch>
              <a:fillRect/>
            </a:stretch>
          </p:blipFill>
          <p:spPr>
            <a:xfrm>
              <a:off x="6324600" y="2171700"/>
              <a:ext cx="5105400" cy="2724150"/>
            </a:xfrm>
            <a:prstGeom prst="roundRect">
              <a:avLst>
                <a:gd name="adj" fmla="val 4895"/>
              </a:avLst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6324600" y="2171700"/>
              <a:ext cx="5105400" cy="2724150"/>
            </a:xfrm>
            <a:prstGeom prst="roundRect">
              <a:avLst>
                <a:gd name="adj" fmla="val 4895"/>
              </a:avLst>
            </a:prstGeom>
            <a:noFill/>
            <a:ln w="14288">
              <a:solidFill>
                <a:srgbClr val="22D3EE">
                  <a:alpha val="6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18123" y="5063014"/>
              <a:ext cx="3522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Hero split 2 kolom · kartu kaca · aksen gradien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8885" y="5326856"/>
              <a:ext cx="2419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Identitas "Digital Civic" yang orisinal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756285" y="6286500"/>
            <a:ext cx="10679430" cy="365284"/>
            <a:chOff x="756285" y="6286500"/>
            <a:chExt cx="10679430" cy="365284"/>
          </a:xfrm>
        </p:grpSpPr>
        <p:sp>
          <p:nvSpPr>
            <p:cNvPr id="21" name="Line 21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285" y="6431756"/>
              <a:ext cx="3645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Tangkapan layar langsung, 1440×900 px · 28 Sep 2026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61720" y="643175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6312588" cy="944023"/>
            <a:chOff x="745236" y="602456"/>
            <a:chExt cx="6312588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1079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METODOLOGI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63125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Bagaimana Angka Ini Didapat</a:t>
              </a:r>
            </a:p>
          </p:txBody>
        </p:sp>
      </p:grpSp>
      <p:grpSp>
        <p:nvGrpSpPr>
          <p:cNvPr id="9" name="method-1"/>
          <p:cNvGrpSpPr/>
          <p:nvPr/>
        </p:nvGrpSpPr>
        <p:grpSpPr>
          <a:xfrm>
            <a:off x="762000" y="1905000"/>
            <a:ext cx="5105400" cy="1123950"/>
            <a:chOff x="762000" y="1905000"/>
            <a:chExt cx="5105400" cy="1123950"/>
          </a:xfrm>
        </p:grpSpPr>
        <p:sp>
          <p:nvSpPr>
            <p:cNvPr id="5" name="Rectangle 5"/>
            <p:cNvSpPr/>
            <p:nvPr/>
          </p:nvSpPr>
          <p:spPr>
            <a:xfrm>
              <a:off x="762000" y="1905000"/>
              <a:ext cx="5105400" cy="1123950"/>
            </a:xfrm>
            <a:prstGeom prst="roundRect">
              <a:avLst>
                <a:gd name="adj" fmla="val 11864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036638" y="2173593"/>
              <a:ext cx="283775" cy="284239"/>
            </a:xfrm>
            <a:custGeom>
              <a:avLst/>
              <a:gdLst/>
              <a:ahLst/>
              <a:cxnLst/>
              <a:rect l="l" t="t" r="r" b="b"/>
              <a:pathLst>
                <a:path w="283775" h="284239">
                  <a:moveTo>
                    <a:pt x="202407" y="24126"/>
                  </a:moveTo>
                  <a:cubicBezTo>
                    <a:pt x="258641" y="56595"/>
                    <a:pt x="283775" y="124511"/>
                    <a:pt x="262225" y="185766"/>
                  </a:cubicBezTo>
                  <a:cubicBezTo>
                    <a:pt x="240675" y="247020"/>
                    <a:pt x="178553" y="284239"/>
                    <a:pt x="114377" y="274346"/>
                  </a:cubicBezTo>
                  <a:cubicBezTo>
                    <a:pt x="50200" y="264454"/>
                    <a:pt x="2171" y="210255"/>
                    <a:pt x="67" y="145354"/>
                  </a:cubicBezTo>
                  <a:lnTo>
                    <a:pt x="0" y="140982"/>
                  </a:lnTo>
                  <a:lnTo>
                    <a:pt x="67" y="136610"/>
                  </a:lnTo>
                  <a:cubicBezTo>
                    <a:pt x="1605" y="89206"/>
                    <a:pt x="27916" y="46090"/>
                    <a:pt x="69370" y="23045"/>
                  </a:cubicBezTo>
                  <a:cubicBezTo>
                    <a:pt x="110824" y="0"/>
                    <a:pt x="161333" y="410"/>
                    <a:pt x="202407" y="24126"/>
                  </a:cubicBezTo>
                  <a:close/>
                  <a:moveTo>
                    <a:pt x="198453" y="77467"/>
                  </a:moveTo>
                  <a:cubicBezTo>
                    <a:pt x="193184" y="72199"/>
                    <a:pt x="184642" y="72199"/>
                    <a:pt x="179373" y="77467"/>
                  </a:cubicBezTo>
                  <a:lnTo>
                    <a:pt x="144424" y="112416"/>
                  </a:lnTo>
                  <a:lnTo>
                    <a:pt x="143304" y="113684"/>
                  </a:lnTo>
                  <a:lnTo>
                    <a:pt x="142386" y="115034"/>
                  </a:lnTo>
                  <a:cubicBezTo>
                    <a:pt x="134578" y="112795"/>
                    <a:pt x="126177" y="114190"/>
                    <a:pt x="119511" y="118832"/>
                  </a:cubicBezTo>
                  <a:cubicBezTo>
                    <a:pt x="112846" y="123475"/>
                    <a:pt x="108625" y="130871"/>
                    <a:pt x="108018" y="138972"/>
                  </a:cubicBezTo>
                  <a:lnTo>
                    <a:pt x="107950" y="140982"/>
                  </a:lnTo>
                  <a:lnTo>
                    <a:pt x="108018" y="143006"/>
                  </a:lnTo>
                  <a:cubicBezTo>
                    <a:pt x="108791" y="153277"/>
                    <a:pt x="115343" y="162212"/>
                    <a:pt x="124907" y="166038"/>
                  </a:cubicBezTo>
                  <a:cubicBezTo>
                    <a:pt x="134470" y="169863"/>
                    <a:pt x="145377" y="167911"/>
                    <a:pt x="153020" y="161006"/>
                  </a:cubicBezTo>
                  <a:cubicBezTo>
                    <a:pt x="160663" y="154102"/>
                    <a:pt x="163710" y="143449"/>
                    <a:pt x="160873" y="133547"/>
                  </a:cubicBezTo>
                  <a:cubicBezTo>
                    <a:pt x="161834" y="132979"/>
                    <a:pt x="162718" y="132289"/>
                    <a:pt x="163504" y="131496"/>
                  </a:cubicBezTo>
                  <a:lnTo>
                    <a:pt x="198453" y="96547"/>
                  </a:lnTo>
                  <a:lnTo>
                    <a:pt x="199573" y="95279"/>
                  </a:lnTo>
                  <a:cubicBezTo>
                    <a:pt x="203740" y="89907"/>
                    <a:pt x="203260" y="82274"/>
                    <a:pt x="198453" y="77467"/>
                  </a:cubicBezTo>
                  <a:close/>
                  <a:moveTo>
                    <a:pt x="134938" y="60020"/>
                  </a:moveTo>
                  <a:cubicBezTo>
                    <a:pt x="113465" y="60020"/>
                    <a:pt x="92872" y="68549"/>
                    <a:pt x="77689" y="83733"/>
                  </a:cubicBezTo>
                  <a:cubicBezTo>
                    <a:pt x="62505" y="98916"/>
                    <a:pt x="53975" y="119510"/>
                    <a:pt x="53975" y="140982"/>
                  </a:cubicBezTo>
                  <a:cubicBezTo>
                    <a:pt x="53975" y="148435"/>
                    <a:pt x="60016" y="154476"/>
                    <a:pt x="67469" y="154476"/>
                  </a:cubicBezTo>
                  <a:cubicBezTo>
                    <a:pt x="74921" y="154476"/>
                    <a:pt x="80963" y="148435"/>
                    <a:pt x="80963" y="140982"/>
                  </a:cubicBezTo>
                  <a:cubicBezTo>
                    <a:pt x="80963" y="111173"/>
                    <a:pt x="105128" y="87007"/>
                    <a:pt x="134938" y="87007"/>
                  </a:cubicBezTo>
                  <a:cubicBezTo>
                    <a:pt x="142390" y="87007"/>
                    <a:pt x="148432" y="80966"/>
                    <a:pt x="148432" y="73513"/>
                  </a:cubicBezTo>
                  <a:cubicBezTo>
                    <a:pt x="148432" y="66061"/>
                    <a:pt x="142390" y="60020"/>
                    <a:pt x="134938" y="60020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77518" y="2107882"/>
              <a:ext cx="23075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Pengukuran langsung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03173" y="2548414"/>
              <a:ext cx="2886657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TTFB, waktu muat, ukuran HTML, jumlah</a:t>
              </a:r>
              <a:br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skrip, dan header HTTP diukur via curl.</a:t>
              </a:r>
            </a:p>
          </p:txBody>
        </p:sp>
      </p:grpSp>
      <p:grpSp>
        <p:nvGrpSpPr>
          <p:cNvPr id="14" name="method-2"/>
          <p:cNvGrpSpPr/>
          <p:nvPr/>
        </p:nvGrpSpPr>
        <p:grpSpPr>
          <a:xfrm>
            <a:off x="6324600" y="1905000"/>
            <a:ext cx="5105400" cy="1123950"/>
            <a:chOff x="6324600" y="1905000"/>
            <a:chExt cx="5105400" cy="1123950"/>
          </a:xfrm>
        </p:grpSpPr>
        <p:sp>
          <p:nvSpPr>
            <p:cNvPr id="10" name="Rectangle 10"/>
            <p:cNvSpPr/>
            <p:nvPr/>
          </p:nvSpPr>
          <p:spPr>
            <a:xfrm>
              <a:off x="6324600" y="1905000"/>
              <a:ext cx="5105400" cy="1123950"/>
            </a:xfrm>
            <a:prstGeom prst="roundRect">
              <a:avLst>
                <a:gd name="adj" fmla="val 11864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599238" y="2179638"/>
              <a:ext cx="269876" cy="269876"/>
            </a:xfrm>
            <a:custGeom>
              <a:avLst/>
              <a:gdLst/>
              <a:ahLst/>
              <a:cxnLst/>
              <a:rect l="l" t="t" r="r" b="b"/>
              <a:pathLst>
                <a:path w="269876" h="269876">
                  <a:moveTo>
                    <a:pt x="91933" y="129702"/>
                  </a:moveTo>
                  <a:cubicBezTo>
                    <a:pt x="98100" y="124575"/>
                    <a:pt x="104320" y="124575"/>
                    <a:pt x="110636" y="129851"/>
                  </a:cubicBezTo>
                  <a:lnTo>
                    <a:pt x="112093" y="131173"/>
                  </a:lnTo>
                  <a:lnTo>
                    <a:pt x="179373" y="198453"/>
                  </a:lnTo>
                  <a:lnTo>
                    <a:pt x="180641" y="199573"/>
                  </a:lnTo>
                  <a:cubicBezTo>
                    <a:pt x="186013" y="203737"/>
                    <a:pt x="193644" y="203256"/>
                    <a:pt x="198450" y="198450"/>
                  </a:cubicBezTo>
                  <a:cubicBezTo>
                    <a:pt x="203256" y="193644"/>
                    <a:pt x="203737" y="186013"/>
                    <a:pt x="199573" y="180641"/>
                  </a:cubicBezTo>
                  <a:lnTo>
                    <a:pt x="198453" y="179373"/>
                  </a:lnTo>
                  <a:lnTo>
                    <a:pt x="181019" y="161925"/>
                  </a:lnTo>
                  <a:lnTo>
                    <a:pt x="184959" y="157972"/>
                  </a:lnTo>
                  <a:lnTo>
                    <a:pt x="186390" y="156690"/>
                  </a:lnTo>
                  <a:cubicBezTo>
                    <a:pt x="192556" y="151562"/>
                    <a:pt x="198777" y="151562"/>
                    <a:pt x="205092" y="156838"/>
                  </a:cubicBezTo>
                  <a:lnTo>
                    <a:pt x="206549" y="158161"/>
                  </a:lnTo>
                  <a:lnTo>
                    <a:pt x="269619" y="221244"/>
                  </a:lnTo>
                  <a:cubicBezTo>
                    <a:pt x="266979" y="247799"/>
                    <a:pt x="245330" y="268438"/>
                    <a:pt x="218680" y="269808"/>
                  </a:cubicBezTo>
                  <a:lnTo>
                    <a:pt x="215901" y="269876"/>
                  </a:lnTo>
                  <a:lnTo>
                    <a:pt x="53975" y="269876"/>
                  </a:lnTo>
                  <a:cubicBezTo>
                    <a:pt x="26241" y="269874"/>
                    <a:pt x="3022" y="248854"/>
                    <a:pt x="270" y="221258"/>
                  </a:cubicBezTo>
                  <a:lnTo>
                    <a:pt x="90503" y="130984"/>
                  </a:lnTo>
                  <a:lnTo>
                    <a:pt x="91933" y="129702"/>
                  </a:lnTo>
                  <a:close/>
                  <a:moveTo>
                    <a:pt x="215901" y="0"/>
                  </a:moveTo>
                  <a:cubicBezTo>
                    <a:pt x="244661" y="0"/>
                    <a:pt x="268370" y="22552"/>
                    <a:pt x="269808" y="51276"/>
                  </a:cubicBezTo>
                  <a:lnTo>
                    <a:pt x="269876" y="53975"/>
                  </a:lnTo>
                  <a:lnTo>
                    <a:pt x="269876" y="183313"/>
                  </a:lnTo>
                  <a:lnTo>
                    <a:pt x="225441" y="138892"/>
                  </a:lnTo>
                  <a:lnTo>
                    <a:pt x="223417" y="137043"/>
                  </a:lnTo>
                  <a:cubicBezTo>
                    <a:pt x="206468" y="122267"/>
                    <a:pt x="184959" y="122240"/>
                    <a:pt x="168146" y="136813"/>
                  </a:cubicBezTo>
                  <a:lnTo>
                    <a:pt x="166068" y="138703"/>
                  </a:lnTo>
                  <a:lnTo>
                    <a:pt x="161925" y="142832"/>
                  </a:lnTo>
                  <a:lnTo>
                    <a:pt x="130984" y="111904"/>
                  </a:lnTo>
                  <a:lnTo>
                    <a:pt x="128960" y="110055"/>
                  </a:lnTo>
                  <a:cubicBezTo>
                    <a:pt x="112012" y="95280"/>
                    <a:pt x="90503" y="95253"/>
                    <a:pt x="73690" y="109826"/>
                  </a:cubicBezTo>
                  <a:lnTo>
                    <a:pt x="71612" y="111715"/>
                  </a:lnTo>
                  <a:lnTo>
                    <a:pt x="0" y="183313"/>
                  </a:lnTo>
                  <a:lnTo>
                    <a:pt x="0" y="53975"/>
                  </a:lnTo>
                  <a:cubicBezTo>
                    <a:pt x="0" y="25214"/>
                    <a:pt x="22552" y="1506"/>
                    <a:pt x="51276" y="67"/>
                  </a:cubicBezTo>
                  <a:lnTo>
                    <a:pt x="53975" y="0"/>
                  </a:lnTo>
                  <a:lnTo>
                    <a:pt x="215901" y="0"/>
                  </a:lnTo>
                  <a:close/>
                  <a:moveTo>
                    <a:pt x="175554" y="67469"/>
                  </a:moveTo>
                  <a:lnTo>
                    <a:pt x="173840" y="67563"/>
                  </a:lnTo>
                  <a:cubicBezTo>
                    <a:pt x="167052" y="68371"/>
                    <a:pt x="161940" y="74127"/>
                    <a:pt x="161940" y="80963"/>
                  </a:cubicBezTo>
                  <a:cubicBezTo>
                    <a:pt x="161940" y="87799"/>
                    <a:pt x="167052" y="93555"/>
                    <a:pt x="173840" y="94362"/>
                  </a:cubicBezTo>
                  <a:lnTo>
                    <a:pt x="175419" y="94456"/>
                  </a:lnTo>
                  <a:lnTo>
                    <a:pt x="177133" y="94362"/>
                  </a:lnTo>
                  <a:cubicBezTo>
                    <a:pt x="183921" y="93555"/>
                    <a:pt x="189033" y="87799"/>
                    <a:pt x="189033" y="80963"/>
                  </a:cubicBezTo>
                  <a:cubicBezTo>
                    <a:pt x="189033" y="74127"/>
                    <a:pt x="183921" y="68371"/>
                    <a:pt x="177133" y="67563"/>
                  </a:cubicBezTo>
                  <a:lnTo>
                    <a:pt x="175554" y="67469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40118" y="2107882"/>
              <a:ext cx="12330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Bukti visual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5773" y="2548414"/>
              <a:ext cx="2831452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Tangkapan layar diambil pada viewport</a:t>
              </a:r>
              <a:br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1440×900 dan 390×844 (mobile).</a:t>
              </a:r>
            </a:p>
          </p:txBody>
        </p:sp>
      </p:grpSp>
      <p:grpSp>
        <p:nvGrpSpPr>
          <p:cNvPr id="22" name="method-3"/>
          <p:cNvGrpSpPr/>
          <p:nvPr/>
        </p:nvGrpSpPr>
        <p:grpSpPr>
          <a:xfrm>
            <a:off x="762000" y="3314700"/>
            <a:ext cx="5105400" cy="1123950"/>
            <a:chOff x="762000" y="3314700"/>
            <a:chExt cx="5105400" cy="1123950"/>
          </a:xfrm>
        </p:grpSpPr>
        <p:sp>
          <p:nvSpPr>
            <p:cNvPr id="15" name="Rectangle 15"/>
            <p:cNvSpPr/>
            <p:nvPr/>
          </p:nvSpPr>
          <p:spPr>
            <a:xfrm>
              <a:off x="762000" y="3314700"/>
              <a:ext cx="5105400" cy="1123950"/>
            </a:xfrm>
            <a:prstGeom prst="roundRect">
              <a:avLst>
                <a:gd name="adj" fmla="val 11864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50130" y="3589338"/>
              <a:ext cx="242889" cy="269876"/>
              <a:chOff x="1050130" y="3589338"/>
              <a:chExt cx="242889" cy="26987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050131" y="3774621"/>
                <a:ext cx="242888" cy="84593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84593">
                    <a:moveTo>
                      <a:pt x="0" y="0"/>
                    </a:moveTo>
                    <a:cubicBezTo>
                      <a:pt x="26556" y="20335"/>
                      <a:pt x="70626" y="30617"/>
                      <a:pt x="121444" y="30617"/>
                    </a:cubicBezTo>
                    <a:cubicBezTo>
                      <a:pt x="172181" y="30617"/>
                      <a:pt x="216238" y="20362"/>
                      <a:pt x="242888" y="229"/>
                    </a:cubicBezTo>
                    <a:lnTo>
                      <a:pt x="242888" y="30617"/>
                    </a:lnTo>
                    <a:cubicBezTo>
                      <a:pt x="242888" y="63340"/>
                      <a:pt x="190330" y="83729"/>
                      <a:pt x="125587" y="84566"/>
                    </a:cubicBezTo>
                    <a:lnTo>
                      <a:pt x="121444" y="84593"/>
                    </a:lnTo>
                    <a:cubicBezTo>
                      <a:pt x="54812" y="84593"/>
                      <a:pt x="0" y="64041"/>
                      <a:pt x="0" y="30617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50131" y="3693658"/>
                <a:ext cx="242888" cy="84593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84593">
                    <a:moveTo>
                      <a:pt x="0" y="0"/>
                    </a:moveTo>
                    <a:cubicBezTo>
                      <a:pt x="26556" y="20335"/>
                      <a:pt x="70626" y="30617"/>
                      <a:pt x="121444" y="30617"/>
                    </a:cubicBezTo>
                    <a:cubicBezTo>
                      <a:pt x="172181" y="30617"/>
                      <a:pt x="216238" y="20362"/>
                      <a:pt x="242888" y="229"/>
                    </a:cubicBezTo>
                    <a:lnTo>
                      <a:pt x="242888" y="30617"/>
                    </a:lnTo>
                    <a:cubicBezTo>
                      <a:pt x="242888" y="64041"/>
                      <a:pt x="188076" y="84593"/>
                      <a:pt x="121444" y="84593"/>
                    </a:cubicBezTo>
                    <a:cubicBezTo>
                      <a:pt x="56701" y="84593"/>
                      <a:pt x="3104" y="65188"/>
                      <a:pt x="283" y="33384"/>
                    </a:cubicBezTo>
                    <a:lnTo>
                      <a:pt x="67" y="32021"/>
                    </a:lnTo>
                    <a:lnTo>
                      <a:pt x="0" y="30617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50130" y="3589338"/>
                <a:ext cx="24288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9" h="107950">
                    <a:moveTo>
                      <a:pt x="121445" y="0"/>
                    </a:moveTo>
                    <a:cubicBezTo>
                      <a:pt x="135492" y="0"/>
                      <a:pt x="149026" y="918"/>
                      <a:pt x="161616" y="2672"/>
                    </a:cubicBezTo>
                    <a:lnTo>
                      <a:pt x="167945" y="3630"/>
                    </a:lnTo>
                    <a:cubicBezTo>
                      <a:pt x="175501" y="4889"/>
                      <a:pt x="182635" y="6455"/>
                      <a:pt x="189346" y="8326"/>
                    </a:cubicBezTo>
                    <a:lnTo>
                      <a:pt x="195283" y="10093"/>
                    </a:lnTo>
                    <a:lnTo>
                      <a:pt x="196295" y="10417"/>
                    </a:lnTo>
                    <a:cubicBezTo>
                      <a:pt x="199967" y="11625"/>
                      <a:pt x="203591" y="12975"/>
                      <a:pt x="207158" y="14465"/>
                    </a:cubicBezTo>
                    <a:lnTo>
                      <a:pt x="209843" y="15626"/>
                    </a:lnTo>
                    <a:cubicBezTo>
                      <a:pt x="214656" y="17803"/>
                      <a:pt x="219005" y="20187"/>
                      <a:pt x="222891" y="22778"/>
                    </a:cubicBezTo>
                    <a:cubicBezTo>
                      <a:pt x="224376" y="23767"/>
                      <a:pt x="225784" y="24779"/>
                      <a:pt x="227115" y="25814"/>
                    </a:cubicBezTo>
                    <a:cubicBezTo>
                      <a:pt x="230487" y="28431"/>
                      <a:pt x="233520" y="31459"/>
                      <a:pt x="236142" y="34827"/>
                    </a:cubicBezTo>
                    <a:lnTo>
                      <a:pt x="237370" y="36555"/>
                    </a:lnTo>
                    <a:cubicBezTo>
                      <a:pt x="238000" y="37499"/>
                      <a:pt x="238580" y="38448"/>
                      <a:pt x="239111" y="39402"/>
                    </a:cubicBezTo>
                    <a:lnTo>
                      <a:pt x="240055" y="41277"/>
                    </a:lnTo>
                    <a:cubicBezTo>
                      <a:pt x="241522" y="44426"/>
                      <a:pt x="242421" y="47710"/>
                      <a:pt x="242754" y="51128"/>
                    </a:cubicBezTo>
                    <a:lnTo>
                      <a:pt x="242889" y="53975"/>
                    </a:lnTo>
                    <a:cubicBezTo>
                      <a:pt x="242889" y="87399"/>
                      <a:pt x="188077" y="107950"/>
                      <a:pt x="121445" y="107950"/>
                    </a:cubicBezTo>
                    <a:cubicBezTo>
                      <a:pt x="56702" y="107950"/>
                      <a:pt x="3105" y="88546"/>
                      <a:pt x="284" y="56741"/>
                    </a:cubicBezTo>
                    <a:cubicBezTo>
                      <a:pt x="95" y="55831"/>
                      <a:pt x="0" y="54905"/>
                      <a:pt x="1" y="53975"/>
                    </a:cubicBezTo>
                    <a:lnTo>
                      <a:pt x="69" y="52572"/>
                    </a:lnTo>
                    <a:lnTo>
                      <a:pt x="284" y="51222"/>
                    </a:lnTo>
                    <a:cubicBezTo>
                      <a:pt x="3051" y="20106"/>
                      <a:pt x="54394" y="850"/>
                      <a:pt x="117235" y="27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477518" y="3517582"/>
              <a:ext cx="19560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Audit kode &amp; data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3173" y="3958114"/>
              <a:ext cx="2894086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Rute, adapter API, tabel basis data, dan</a:t>
              </a:r>
              <a:br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cakupan tes diperiksa dari sumber kode.</a:t>
              </a:r>
            </a:p>
          </p:txBody>
        </p:sp>
      </p:grpSp>
      <p:grpSp>
        <p:nvGrpSpPr>
          <p:cNvPr id="27" name="method-4"/>
          <p:cNvGrpSpPr/>
          <p:nvPr/>
        </p:nvGrpSpPr>
        <p:grpSpPr>
          <a:xfrm>
            <a:off x="6324600" y="3314700"/>
            <a:ext cx="5105400" cy="1123950"/>
            <a:chOff x="6324600" y="3314700"/>
            <a:chExt cx="5105400" cy="1123950"/>
          </a:xfrm>
        </p:grpSpPr>
        <p:sp>
          <p:nvSpPr>
            <p:cNvPr id="23" name="Rectangle 23"/>
            <p:cNvSpPr/>
            <p:nvPr/>
          </p:nvSpPr>
          <p:spPr>
            <a:xfrm>
              <a:off x="6324600" y="3314700"/>
              <a:ext cx="5105400" cy="1123950"/>
            </a:xfrm>
            <a:prstGeom prst="roundRect">
              <a:avLst>
                <a:gd name="adj" fmla="val 11864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583832" y="358488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40118" y="3517582"/>
              <a:ext cx="197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Yang tidak diklaim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5773" y="3958114"/>
              <a:ext cx="3028328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Web lama sudah responsif &amp; punya mode</a:t>
              </a:r>
              <a:br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gelap — itu bukan keunggulan web baru.</a:t>
              </a:r>
            </a:p>
          </p:txBody>
        </p:sp>
      </p:grpSp>
      <p:grpSp>
        <p:nvGrpSpPr>
          <p:cNvPr id="31" name="honesty"/>
          <p:cNvGrpSpPr/>
          <p:nvPr/>
        </p:nvGrpSpPr>
        <p:grpSpPr>
          <a:xfrm>
            <a:off x="762000" y="4762500"/>
            <a:ext cx="10668000" cy="1230439"/>
            <a:chOff x="762000" y="4762500"/>
            <a:chExt cx="10668000" cy="1230439"/>
          </a:xfrm>
        </p:grpSpPr>
        <p:sp>
          <p:nvSpPr>
            <p:cNvPr id="28" name="Rectangle 28"/>
            <p:cNvSpPr/>
            <p:nvPr/>
          </p:nvSpPr>
          <p:spPr>
            <a:xfrm>
              <a:off x="762000" y="4762500"/>
              <a:ext cx="10668000" cy="1104900"/>
            </a:xfrm>
            <a:prstGeom prst="roundRect">
              <a:avLst>
                <a:gd name="adj" fmla="val 12069"/>
              </a:avLst>
            </a:prstGeom>
            <a:solidFill>
              <a:srgbClr val="22D3EE">
                <a:alpha val="6000"/>
              </a:srgbClr>
            </a:solidFill>
            <a:ln w="14288">
              <a:solidFill>
                <a:srgbClr val="22D3EE">
                  <a:alpha val="32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61085" y="5041106"/>
              <a:ext cx="7527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PRINSIP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8418" y="5365432"/>
              <a:ext cx="8550604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id-ID" sz="16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Setiap klaim di deck ini punya angka atau tangkapan layar pendukung. Klaim yang tidak bisa</a:t>
              </a:r>
              <a:br/>
              <a:r>
                <a:rPr lang="id-ID" sz="16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dibuktikan tidak ditampilkan sebagai keunggulan.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756285" y="6286500"/>
            <a:ext cx="10679430" cy="365284"/>
            <a:chOff x="756285" y="6286500"/>
            <a:chExt cx="10679430" cy="365284"/>
          </a:xfrm>
        </p:grpSpPr>
        <p:sp>
          <p:nvSpPr>
            <p:cNvPr id="32" name="Line 32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6285" y="6431756"/>
              <a:ext cx="3868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Diskominfo SP HST · Perbandingan Website Lama vs Baru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61720" y="643175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7401856" cy="944023"/>
            <a:chOff x="745236" y="602456"/>
            <a:chExt cx="7401856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23871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TEKNOLOGI &amp; ARSITEKTUR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74018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Dari Fondasi Sederhana ke Modern</a:t>
              </a:r>
            </a:p>
          </p:txBody>
        </p:sp>
      </p:grpSp>
      <p:grpSp>
        <p:nvGrpSpPr>
          <p:cNvPr id="27" name="col-lama"/>
          <p:cNvGrpSpPr/>
          <p:nvPr/>
        </p:nvGrpSpPr>
        <p:grpSpPr>
          <a:xfrm>
            <a:off x="762000" y="1847850"/>
            <a:ext cx="5105400" cy="3903345"/>
            <a:chOff x="762000" y="1847850"/>
            <a:chExt cx="5105400" cy="3903345"/>
          </a:xfrm>
        </p:grpSpPr>
        <p:sp>
          <p:nvSpPr>
            <p:cNvPr id="5" name="Rectangle 5"/>
            <p:cNvSpPr/>
            <p:nvPr/>
          </p:nvSpPr>
          <p:spPr>
            <a:xfrm>
              <a:off x="762000" y="1847850"/>
              <a:ext cx="5105400" cy="495300"/>
            </a:xfrm>
            <a:prstGeom prst="roundRect">
              <a:avLst>
                <a:gd name="adj" fmla="val 23077"/>
              </a:avLst>
            </a:prstGeom>
            <a:solidFill>
              <a:srgbClr val="64748B">
                <a:alpha val="18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4885" y="2040731"/>
              <a:ext cx="823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WEB LAMA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4762500" y="2025358"/>
              <a:ext cx="266701" cy="140296"/>
            </a:xfrm>
            <a:custGeom>
              <a:avLst/>
              <a:gdLst/>
              <a:ahLst/>
              <a:cxnLst/>
              <a:rect l="l" t="t" r="r" b="b"/>
              <a:pathLst>
                <a:path w="266701" h="140296">
                  <a:moveTo>
                    <a:pt x="77899" y="50218"/>
                  </a:moveTo>
                  <a:lnTo>
                    <a:pt x="67409" y="50218"/>
                  </a:lnTo>
                  <a:lnTo>
                    <a:pt x="61686" y="79644"/>
                  </a:lnTo>
                  <a:lnTo>
                    <a:pt x="70998" y="79644"/>
                  </a:lnTo>
                  <a:cubicBezTo>
                    <a:pt x="77177" y="79644"/>
                    <a:pt x="81777" y="78477"/>
                    <a:pt x="84800" y="76154"/>
                  </a:cubicBezTo>
                  <a:cubicBezTo>
                    <a:pt x="87822" y="73821"/>
                    <a:pt x="89856" y="69942"/>
                    <a:pt x="90912" y="64497"/>
                  </a:cubicBezTo>
                  <a:cubicBezTo>
                    <a:pt x="91934" y="59274"/>
                    <a:pt x="91467" y="55585"/>
                    <a:pt x="89534" y="53440"/>
                  </a:cubicBezTo>
                  <a:cubicBezTo>
                    <a:pt x="87589" y="51295"/>
                    <a:pt x="83722" y="50218"/>
                    <a:pt x="77899" y="50218"/>
                  </a:cubicBezTo>
                  <a:close/>
                  <a:moveTo>
                    <a:pt x="133350" y="0"/>
                  </a:moveTo>
                  <a:cubicBezTo>
                    <a:pt x="59708" y="0"/>
                    <a:pt x="0" y="31404"/>
                    <a:pt x="0" y="70142"/>
                  </a:cubicBezTo>
                  <a:cubicBezTo>
                    <a:pt x="0" y="108881"/>
                    <a:pt x="59708" y="140296"/>
                    <a:pt x="133350" y="140296"/>
                  </a:cubicBezTo>
                  <a:cubicBezTo>
                    <a:pt x="206993" y="140296"/>
                    <a:pt x="266701" y="108881"/>
                    <a:pt x="266701" y="70142"/>
                  </a:cubicBezTo>
                  <a:cubicBezTo>
                    <a:pt x="266701" y="31404"/>
                    <a:pt x="206993" y="0"/>
                    <a:pt x="133350" y="0"/>
                  </a:cubicBezTo>
                  <a:close/>
                  <a:moveTo>
                    <a:pt x="97124" y="82799"/>
                  </a:moveTo>
                  <a:cubicBezTo>
                    <a:pt x="94223" y="85578"/>
                    <a:pt x="90734" y="87667"/>
                    <a:pt x="86933" y="88922"/>
                  </a:cubicBezTo>
                  <a:cubicBezTo>
                    <a:pt x="83200" y="90123"/>
                    <a:pt x="78432" y="90745"/>
                    <a:pt x="72654" y="90745"/>
                  </a:cubicBezTo>
                  <a:lnTo>
                    <a:pt x="59530" y="90745"/>
                  </a:lnTo>
                  <a:lnTo>
                    <a:pt x="55896" y="109425"/>
                  </a:lnTo>
                  <a:lnTo>
                    <a:pt x="40583" y="109425"/>
                  </a:lnTo>
                  <a:lnTo>
                    <a:pt x="54251" y="39127"/>
                  </a:lnTo>
                  <a:lnTo>
                    <a:pt x="83700" y="39127"/>
                  </a:lnTo>
                  <a:cubicBezTo>
                    <a:pt x="92556" y="39127"/>
                    <a:pt x="99013" y="41450"/>
                    <a:pt x="103080" y="46106"/>
                  </a:cubicBezTo>
                  <a:cubicBezTo>
                    <a:pt x="107147" y="50751"/>
                    <a:pt x="108369" y="57241"/>
                    <a:pt x="106747" y="65575"/>
                  </a:cubicBezTo>
                  <a:cubicBezTo>
                    <a:pt x="106126" y="68873"/>
                    <a:pt x="104981" y="72050"/>
                    <a:pt x="103358" y="74987"/>
                  </a:cubicBezTo>
                  <a:cubicBezTo>
                    <a:pt x="101769" y="77821"/>
                    <a:pt x="99691" y="80433"/>
                    <a:pt x="97124" y="82799"/>
                  </a:cubicBezTo>
                  <a:close/>
                  <a:moveTo>
                    <a:pt x="141840" y="90745"/>
                  </a:moveTo>
                  <a:lnTo>
                    <a:pt x="147874" y="59641"/>
                  </a:lnTo>
                  <a:cubicBezTo>
                    <a:pt x="148575" y="56107"/>
                    <a:pt x="148308" y="53685"/>
                    <a:pt x="147119" y="52407"/>
                  </a:cubicBezTo>
                  <a:cubicBezTo>
                    <a:pt x="145930" y="51118"/>
                    <a:pt x="143385" y="50473"/>
                    <a:pt x="139484" y="50473"/>
                  </a:cubicBezTo>
                  <a:lnTo>
                    <a:pt x="127350" y="50473"/>
                  </a:lnTo>
                  <a:lnTo>
                    <a:pt x="119526" y="90756"/>
                  </a:lnTo>
                  <a:lnTo>
                    <a:pt x="104324" y="90756"/>
                  </a:lnTo>
                  <a:lnTo>
                    <a:pt x="117993" y="20447"/>
                  </a:lnTo>
                  <a:lnTo>
                    <a:pt x="133184" y="20447"/>
                  </a:lnTo>
                  <a:lnTo>
                    <a:pt x="129550" y="39138"/>
                  </a:lnTo>
                  <a:lnTo>
                    <a:pt x="143085" y="39138"/>
                  </a:lnTo>
                  <a:cubicBezTo>
                    <a:pt x="151608" y="39138"/>
                    <a:pt x="157476" y="40627"/>
                    <a:pt x="160709" y="43594"/>
                  </a:cubicBezTo>
                  <a:cubicBezTo>
                    <a:pt x="163943" y="46562"/>
                    <a:pt x="164910" y="51373"/>
                    <a:pt x="163632" y="58030"/>
                  </a:cubicBezTo>
                  <a:lnTo>
                    <a:pt x="157276" y="90745"/>
                  </a:lnTo>
                  <a:lnTo>
                    <a:pt x="141840" y="90745"/>
                  </a:lnTo>
                  <a:close/>
                  <a:moveTo>
                    <a:pt x="226262" y="65575"/>
                  </a:moveTo>
                  <a:cubicBezTo>
                    <a:pt x="225651" y="68876"/>
                    <a:pt x="224506" y="72055"/>
                    <a:pt x="222873" y="74987"/>
                  </a:cubicBezTo>
                  <a:cubicBezTo>
                    <a:pt x="221284" y="77821"/>
                    <a:pt x="219206" y="80433"/>
                    <a:pt x="216639" y="82799"/>
                  </a:cubicBezTo>
                  <a:cubicBezTo>
                    <a:pt x="213737" y="85569"/>
                    <a:pt x="210256" y="87660"/>
                    <a:pt x="206449" y="88922"/>
                  </a:cubicBezTo>
                  <a:cubicBezTo>
                    <a:pt x="202715" y="90123"/>
                    <a:pt x="197948" y="90745"/>
                    <a:pt x="192158" y="90745"/>
                  </a:cubicBezTo>
                  <a:lnTo>
                    <a:pt x="179045" y="90745"/>
                  </a:lnTo>
                  <a:lnTo>
                    <a:pt x="175411" y="109436"/>
                  </a:lnTo>
                  <a:lnTo>
                    <a:pt x="160098" y="109436"/>
                  </a:lnTo>
                  <a:lnTo>
                    <a:pt x="173767" y="39138"/>
                  </a:lnTo>
                  <a:lnTo>
                    <a:pt x="203204" y="39138"/>
                  </a:lnTo>
                  <a:cubicBezTo>
                    <a:pt x="212060" y="39138"/>
                    <a:pt x="218517" y="41461"/>
                    <a:pt x="222584" y="46117"/>
                  </a:cubicBezTo>
                  <a:cubicBezTo>
                    <a:pt x="226651" y="50751"/>
                    <a:pt x="227885" y="57241"/>
                    <a:pt x="226262" y="65575"/>
                  </a:cubicBezTo>
                  <a:close/>
                  <a:moveTo>
                    <a:pt x="197425" y="50218"/>
                  </a:moveTo>
                  <a:lnTo>
                    <a:pt x="186946" y="50218"/>
                  </a:lnTo>
                  <a:lnTo>
                    <a:pt x="181212" y="79644"/>
                  </a:lnTo>
                  <a:lnTo>
                    <a:pt x="190524" y="79644"/>
                  </a:lnTo>
                  <a:cubicBezTo>
                    <a:pt x="196714" y="79644"/>
                    <a:pt x="201315" y="78477"/>
                    <a:pt x="204326" y="76154"/>
                  </a:cubicBezTo>
                  <a:cubicBezTo>
                    <a:pt x="207349" y="73821"/>
                    <a:pt x="209382" y="69942"/>
                    <a:pt x="210449" y="64497"/>
                  </a:cubicBezTo>
                  <a:cubicBezTo>
                    <a:pt x="211471" y="59274"/>
                    <a:pt x="210994" y="55585"/>
                    <a:pt x="209060" y="53440"/>
                  </a:cubicBezTo>
                  <a:cubicBezTo>
                    <a:pt x="207126" y="51295"/>
                    <a:pt x="203237" y="50218"/>
                    <a:pt x="197425" y="50218"/>
                  </a:cubicBez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181600" y="1989220"/>
              <a:ext cx="266701" cy="212538"/>
            </a:xfrm>
            <a:custGeom>
              <a:avLst/>
              <a:gdLst/>
              <a:ahLst/>
              <a:cxnLst/>
              <a:rect l="l" t="t" r="r" b="b"/>
              <a:pathLst>
                <a:path w="266701" h="212538">
                  <a:moveTo>
                    <a:pt x="130794" y="97835"/>
                  </a:moveTo>
                  <a:lnTo>
                    <a:pt x="110636" y="97835"/>
                  </a:lnTo>
                  <a:lnTo>
                    <a:pt x="110636" y="64075"/>
                  </a:lnTo>
                  <a:lnTo>
                    <a:pt x="134551" y="64075"/>
                  </a:lnTo>
                  <a:cubicBezTo>
                    <a:pt x="147552" y="64075"/>
                    <a:pt x="154931" y="69876"/>
                    <a:pt x="154931" y="80366"/>
                  </a:cubicBezTo>
                  <a:cubicBezTo>
                    <a:pt x="154931" y="91567"/>
                    <a:pt x="146341" y="97835"/>
                    <a:pt x="130772" y="97835"/>
                  </a:cubicBezTo>
                  <a:close/>
                  <a:moveTo>
                    <a:pt x="134395" y="111236"/>
                  </a:moveTo>
                  <a:lnTo>
                    <a:pt x="110647" y="111236"/>
                  </a:lnTo>
                  <a:lnTo>
                    <a:pt x="110647" y="148441"/>
                  </a:lnTo>
                  <a:lnTo>
                    <a:pt x="135440" y="148441"/>
                  </a:lnTo>
                  <a:cubicBezTo>
                    <a:pt x="151653" y="148441"/>
                    <a:pt x="160243" y="141940"/>
                    <a:pt x="160243" y="129717"/>
                  </a:cubicBezTo>
                  <a:cubicBezTo>
                    <a:pt x="160243" y="117493"/>
                    <a:pt x="151408" y="111236"/>
                    <a:pt x="134395" y="111236"/>
                  </a:cubicBezTo>
                  <a:close/>
                  <a:moveTo>
                    <a:pt x="266701" y="99502"/>
                  </a:moveTo>
                  <a:lnTo>
                    <a:pt x="266701" y="113037"/>
                  </a:lnTo>
                  <a:cubicBezTo>
                    <a:pt x="254166" y="114237"/>
                    <a:pt x="246509" y="123527"/>
                    <a:pt x="241964" y="138240"/>
                  </a:cubicBezTo>
                  <a:cubicBezTo>
                    <a:pt x="237441" y="152897"/>
                    <a:pt x="236819" y="170877"/>
                    <a:pt x="237297" y="184757"/>
                  </a:cubicBezTo>
                  <a:cubicBezTo>
                    <a:pt x="237797" y="199203"/>
                    <a:pt x="226540" y="212538"/>
                    <a:pt x="211327" y="212538"/>
                  </a:cubicBezTo>
                  <a:lnTo>
                    <a:pt x="55396" y="212538"/>
                  </a:lnTo>
                  <a:cubicBezTo>
                    <a:pt x="40172" y="212538"/>
                    <a:pt x="28915" y="199203"/>
                    <a:pt x="29426" y="184757"/>
                  </a:cubicBezTo>
                  <a:cubicBezTo>
                    <a:pt x="29904" y="170877"/>
                    <a:pt x="29282" y="152897"/>
                    <a:pt x="24759" y="138240"/>
                  </a:cubicBezTo>
                  <a:cubicBezTo>
                    <a:pt x="20203" y="123527"/>
                    <a:pt x="12535" y="114237"/>
                    <a:pt x="0" y="113037"/>
                  </a:cubicBezTo>
                  <a:lnTo>
                    <a:pt x="0" y="99502"/>
                  </a:lnTo>
                  <a:cubicBezTo>
                    <a:pt x="12535" y="98301"/>
                    <a:pt x="20214" y="89011"/>
                    <a:pt x="24748" y="74298"/>
                  </a:cubicBezTo>
                  <a:cubicBezTo>
                    <a:pt x="29282" y="59641"/>
                    <a:pt x="29904" y="41661"/>
                    <a:pt x="29415" y="27781"/>
                  </a:cubicBezTo>
                  <a:cubicBezTo>
                    <a:pt x="28915" y="13335"/>
                    <a:pt x="40172" y="0"/>
                    <a:pt x="55396" y="0"/>
                  </a:cubicBezTo>
                  <a:lnTo>
                    <a:pt x="211327" y="0"/>
                  </a:lnTo>
                  <a:cubicBezTo>
                    <a:pt x="226551" y="0"/>
                    <a:pt x="237797" y="13335"/>
                    <a:pt x="237297" y="27781"/>
                  </a:cubicBezTo>
                  <a:cubicBezTo>
                    <a:pt x="236819" y="41661"/>
                    <a:pt x="237441" y="59641"/>
                    <a:pt x="241964" y="74298"/>
                  </a:cubicBezTo>
                  <a:cubicBezTo>
                    <a:pt x="246509" y="89011"/>
                    <a:pt x="254166" y="98301"/>
                    <a:pt x="266701" y="99502"/>
                  </a:cubicBezTo>
                  <a:close/>
                  <a:moveTo>
                    <a:pt x="178612" y="130806"/>
                  </a:moveTo>
                  <a:cubicBezTo>
                    <a:pt x="178612" y="115759"/>
                    <a:pt x="168021" y="104880"/>
                    <a:pt x="152297" y="103158"/>
                  </a:cubicBezTo>
                  <a:lnTo>
                    <a:pt x="152297" y="102524"/>
                  </a:lnTo>
                  <a:cubicBezTo>
                    <a:pt x="163854" y="100646"/>
                    <a:pt x="172922" y="89911"/>
                    <a:pt x="172922" y="77932"/>
                  </a:cubicBezTo>
                  <a:cubicBezTo>
                    <a:pt x="172922" y="60852"/>
                    <a:pt x="159443" y="49729"/>
                    <a:pt x="138896" y="49729"/>
                  </a:cubicBezTo>
                  <a:lnTo>
                    <a:pt x="92667" y="49729"/>
                  </a:lnTo>
                  <a:lnTo>
                    <a:pt x="92667" y="162765"/>
                  </a:lnTo>
                  <a:lnTo>
                    <a:pt x="139129" y="162765"/>
                  </a:lnTo>
                  <a:cubicBezTo>
                    <a:pt x="163776" y="162765"/>
                    <a:pt x="178612" y="150697"/>
                    <a:pt x="178612" y="130806"/>
                  </a:cubicBez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grpSp>
          <p:nvGrpSpPr>
            <p:cNvPr id="11" name="lama-item-1"/>
            <p:cNvGrpSpPr/>
            <p:nvPr/>
          </p:nvGrpSpPr>
          <p:grpSpPr>
            <a:xfrm>
              <a:off x="895350" y="2600325"/>
              <a:ext cx="2715596" cy="293370"/>
              <a:chOff x="895350" y="2600325"/>
              <a:chExt cx="2715596" cy="29337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895350" y="2667000"/>
                <a:ext cx="76200" cy="76200"/>
              </a:xfrm>
              <a:prstGeom prst="ellipse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35380" y="2600325"/>
                <a:ext cx="24755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Bootstrap 5 + render server</a:t>
                </a:r>
              </a:p>
            </p:txBody>
          </p:sp>
        </p:grpSp>
        <p:grpSp>
          <p:nvGrpSpPr>
            <p:cNvPr id="14" name="lama-item-2"/>
            <p:cNvGrpSpPr/>
            <p:nvPr/>
          </p:nvGrpSpPr>
          <p:grpSpPr>
            <a:xfrm>
              <a:off x="895350" y="3171825"/>
              <a:ext cx="3342035" cy="293370"/>
              <a:chOff x="895350" y="3171825"/>
              <a:chExt cx="3342035" cy="29337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895350" y="3238500"/>
                <a:ext cx="76200" cy="76200"/>
              </a:xfrm>
              <a:prstGeom prst="ellipse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35380" y="3171825"/>
                <a:ext cx="31020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Satu bundel CSS: 111 media query</a:t>
                </a:r>
              </a:p>
            </p:txBody>
          </p:sp>
        </p:grpSp>
        <p:grpSp>
          <p:nvGrpSpPr>
            <p:cNvPr id="17" name="lama-item-3"/>
            <p:cNvGrpSpPr/>
            <p:nvPr/>
          </p:nvGrpSpPr>
          <p:grpSpPr>
            <a:xfrm>
              <a:off x="895350" y="3743325"/>
              <a:ext cx="2842337" cy="293370"/>
              <a:chOff x="895350" y="3743325"/>
              <a:chExt cx="2842337" cy="29337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895350" y="3810000"/>
                <a:ext cx="76200" cy="76200"/>
              </a:xfrm>
              <a:prstGeom prst="ellipse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35380" y="3743325"/>
                <a:ext cx="260230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1 tag skrip di halaman depan</a:t>
                </a:r>
              </a:p>
            </p:txBody>
          </p:sp>
        </p:grpSp>
        <p:grpSp>
          <p:nvGrpSpPr>
            <p:cNvPr id="20" name="lama-item-4"/>
            <p:cNvGrpSpPr/>
            <p:nvPr/>
          </p:nvGrpSpPr>
          <p:grpSpPr>
            <a:xfrm>
              <a:off x="895350" y="4314825"/>
              <a:ext cx="3000104" cy="293370"/>
              <a:chOff x="895350" y="4314825"/>
              <a:chExt cx="3000104" cy="29337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95350" y="4381500"/>
                <a:ext cx="76200" cy="76200"/>
              </a:xfrm>
              <a:prstGeom prst="ellipse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35380" y="4314825"/>
                <a:ext cx="27600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Validasi data: tidak terverifikasi</a:t>
                </a:r>
              </a:p>
            </p:txBody>
          </p:sp>
        </p:grpSp>
        <p:grpSp>
          <p:nvGrpSpPr>
            <p:cNvPr id="23" name="lama-item-5"/>
            <p:cNvGrpSpPr/>
            <p:nvPr/>
          </p:nvGrpSpPr>
          <p:grpSpPr>
            <a:xfrm>
              <a:off x="895350" y="4886325"/>
              <a:ext cx="2883535" cy="293370"/>
              <a:chOff x="895350" y="4886325"/>
              <a:chExt cx="2883535" cy="29337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95350" y="4953000"/>
                <a:ext cx="76200" cy="76200"/>
              </a:xfrm>
              <a:prstGeom prst="ellipse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35380" y="4886325"/>
                <a:ext cx="2643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Panel admin publik: tidak ada</a:t>
                </a:r>
              </a:p>
            </p:txBody>
          </p:sp>
        </p:grpSp>
        <p:grpSp>
          <p:nvGrpSpPr>
            <p:cNvPr id="26" name="lama-item-6"/>
            <p:cNvGrpSpPr/>
            <p:nvPr/>
          </p:nvGrpSpPr>
          <p:grpSpPr>
            <a:xfrm>
              <a:off x="895350" y="5457825"/>
              <a:ext cx="3075445" cy="293370"/>
              <a:chOff x="895350" y="5457825"/>
              <a:chExt cx="3075445" cy="29337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95350" y="5524500"/>
                <a:ext cx="76200" cy="76200"/>
              </a:xfrm>
              <a:prstGeom prst="ellipse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35380" y="5457825"/>
                <a:ext cx="28354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Test otomatis: tidak terverifikasi</a:t>
                </a:r>
              </a:p>
            </p:txBody>
          </p:sp>
        </p:grpSp>
      </p:grpSp>
      <p:grpSp>
        <p:nvGrpSpPr>
          <p:cNvPr id="54" name="col-baru"/>
          <p:cNvGrpSpPr/>
          <p:nvPr/>
        </p:nvGrpSpPr>
        <p:grpSpPr>
          <a:xfrm>
            <a:off x="6324600" y="1847850"/>
            <a:ext cx="5105400" cy="3903345"/>
            <a:chOff x="6324600" y="1847850"/>
            <a:chExt cx="5105400" cy="3903345"/>
          </a:xfrm>
        </p:grpSpPr>
        <p:sp>
          <p:nvSpPr>
            <p:cNvPr id="28" name="Rectangle 28"/>
            <p:cNvSpPr/>
            <p:nvPr/>
          </p:nvSpPr>
          <p:spPr>
            <a:xfrm>
              <a:off x="6324600" y="1847850"/>
              <a:ext cx="5105400" cy="495300"/>
            </a:xfrm>
            <a:prstGeom prst="roundRect">
              <a:avLst>
                <a:gd name="adj" fmla="val 23077"/>
              </a:avLst>
            </a:prstGeom>
            <a:solidFill>
              <a:srgbClr val="22D3EE">
                <a:alpha val="14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7485" y="2040731"/>
              <a:ext cx="823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WEB BARU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8420100" y="1962150"/>
              <a:ext cx="266701" cy="266701"/>
            </a:xfrm>
            <a:custGeom>
              <a:avLst/>
              <a:gdLst/>
              <a:ahLst/>
              <a:cxnLst/>
              <a:rect l="l" t="t" r="r" b="b"/>
              <a:pathLst>
                <a:path w="266701" h="266701">
                  <a:moveTo>
                    <a:pt x="207415" y="244231"/>
                  </a:moveTo>
                  <a:cubicBezTo>
                    <a:pt x="186224" y="258422"/>
                    <a:pt x="160743" y="266701"/>
                    <a:pt x="133350" y="266701"/>
                  </a:cubicBezTo>
                  <a:cubicBezTo>
                    <a:pt x="59752" y="266701"/>
                    <a:pt x="0" y="206949"/>
                    <a:pt x="0" y="133350"/>
                  </a:cubicBezTo>
                  <a:cubicBezTo>
                    <a:pt x="0" y="59752"/>
                    <a:pt x="59752" y="0"/>
                    <a:pt x="133350" y="0"/>
                  </a:cubicBezTo>
                  <a:cubicBezTo>
                    <a:pt x="206949" y="0"/>
                    <a:pt x="266701" y="59752"/>
                    <a:pt x="266701" y="133350"/>
                  </a:cubicBezTo>
                  <a:cubicBezTo>
                    <a:pt x="266701" y="173167"/>
                    <a:pt x="249210" y="208927"/>
                    <a:pt x="221506" y="233374"/>
                  </a:cubicBezTo>
                  <a:lnTo>
                    <a:pt x="102446" y="80010"/>
                  </a:lnTo>
                  <a:lnTo>
                    <a:pt x="80010" y="80010"/>
                  </a:lnTo>
                  <a:lnTo>
                    <a:pt x="80010" y="186646"/>
                  </a:lnTo>
                  <a:lnTo>
                    <a:pt x="97957" y="186646"/>
                  </a:lnTo>
                  <a:lnTo>
                    <a:pt x="97957" y="102802"/>
                  </a:lnTo>
                  <a:lnTo>
                    <a:pt x="207415" y="244231"/>
                  </a:lnTo>
                  <a:close/>
                  <a:moveTo>
                    <a:pt x="170388" y="149408"/>
                  </a:moveTo>
                  <a:lnTo>
                    <a:pt x="188169" y="172311"/>
                  </a:lnTo>
                  <a:lnTo>
                    <a:pt x="188169" y="80010"/>
                  </a:lnTo>
                  <a:lnTo>
                    <a:pt x="170388" y="80010"/>
                  </a:lnTo>
                  <a:lnTo>
                    <a:pt x="170388" y="149408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763000" y="1976752"/>
              <a:ext cx="266701" cy="237530"/>
            </a:xfrm>
            <a:custGeom>
              <a:avLst/>
              <a:gdLst/>
              <a:ahLst/>
              <a:cxnLst/>
              <a:rect l="l" t="t" r="r" b="b"/>
              <a:pathLst>
                <a:path w="266701" h="237530">
                  <a:moveTo>
                    <a:pt x="158131" y="118793"/>
                  </a:moveTo>
                  <a:cubicBezTo>
                    <a:pt x="158131" y="132512"/>
                    <a:pt x="147013" y="143634"/>
                    <a:pt x="133295" y="143641"/>
                  </a:cubicBezTo>
                  <a:cubicBezTo>
                    <a:pt x="126705" y="143641"/>
                    <a:pt x="120385" y="141023"/>
                    <a:pt x="115725" y="136363"/>
                  </a:cubicBezTo>
                  <a:cubicBezTo>
                    <a:pt x="111065" y="131703"/>
                    <a:pt x="108447" y="125383"/>
                    <a:pt x="108447" y="118793"/>
                  </a:cubicBezTo>
                  <a:cubicBezTo>
                    <a:pt x="108447" y="105074"/>
                    <a:pt x="119565" y="93951"/>
                    <a:pt x="133284" y="93945"/>
                  </a:cubicBezTo>
                  <a:cubicBezTo>
                    <a:pt x="139874" y="93945"/>
                    <a:pt x="146194" y="96563"/>
                    <a:pt x="150854" y="101223"/>
                  </a:cubicBezTo>
                  <a:cubicBezTo>
                    <a:pt x="155513" y="105883"/>
                    <a:pt x="158131" y="112203"/>
                    <a:pt x="158131" y="118793"/>
                  </a:cubicBezTo>
                  <a:close/>
                  <a:moveTo>
                    <a:pt x="187557" y="0"/>
                  </a:moveTo>
                  <a:cubicBezTo>
                    <a:pt x="172600" y="0"/>
                    <a:pt x="153031" y="10668"/>
                    <a:pt x="133239" y="29137"/>
                  </a:cubicBezTo>
                  <a:cubicBezTo>
                    <a:pt x="113459" y="10768"/>
                    <a:pt x="93879" y="222"/>
                    <a:pt x="78932" y="222"/>
                  </a:cubicBezTo>
                  <a:cubicBezTo>
                    <a:pt x="74376" y="222"/>
                    <a:pt x="70231" y="1256"/>
                    <a:pt x="66642" y="3312"/>
                  </a:cubicBezTo>
                  <a:cubicBezTo>
                    <a:pt x="51362" y="12124"/>
                    <a:pt x="47939" y="39583"/>
                    <a:pt x="55829" y="74043"/>
                  </a:cubicBezTo>
                  <a:cubicBezTo>
                    <a:pt x="22003" y="84489"/>
                    <a:pt x="0" y="101191"/>
                    <a:pt x="0" y="118793"/>
                  </a:cubicBezTo>
                  <a:cubicBezTo>
                    <a:pt x="0" y="136462"/>
                    <a:pt x="22114" y="153208"/>
                    <a:pt x="56040" y="163576"/>
                  </a:cubicBezTo>
                  <a:cubicBezTo>
                    <a:pt x="48217" y="198170"/>
                    <a:pt x="51707" y="225673"/>
                    <a:pt x="67020" y="234474"/>
                  </a:cubicBezTo>
                  <a:cubicBezTo>
                    <a:pt x="70576" y="236552"/>
                    <a:pt x="74687" y="237530"/>
                    <a:pt x="79266" y="237530"/>
                  </a:cubicBezTo>
                  <a:cubicBezTo>
                    <a:pt x="94212" y="237530"/>
                    <a:pt x="113792" y="226862"/>
                    <a:pt x="133584" y="208371"/>
                  </a:cubicBezTo>
                  <a:cubicBezTo>
                    <a:pt x="153364" y="226751"/>
                    <a:pt x="172944" y="237297"/>
                    <a:pt x="187891" y="237297"/>
                  </a:cubicBezTo>
                  <a:cubicBezTo>
                    <a:pt x="192447" y="237297"/>
                    <a:pt x="196592" y="236297"/>
                    <a:pt x="200181" y="234241"/>
                  </a:cubicBezTo>
                  <a:cubicBezTo>
                    <a:pt x="215450" y="225440"/>
                    <a:pt x="218884" y="197981"/>
                    <a:pt x="210994" y="163510"/>
                  </a:cubicBezTo>
                  <a:cubicBezTo>
                    <a:pt x="244698" y="153153"/>
                    <a:pt x="266701" y="136417"/>
                    <a:pt x="266701" y="118793"/>
                  </a:cubicBezTo>
                  <a:cubicBezTo>
                    <a:pt x="266701" y="101124"/>
                    <a:pt x="244587" y="84377"/>
                    <a:pt x="210660" y="73987"/>
                  </a:cubicBezTo>
                  <a:cubicBezTo>
                    <a:pt x="218483" y="39427"/>
                    <a:pt x="214994" y="11902"/>
                    <a:pt x="199681" y="3089"/>
                  </a:cubicBezTo>
                  <a:cubicBezTo>
                    <a:pt x="196147" y="1045"/>
                    <a:pt x="192036" y="11"/>
                    <a:pt x="187546" y="0"/>
                  </a:cubicBezTo>
                  <a:close/>
                  <a:moveTo>
                    <a:pt x="187502" y="12113"/>
                  </a:moveTo>
                  <a:lnTo>
                    <a:pt x="187502" y="12179"/>
                  </a:lnTo>
                  <a:cubicBezTo>
                    <a:pt x="190002" y="12179"/>
                    <a:pt x="192013" y="12668"/>
                    <a:pt x="193703" y="13591"/>
                  </a:cubicBezTo>
                  <a:cubicBezTo>
                    <a:pt x="201103" y="17836"/>
                    <a:pt x="204315" y="33982"/>
                    <a:pt x="201815" y="54751"/>
                  </a:cubicBezTo>
                  <a:cubicBezTo>
                    <a:pt x="201215" y="59863"/>
                    <a:pt x="200237" y="65253"/>
                    <a:pt x="199037" y="70753"/>
                  </a:cubicBezTo>
                  <a:cubicBezTo>
                    <a:pt x="188369" y="68131"/>
                    <a:pt x="176745" y="66120"/>
                    <a:pt x="164510" y="64819"/>
                  </a:cubicBezTo>
                  <a:cubicBezTo>
                    <a:pt x="157176" y="54763"/>
                    <a:pt x="149564" y="45628"/>
                    <a:pt x="141896" y="37627"/>
                  </a:cubicBezTo>
                  <a:cubicBezTo>
                    <a:pt x="159587" y="21180"/>
                    <a:pt x="176200" y="12157"/>
                    <a:pt x="187513" y="12124"/>
                  </a:cubicBezTo>
                  <a:close/>
                  <a:moveTo>
                    <a:pt x="78932" y="12335"/>
                  </a:moveTo>
                  <a:cubicBezTo>
                    <a:pt x="90178" y="12335"/>
                    <a:pt x="106869" y="21314"/>
                    <a:pt x="124605" y="37671"/>
                  </a:cubicBezTo>
                  <a:cubicBezTo>
                    <a:pt x="116982" y="45673"/>
                    <a:pt x="109381" y="54751"/>
                    <a:pt x="102158" y="64808"/>
                  </a:cubicBezTo>
                  <a:cubicBezTo>
                    <a:pt x="89856" y="66108"/>
                    <a:pt x="78221" y="68120"/>
                    <a:pt x="67564" y="70787"/>
                  </a:cubicBezTo>
                  <a:cubicBezTo>
                    <a:pt x="66320" y="65342"/>
                    <a:pt x="65397" y="60074"/>
                    <a:pt x="64742" y="55007"/>
                  </a:cubicBezTo>
                  <a:cubicBezTo>
                    <a:pt x="62186" y="34249"/>
                    <a:pt x="65342" y="18113"/>
                    <a:pt x="72676" y="13813"/>
                  </a:cubicBezTo>
                  <a:cubicBezTo>
                    <a:pt x="74787" y="12813"/>
                    <a:pt x="77121" y="12402"/>
                    <a:pt x="78932" y="12346"/>
                  </a:cubicBezTo>
                  <a:close/>
                  <a:moveTo>
                    <a:pt x="133184" y="46228"/>
                  </a:moveTo>
                  <a:cubicBezTo>
                    <a:pt x="138240" y="51429"/>
                    <a:pt x="143296" y="57252"/>
                    <a:pt x="148297" y="63608"/>
                  </a:cubicBezTo>
                  <a:cubicBezTo>
                    <a:pt x="143407" y="63386"/>
                    <a:pt x="138407" y="63230"/>
                    <a:pt x="133350" y="63230"/>
                  </a:cubicBezTo>
                  <a:cubicBezTo>
                    <a:pt x="128239" y="63230"/>
                    <a:pt x="123182" y="63341"/>
                    <a:pt x="118237" y="63608"/>
                  </a:cubicBezTo>
                  <a:cubicBezTo>
                    <a:pt x="123127" y="57252"/>
                    <a:pt x="128183" y="51429"/>
                    <a:pt x="133184" y="46217"/>
                  </a:cubicBezTo>
                  <a:close/>
                  <a:moveTo>
                    <a:pt x="133350" y="75410"/>
                  </a:moveTo>
                  <a:cubicBezTo>
                    <a:pt x="141574" y="75410"/>
                    <a:pt x="149764" y="75787"/>
                    <a:pt x="157820" y="76443"/>
                  </a:cubicBezTo>
                  <a:cubicBezTo>
                    <a:pt x="162332" y="82911"/>
                    <a:pt x="166732" y="89811"/>
                    <a:pt x="170966" y="97112"/>
                  </a:cubicBezTo>
                  <a:cubicBezTo>
                    <a:pt x="175100" y="104224"/>
                    <a:pt x="178856" y="111448"/>
                    <a:pt x="182279" y="118737"/>
                  </a:cubicBezTo>
                  <a:cubicBezTo>
                    <a:pt x="178856" y="126016"/>
                    <a:pt x="175100" y="133295"/>
                    <a:pt x="171022" y="140407"/>
                  </a:cubicBezTo>
                  <a:cubicBezTo>
                    <a:pt x="166799" y="147741"/>
                    <a:pt x="162432" y="154720"/>
                    <a:pt x="157909" y="161187"/>
                  </a:cubicBezTo>
                  <a:cubicBezTo>
                    <a:pt x="149819" y="161887"/>
                    <a:pt x="141618" y="162276"/>
                    <a:pt x="133350" y="162276"/>
                  </a:cubicBezTo>
                  <a:cubicBezTo>
                    <a:pt x="125127" y="162276"/>
                    <a:pt x="116937" y="161887"/>
                    <a:pt x="108881" y="161243"/>
                  </a:cubicBezTo>
                  <a:cubicBezTo>
                    <a:pt x="104369" y="154775"/>
                    <a:pt x="99968" y="147863"/>
                    <a:pt x="95734" y="140574"/>
                  </a:cubicBezTo>
                  <a:cubicBezTo>
                    <a:pt x="91601" y="133462"/>
                    <a:pt x="87845" y="126238"/>
                    <a:pt x="84422" y="118949"/>
                  </a:cubicBezTo>
                  <a:cubicBezTo>
                    <a:pt x="87789" y="111648"/>
                    <a:pt x="91601" y="104358"/>
                    <a:pt x="95679" y="97235"/>
                  </a:cubicBezTo>
                  <a:cubicBezTo>
                    <a:pt x="99902" y="89900"/>
                    <a:pt x="104269" y="82944"/>
                    <a:pt x="108792" y="76476"/>
                  </a:cubicBezTo>
                  <a:cubicBezTo>
                    <a:pt x="116882" y="75765"/>
                    <a:pt x="125083" y="75387"/>
                    <a:pt x="133350" y="75387"/>
                  </a:cubicBezTo>
                  <a:close/>
                  <a:moveTo>
                    <a:pt x="92956" y="78232"/>
                  </a:moveTo>
                  <a:cubicBezTo>
                    <a:pt x="90289" y="82422"/>
                    <a:pt x="87622" y="86711"/>
                    <a:pt x="85133" y="91123"/>
                  </a:cubicBezTo>
                  <a:cubicBezTo>
                    <a:pt x="82633" y="95457"/>
                    <a:pt x="80299" y="99813"/>
                    <a:pt x="78077" y="104169"/>
                  </a:cubicBezTo>
                  <a:cubicBezTo>
                    <a:pt x="75132" y="96879"/>
                    <a:pt x="72632" y="89611"/>
                    <a:pt x="70565" y="82533"/>
                  </a:cubicBezTo>
                  <a:cubicBezTo>
                    <a:pt x="77677" y="80866"/>
                    <a:pt x="85178" y="79388"/>
                    <a:pt x="92956" y="78243"/>
                  </a:cubicBezTo>
                  <a:close/>
                  <a:moveTo>
                    <a:pt x="173633" y="78232"/>
                  </a:moveTo>
                  <a:cubicBezTo>
                    <a:pt x="181357" y="79377"/>
                    <a:pt x="188802" y="80788"/>
                    <a:pt x="195925" y="82533"/>
                  </a:cubicBezTo>
                  <a:cubicBezTo>
                    <a:pt x="193925" y="89556"/>
                    <a:pt x="191424" y="96779"/>
                    <a:pt x="188591" y="104013"/>
                  </a:cubicBezTo>
                  <a:cubicBezTo>
                    <a:pt x="186368" y="99679"/>
                    <a:pt x="184035" y="95312"/>
                    <a:pt x="181479" y="90967"/>
                  </a:cubicBezTo>
                  <a:cubicBezTo>
                    <a:pt x="178978" y="86611"/>
                    <a:pt x="176311" y="82366"/>
                    <a:pt x="173644" y="78232"/>
                  </a:cubicBezTo>
                  <a:close/>
                  <a:moveTo>
                    <a:pt x="207671" y="85733"/>
                  </a:moveTo>
                  <a:cubicBezTo>
                    <a:pt x="213049" y="87400"/>
                    <a:pt x="218161" y="89256"/>
                    <a:pt x="222951" y="91267"/>
                  </a:cubicBezTo>
                  <a:cubicBezTo>
                    <a:pt x="242198" y="99490"/>
                    <a:pt x="254644" y="110247"/>
                    <a:pt x="254644" y="118782"/>
                  </a:cubicBezTo>
                  <a:cubicBezTo>
                    <a:pt x="254588" y="127316"/>
                    <a:pt x="242142" y="138118"/>
                    <a:pt x="222895" y="146285"/>
                  </a:cubicBezTo>
                  <a:cubicBezTo>
                    <a:pt x="218228" y="148286"/>
                    <a:pt x="213116" y="150086"/>
                    <a:pt x="207838" y="151764"/>
                  </a:cubicBezTo>
                  <a:cubicBezTo>
                    <a:pt x="204726" y="141118"/>
                    <a:pt x="200659" y="130028"/>
                    <a:pt x="195614" y="118649"/>
                  </a:cubicBezTo>
                  <a:cubicBezTo>
                    <a:pt x="200615" y="107347"/>
                    <a:pt x="204615" y="96312"/>
                    <a:pt x="207671" y="85711"/>
                  </a:cubicBezTo>
                  <a:close/>
                  <a:moveTo>
                    <a:pt x="58819" y="85778"/>
                  </a:moveTo>
                  <a:cubicBezTo>
                    <a:pt x="61908" y="96446"/>
                    <a:pt x="65986" y="107525"/>
                    <a:pt x="71042" y="118893"/>
                  </a:cubicBezTo>
                  <a:cubicBezTo>
                    <a:pt x="66042" y="130194"/>
                    <a:pt x="62019" y="141229"/>
                    <a:pt x="58974" y="151831"/>
                  </a:cubicBezTo>
                  <a:cubicBezTo>
                    <a:pt x="53596" y="150164"/>
                    <a:pt x="48484" y="148297"/>
                    <a:pt x="43750" y="146274"/>
                  </a:cubicBezTo>
                  <a:cubicBezTo>
                    <a:pt x="24503" y="138084"/>
                    <a:pt x="12057" y="127316"/>
                    <a:pt x="12057" y="118782"/>
                  </a:cubicBezTo>
                  <a:cubicBezTo>
                    <a:pt x="12057" y="110247"/>
                    <a:pt x="24503" y="99424"/>
                    <a:pt x="43750" y="91267"/>
                  </a:cubicBezTo>
                  <a:cubicBezTo>
                    <a:pt x="48417" y="89267"/>
                    <a:pt x="53529" y="87467"/>
                    <a:pt x="58819" y="85778"/>
                  </a:cubicBezTo>
                  <a:close/>
                  <a:moveTo>
                    <a:pt x="188591" y="133339"/>
                  </a:moveTo>
                  <a:cubicBezTo>
                    <a:pt x="191536" y="140640"/>
                    <a:pt x="194036" y="147919"/>
                    <a:pt x="196103" y="154986"/>
                  </a:cubicBezTo>
                  <a:cubicBezTo>
                    <a:pt x="188991" y="156731"/>
                    <a:pt x="181479" y="158209"/>
                    <a:pt x="173700" y="159320"/>
                  </a:cubicBezTo>
                  <a:cubicBezTo>
                    <a:pt x="176367" y="155153"/>
                    <a:pt x="179034" y="150853"/>
                    <a:pt x="181534" y="146452"/>
                  </a:cubicBezTo>
                  <a:cubicBezTo>
                    <a:pt x="184035" y="142118"/>
                    <a:pt x="186368" y="137695"/>
                    <a:pt x="188602" y="133339"/>
                  </a:cubicBezTo>
                  <a:close/>
                  <a:moveTo>
                    <a:pt x="78077" y="133562"/>
                  </a:moveTo>
                  <a:cubicBezTo>
                    <a:pt x="80299" y="137918"/>
                    <a:pt x="82633" y="142263"/>
                    <a:pt x="85189" y="146619"/>
                  </a:cubicBezTo>
                  <a:cubicBezTo>
                    <a:pt x="87745" y="150953"/>
                    <a:pt x="90356" y="155198"/>
                    <a:pt x="93023" y="159320"/>
                  </a:cubicBezTo>
                  <a:cubicBezTo>
                    <a:pt x="85300" y="158187"/>
                    <a:pt x="77854" y="156764"/>
                    <a:pt x="70731" y="155031"/>
                  </a:cubicBezTo>
                  <a:cubicBezTo>
                    <a:pt x="72732" y="148030"/>
                    <a:pt x="75243" y="140785"/>
                    <a:pt x="78066" y="133550"/>
                  </a:cubicBezTo>
                  <a:close/>
                  <a:moveTo>
                    <a:pt x="199137" y="166755"/>
                  </a:moveTo>
                  <a:cubicBezTo>
                    <a:pt x="200381" y="172233"/>
                    <a:pt x="201359" y="177512"/>
                    <a:pt x="201959" y="182568"/>
                  </a:cubicBezTo>
                  <a:cubicBezTo>
                    <a:pt x="204515" y="203326"/>
                    <a:pt x="201359" y="219461"/>
                    <a:pt x="194025" y="223773"/>
                  </a:cubicBezTo>
                  <a:cubicBezTo>
                    <a:pt x="192391" y="224773"/>
                    <a:pt x="190269" y="225195"/>
                    <a:pt x="187768" y="225195"/>
                  </a:cubicBezTo>
                  <a:cubicBezTo>
                    <a:pt x="176523" y="225195"/>
                    <a:pt x="159832" y="216228"/>
                    <a:pt x="142096" y="199859"/>
                  </a:cubicBezTo>
                  <a:cubicBezTo>
                    <a:pt x="149719" y="191858"/>
                    <a:pt x="157320" y="182790"/>
                    <a:pt x="164543" y="172744"/>
                  </a:cubicBezTo>
                  <a:cubicBezTo>
                    <a:pt x="176845" y="171433"/>
                    <a:pt x="188480" y="169411"/>
                    <a:pt x="199137" y="166744"/>
                  </a:cubicBezTo>
                  <a:close/>
                  <a:moveTo>
                    <a:pt x="67675" y="166866"/>
                  </a:moveTo>
                  <a:cubicBezTo>
                    <a:pt x="78343" y="169466"/>
                    <a:pt x="89967" y="171477"/>
                    <a:pt x="102202" y="172778"/>
                  </a:cubicBezTo>
                  <a:cubicBezTo>
                    <a:pt x="109536" y="182834"/>
                    <a:pt x="117148" y="191969"/>
                    <a:pt x="124816" y="199959"/>
                  </a:cubicBezTo>
                  <a:cubicBezTo>
                    <a:pt x="107091" y="216439"/>
                    <a:pt x="90456" y="225462"/>
                    <a:pt x="79143" y="225462"/>
                  </a:cubicBezTo>
                  <a:cubicBezTo>
                    <a:pt x="76699" y="225407"/>
                    <a:pt x="74632" y="224907"/>
                    <a:pt x="72998" y="223995"/>
                  </a:cubicBezTo>
                  <a:cubicBezTo>
                    <a:pt x="65597" y="219773"/>
                    <a:pt x="62386" y="203615"/>
                    <a:pt x="64886" y="182846"/>
                  </a:cubicBezTo>
                  <a:cubicBezTo>
                    <a:pt x="65486" y="177734"/>
                    <a:pt x="66464" y="172355"/>
                    <a:pt x="67664" y="166866"/>
                  </a:cubicBezTo>
                  <a:close/>
                  <a:moveTo>
                    <a:pt x="118348" y="173978"/>
                  </a:moveTo>
                  <a:cubicBezTo>
                    <a:pt x="123238" y="174200"/>
                    <a:pt x="128239" y="174356"/>
                    <a:pt x="133295" y="174356"/>
                  </a:cubicBezTo>
                  <a:cubicBezTo>
                    <a:pt x="138407" y="174356"/>
                    <a:pt x="143463" y="174244"/>
                    <a:pt x="148408" y="173978"/>
                  </a:cubicBezTo>
                  <a:cubicBezTo>
                    <a:pt x="143518" y="180334"/>
                    <a:pt x="138462" y="186146"/>
                    <a:pt x="133462" y="191369"/>
                  </a:cubicBezTo>
                  <a:cubicBezTo>
                    <a:pt x="128405" y="186146"/>
                    <a:pt x="123349" y="180334"/>
                    <a:pt x="118348" y="173978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105900" y="1962150"/>
              <a:ext cx="266701" cy="266701"/>
            </a:xfrm>
            <a:custGeom>
              <a:avLst/>
              <a:gdLst/>
              <a:ahLst/>
              <a:cxnLst/>
              <a:rect l="l" t="t" r="r" b="b"/>
              <a:pathLst>
                <a:path w="266701" h="266701">
                  <a:moveTo>
                    <a:pt x="12502" y="0"/>
                  </a:moveTo>
                  <a:cubicBezTo>
                    <a:pt x="5578" y="0"/>
                    <a:pt x="0" y="5578"/>
                    <a:pt x="0" y="12502"/>
                  </a:cubicBezTo>
                  <a:lnTo>
                    <a:pt x="0" y="254199"/>
                  </a:lnTo>
                  <a:cubicBezTo>
                    <a:pt x="0" y="261122"/>
                    <a:pt x="5578" y="266701"/>
                    <a:pt x="12502" y="266701"/>
                  </a:cubicBezTo>
                  <a:lnTo>
                    <a:pt x="254199" y="266701"/>
                  </a:lnTo>
                  <a:cubicBezTo>
                    <a:pt x="261122" y="266701"/>
                    <a:pt x="266701" y="261122"/>
                    <a:pt x="266701" y="254199"/>
                  </a:cubicBezTo>
                  <a:lnTo>
                    <a:pt x="266701" y="12502"/>
                  </a:lnTo>
                  <a:cubicBezTo>
                    <a:pt x="266701" y="5578"/>
                    <a:pt x="261122" y="0"/>
                    <a:pt x="254199" y="0"/>
                  </a:cubicBezTo>
                  <a:close/>
                  <a:moveTo>
                    <a:pt x="205448" y="108347"/>
                  </a:moveTo>
                  <a:cubicBezTo>
                    <a:pt x="212249" y="108347"/>
                    <a:pt x="218272" y="108758"/>
                    <a:pt x="223529" y="109581"/>
                  </a:cubicBezTo>
                  <a:cubicBezTo>
                    <a:pt x="228486" y="110323"/>
                    <a:pt x="233351" y="111590"/>
                    <a:pt x="238042" y="113359"/>
                  </a:cubicBezTo>
                  <a:lnTo>
                    <a:pt x="238042" y="140674"/>
                  </a:lnTo>
                  <a:cubicBezTo>
                    <a:pt x="235790" y="139116"/>
                    <a:pt x="233398" y="137773"/>
                    <a:pt x="230896" y="136662"/>
                  </a:cubicBezTo>
                  <a:cubicBezTo>
                    <a:pt x="228316" y="135501"/>
                    <a:pt x="225653" y="134535"/>
                    <a:pt x="222928" y="133773"/>
                  </a:cubicBezTo>
                  <a:cubicBezTo>
                    <a:pt x="217768" y="132335"/>
                    <a:pt x="212439" y="131587"/>
                    <a:pt x="207082" y="131550"/>
                  </a:cubicBezTo>
                  <a:cubicBezTo>
                    <a:pt x="203748" y="131550"/>
                    <a:pt x="200715" y="131861"/>
                    <a:pt x="197981" y="132506"/>
                  </a:cubicBezTo>
                  <a:cubicBezTo>
                    <a:pt x="195544" y="133027"/>
                    <a:pt x="193207" y="133935"/>
                    <a:pt x="191058" y="135195"/>
                  </a:cubicBezTo>
                  <a:cubicBezTo>
                    <a:pt x="189169" y="136351"/>
                    <a:pt x="187724" y="137740"/>
                    <a:pt x="186691" y="139351"/>
                  </a:cubicBezTo>
                  <a:cubicBezTo>
                    <a:pt x="185651" y="140975"/>
                    <a:pt x="185110" y="142868"/>
                    <a:pt x="185135" y="144796"/>
                  </a:cubicBezTo>
                  <a:cubicBezTo>
                    <a:pt x="185135" y="146974"/>
                    <a:pt x="185724" y="148941"/>
                    <a:pt x="186868" y="150675"/>
                  </a:cubicBezTo>
                  <a:cubicBezTo>
                    <a:pt x="188024" y="152408"/>
                    <a:pt x="189669" y="154053"/>
                    <a:pt x="191791" y="155609"/>
                  </a:cubicBezTo>
                  <a:cubicBezTo>
                    <a:pt x="193914" y="157165"/>
                    <a:pt x="196492" y="158676"/>
                    <a:pt x="199526" y="160165"/>
                  </a:cubicBezTo>
                  <a:cubicBezTo>
                    <a:pt x="202559" y="161665"/>
                    <a:pt x="205993" y="163210"/>
                    <a:pt x="209816" y="164788"/>
                  </a:cubicBezTo>
                  <a:cubicBezTo>
                    <a:pt x="215039" y="166977"/>
                    <a:pt x="219728" y="169311"/>
                    <a:pt x="223884" y="171766"/>
                  </a:cubicBezTo>
                  <a:cubicBezTo>
                    <a:pt x="228040" y="174233"/>
                    <a:pt x="231607" y="177023"/>
                    <a:pt x="234586" y="180134"/>
                  </a:cubicBezTo>
                  <a:cubicBezTo>
                    <a:pt x="237564" y="183235"/>
                    <a:pt x="239831" y="186779"/>
                    <a:pt x="241409" y="190769"/>
                  </a:cubicBezTo>
                  <a:cubicBezTo>
                    <a:pt x="242987" y="194758"/>
                    <a:pt x="243787" y="199392"/>
                    <a:pt x="243787" y="204693"/>
                  </a:cubicBezTo>
                  <a:cubicBezTo>
                    <a:pt x="243787" y="211994"/>
                    <a:pt x="242398" y="218139"/>
                    <a:pt x="239642" y="223095"/>
                  </a:cubicBezTo>
                  <a:cubicBezTo>
                    <a:pt x="236949" y="227983"/>
                    <a:pt x="233085" y="232126"/>
                    <a:pt x="228396" y="235152"/>
                  </a:cubicBezTo>
                  <a:cubicBezTo>
                    <a:pt x="223342" y="238357"/>
                    <a:pt x="217740" y="240602"/>
                    <a:pt x="211872" y="241775"/>
                  </a:cubicBezTo>
                  <a:cubicBezTo>
                    <a:pt x="205582" y="243109"/>
                    <a:pt x="198948" y="243776"/>
                    <a:pt x="191980" y="243776"/>
                  </a:cubicBezTo>
                  <a:cubicBezTo>
                    <a:pt x="185123" y="243806"/>
                    <a:pt x="178277" y="243196"/>
                    <a:pt x="171533" y="241953"/>
                  </a:cubicBezTo>
                  <a:cubicBezTo>
                    <a:pt x="165698" y="240944"/>
                    <a:pt x="160039" y="239099"/>
                    <a:pt x="154731" y="236475"/>
                  </a:cubicBezTo>
                  <a:lnTo>
                    <a:pt x="154731" y="207249"/>
                  </a:lnTo>
                  <a:cubicBezTo>
                    <a:pt x="164774" y="215796"/>
                    <a:pt x="177515" y="220519"/>
                    <a:pt x="190702" y="220584"/>
                  </a:cubicBezTo>
                  <a:cubicBezTo>
                    <a:pt x="194403" y="220584"/>
                    <a:pt x="197636" y="220250"/>
                    <a:pt x="200392" y="219584"/>
                  </a:cubicBezTo>
                  <a:cubicBezTo>
                    <a:pt x="203159" y="218917"/>
                    <a:pt x="205460" y="217983"/>
                    <a:pt x="207315" y="216805"/>
                  </a:cubicBezTo>
                  <a:cubicBezTo>
                    <a:pt x="209160" y="215605"/>
                    <a:pt x="210538" y="214205"/>
                    <a:pt x="211460" y="212583"/>
                  </a:cubicBezTo>
                  <a:cubicBezTo>
                    <a:pt x="213541" y="208727"/>
                    <a:pt x="213221" y="204020"/>
                    <a:pt x="210638" y="200481"/>
                  </a:cubicBezTo>
                  <a:cubicBezTo>
                    <a:pt x="208987" y="198296"/>
                    <a:pt x="206968" y="196416"/>
                    <a:pt x="204671" y="194925"/>
                  </a:cubicBezTo>
                  <a:cubicBezTo>
                    <a:pt x="201822" y="193037"/>
                    <a:pt x="198823" y="191386"/>
                    <a:pt x="195703" y="189991"/>
                  </a:cubicBezTo>
                  <a:cubicBezTo>
                    <a:pt x="192005" y="188302"/>
                    <a:pt x="188274" y="186687"/>
                    <a:pt x="184512" y="185146"/>
                  </a:cubicBezTo>
                  <a:cubicBezTo>
                    <a:pt x="174311" y="180890"/>
                    <a:pt x="166710" y="175678"/>
                    <a:pt x="161698" y="169533"/>
                  </a:cubicBezTo>
                  <a:cubicBezTo>
                    <a:pt x="156698" y="163388"/>
                    <a:pt x="154186" y="155953"/>
                    <a:pt x="154186" y="147252"/>
                  </a:cubicBezTo>
                  <a:cubicBezTo>
                    <a:pt x="154186" y="140429"/>
                    <a:pt x="155553" y="134573"/>
                    <a:pt x="158287" y="129672"/>
                  </a:cubicBezTo>
                  <a:cubicBezTo>
                    <a:pt x="161021" y="124772"/>
                    <a:pt x="164732" y="120738"/>
                    <a:pt x="169444" y="117571"/>
                  </a:cubicBezTo>
                  <a:cubicBezTo>
                    <a:pt x="174427" y="114283"/>
                    <a:pt x="179960" y="111916"/>
                    <a:pt x="185779" y="110581"/>
                  </a:cubicBezTo>
                  <a:cubicBezTo>
                    <a:pt x="192224" y="109061"/>
                    <a:pt x="198827" y="108311"/>
                    <a:pt x="205448" y="108347"/>
                  </a:cubicBezTo>
                  <a:close/>
                  <a:moveTo>
                    <a:pt x="37505" y="110436"/>
                  </a:moveTo>
                  <a:lnTo>
                    <a:pt x="143774" y="110436"/>
                  </a:lnTo>
                  <a:lnTo>
                    <a:pt x="143774" y="134506"/>
                  </a:lnTo>
                  <a:lnTo>
                    <a:pt x="105636" y="134506"/>
                  </a:lnTo>
                  <a:lnTo>
                    <a:pt x="105636" y="241698"/>
                  </a:lnTo>
                  <a:lnTo>
                    <a:pt x="75443" y="241698"/>
                  </a:lnTo>
                  <a:lnTo>
                    <a:pt x="75443" y="134506"/>
                  </a:lnTo>
                  <a:lnTo>
                    <a:pt x="37505" y="134506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448811" y="2015490"/>
              <a:ext cx="266701" cy="160020"/>
            </a:xfrm>
            <a:custGeom>
              <a:avLst/>
              <a:gdLst/>
              <a:ahLst/>
              <a:cxnLst/>
              <a:rect l="l" t="t" r="r" b="b"/>
              <a:pathLst>
                <a:path w="266701" h="160020">
                  <a:moveTo>
                    <a:pt x="133350" y="0"/>
                  </a:moveTo>
                  <a:cubicBezTo>
                    <a:pt x="97790" y="0"/>
                    <a:pt x="75565" y="17780"/>
                    <a:pt x="66675" y="53340"/>
                  </a:cubicBezTo>
                  <a:cubicBezTo>
                    <a:pt x="80010" y="35560"/>
                    <a:pt x="95568" y="28893"/>
                    <a:pt x="113348" y="33338"/>
                  </a:cubicBezTo>
                  <a:cubicBezTo>
                    <a:pt x="123494" y="35871"/>
                    <a:pt x="130739" y="43228"/>
                    <a:pt x="138773" y="51384"/>
                  </a:cubicBezTo>
                  <a:cubicBezTo>
                    <a:pt x="151853" y="64653"/>
                    <a:pt x="166977" y="80010"/>
                    <a:pt x="200026" y="80010"/>
                  </a:cubicBezTo>
                  <a:cubicBezTo>
                    <a:pt x="235586" y="80010"/>
                    <a:pt x="257811" y="62230"/>
                    <a:pt x="266701" y="26670"/>
                  </a:cubicBezTo>
                  <a:cubicBezTo>
                    <a:pt x="253366" y="44450"/>
                    <a:pt x="237808" y="51118"/>
                    <a:pt x="220028" y="46673"/>
                  </a:cubicBezTo>
                  <a:cubicBezTo>
                    <a:pt x="209882" y="44139"/>
                    <a:pt x="202637" y="36782"/>
                    <a:pt x="194603" y="28626"/>
                  </a:cubicBezTo>
                  <a:cubicBezTo>
                    <a:pt x="181534" y="15358"/>
                    <a:pt x="166410" y="0"/>
                    <a:pt x="133350" y="0"/>
                  </a:cubicBezTo>
                  <a:close/>
                  <a:moveTo>
                    <a:pt x="66675" y="80010"/>
                  </a:moveTo>
                  <a:cubicBezTo>
                    <a:pt x="31115" y="80010"/>
                    <a:pt x="8890" y="97790"/>
                    <a:pt x="0" y="133350"/>
                  </a:cubicBezTo>
                  <a:cubicBezTo>
                    <a:pt x="13335" y="115570"/>
                    <a:pt x="28893" y="108903"/>
                    <a:pt x="46673" y="113348"/>
                  </a:cubicBezTo>
                  <a:cubicBezTo>
                    <a:pt x="56818" y="115881"/>
                    <a:pt x="64064" y="123238"/>
                    <a:pt x="72098" y="131395"/>
                  </a:cubicBezTo>
                  <a:cubicBezTo>
                    <a:pt x="85178" y="144663"/>
                    <a:pt x="100302" y="160020"/>
                    <a:pt x="133350" y="160020"/>
                  </a:cubicBezTo>
                  <a:cubicBezTo>
                    <a:pt x="168910" y="160020"/>
                    <a:pt x="191136" y="142240"/>
                    <a:pt x="200026" y="106680"/>
                  </a:cubicBezTo>
                  <a:cubicBezTo>
                    <a:pt x="186691" y="124460"/>
                    <a:pt x="171133" y="131128"/>
                    <a:pt x="153353" y="126683"/>
                  </a:cubicBezTo>
                  <a:cubicBezTo>
                    <a:pt x="143207" y="124149"/>
                    <a:pt x="135962" y="116793"/>
                    <a:pt x="127927" y="108636"/>
                  </a:cubicBezTo>
                  <a:cubicBezTo>
                    <a:pt x="114859" y="95368"/>
                    <a:pt x="99735" y="80010"/>
                    <a:pt x="66675" y="80010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813799" y="1961851"/>
              <a:ext cx="222163" cy="267000"/>
            </a:xfrm>
            <a:custGeom>
              <a:avLst/>
              <a:gdLst/>
              <a:ahLst/>
              <a:cxnLst/>
              <a:rect l="l" t="t" r="r" b="b"/>
              <a:pathLst>
                <a:path w="222163" h="267000">
                  <a:moveTo>
                    <a:pt x="220229" y="203489"/>
                  </a:moveTo>
                  <a:lnTo>
                    <a:pt x="128506" y="8706"/>
                  </a:lnTo>
                  <a:cubicBezTo>
                    <a:pt x="126206" y="3836"/>
                    <a:pt x="121406" y="623"/>
                    <a:pt x="115965" y="326"/>
                  </a:cubicBezTo>
                  <a:cubicBezTo>
                    <a:pt x="110383" y="0"/>
                    <a:pt x="105382" y="2693"/>
                    <a:pt x="102561" y="7274"/>
                  </a:cubicBezTo>
                  <a:lnTo>
                    <a:pt x="3082" y="168399"/>
                  </a:lnTo>
                  <a:cubicBezTo>
                    <a:pt x="0" y="173420"/>
                    <a:pt x="61" y="179613"/>
                    <a:pt x="3257" y="184574"/>
                  </a:cubicBezTo>
                  <a:lnTo>
                    <a:pt x="51884" y="259901"/>
                  </a:lnTo>
                  <a:cubicBezTo>
                    <a:pt x="54783" y="264397"/>
                    <a:pt x="59804" y="267000"/>
                    <a:pt x="65023" y="267000"/>
                  </a:cubicBezTo>
                  <a:cubicBezTo>
                    <a:pt x="66503" y="267000"/>
                    <a:pt x="67990" y="266791"/>
                    <a:pt x="69453" y="266358"/>
                  </a:cubicBezTo>
                  <a:lnTo>
                    <a:pt x="210604" y="224611"/>
                  </a:lnTo>
                  <a:cubicBezTo>
                    <a:pt x="214927" y="223332"/>
                    <a:pt x="218462" y="220273"/>
                    <a:pt x="220313" y="216218"/>
                  </a:cubicBezTo>
                  <a:cubicBezTo>
                    <a:pt x="222163" y="212163"/>
                    <a:pt x="222127" y="207519"/>
                    <a:pt x="220229" y="203489"/>
                  </a:cubicBezTo>
                  <a:close/>
                  <a:moveTo>
                    <a:pt x="199692" y="211845"/>
                  </a:moveTo>
                  <a:lnTo>
                    <a:pt x="79929" y="247266"/>
                  </a:lnTo>
                  <a:cubicBezTo>
                    <a:pt x="76271" y="248350"/>
                    <a:pt x="72764" y="245185"/>
                    <a:pt x="73533" y="241494"/>
                  </a:cubicBezTo>
                  <a:lnTo>
                    <a:pt x="116317" y="36595"/>
                  </a:lnTo>
                  <a:cubicBezTo>
                    <a:pt x="117117" y="32763"/>
                    <a:pt x="122413" y="32154"/>
                    <a:pt x="124085" y="35702"/>
                  </a:cubicBezTo>
                  <a:lnTo>
                    <a:pt x="203304" y="203924"/>
                  </a:lnTo>
                  <a:cubicBezTo>
                    <a:pt x="204797" y="207098"/>
                    <a:pt x="203093" y="210840"/>
                    <a:pt x="199692" y="211845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138029" y="1956217"/>
              <a:ext cx="261153" cy="272636"/>
            </a:xfrm>
            <a:custGeom>
              <a:avLst/>
              <a:gdLst/>
              <a:ahLst/>
              <a:cxnLst/>
              <a:rect l="l" t="t" r="r" b="b"/>
              <a:pathLst>
                <a:path w="261153" h="272636">
                  <a:moveTo>
                    <a:pt x="258375" y="169541"/>
                  </a:moveTo>
                  <a:cubicBezTo>
                    <a:pt x="258223" y="169075"/>
                    <a:pt x="258013" y="168630"/>
                    <a:pt x="257750" y="168217"/>
                  </a:cubicBezTo>
                  <a:cubicBezTo>
                    <a:pt x="256205" y="165292"/>
                    <a:pt x="252451" y="164419"/>
                    <a:pt x="246555" y="165638"/>
                  </a:cubicBezTo>
                  <a:cubicBezTo>
                    <a:pt x="228183" y="169428"/>
                    <a:pt x="221068" y="167096"/>
                    <a:pt x="218489" y="165426"/>
                  </a:cubicBezTo>
                  <a:cubicBezTo>
                    <a:pt x="233402" y="142665"/>
                    <a:pt x="245659" y="115175"/>
                    <a:pt x="252283" y="89530"/>
                  </a:cubicBezTo>
                  <a:cubicBezTo>
                    <a:pt x="255299" y="77854"/>
                    <a:pt x="261153" y="50373"/>
                    <a:pt x="253641" y="36950"/>
                  </a:cubicBezTo>
                  <a:cubicBezTo>
                    <a:pt x="253161" y="36032"/>
                    <a:pt x="252600" y="35158"/>
                    <a:pt x="251964" y="34339"/>
                  </a:cubicBezTo>
                  <a:cubicBezTo>
                    <a:pt x="237636" y="16030"/>
                    <a:pt x="216607" y="6209"/>
                    <a:pt x="191150" y="5939"/>
                  </a:cubicBezTo>
                  <a:cubicBezTo>
                    <a:pt x="174540" y="5763"/>
                    <a:pt x="160363" y="9785"/>
                    <a:pt x="156522" y="11266"/>
                  </a:cubicBezTo>
                  <a:cubicBezTo>
                    <a:pt x="154620" y="10911"/>
                    <a:pt x="152708" y="10608"/>
                    <a:pt x="150789" y="10359"/>
                  </a:cubicBezTo>
                  <a:cubicBezTo>
                    <a:pt x="145979" y="9488"/>
                    <a:pt x="141105" y="9013"/>
                    <a:pt x="136216" y="8939"/>
                  </a:cubicBezTo>
                  <a:cubicBezTo>
                    <a:pt x="123079" y="8734"/>
                    <a:pt x="111727" y="11875"/>
                    <a:pt x="102325" y="18280"/>
                  </a:cubicBezTo>
                  <a:cubicBezTo>
                    <a:pt x="92799" y="14712"/>
                    <a:pt x="49110" y="0"/>
                    <a:pt x="22072" y="19156"/>
                  </a:cubicBezTo>
                  <a:cubicBezTo>
                    <a:pt x="6971" y="29854"/>
                    <a:pt x="0" y="48975"/>
                    <a:pt x="1351" y="75990"/>
                  </a:cubicBezTo>
                  <a:cubicBezTo>
                    <a:pt x="1806" y="85080"/>
                    <a:pt x="6984" y="113039"/>
                    <a:pt x="15156" y="139816"/>
                  </a:cubicBezTo>
                  <a:cubicBezTo>
                    <a:pt x="20266" y="156557"/>
                    <a:pt x="25588" y="169841"/>
                    <a:pt x="31085" y="179621"/>
                  </a:cubicBezTo>
                  <a:cubicBezTo>
                    <a:pt x="37230" y="190669"/>
                    <a:pt x="43597" y="197326"/>
                    <a:pt x="50135" y="199507"/>
                  </a:cubicBezTo>
                  <a:cubicBezTo>
                    <a:pt x="55107" y="201163"/>
                    <a:pt x="62722" y="201108"/>
                    <a:pt x="70783" y="191418"/>
                  </a:cubicBezTo>
                  <a:cubicBezTo>
                    <a:pt x="79687" y="180711"/>
                    <a:pt x="88456" y="171129"/>
                    <a:pt x="92393" y="166894"/>
                  </a:cubicBezTo>
                  <a:cubicBezTo>
                    <a:pt x="97228" y="169511"/>
                    <a:pt x="102465" y="170922"/>
                    <a:pt x="107839" y="171085"/>
                  </a:cubicBezTo>
                  <a:cubicBezTo>
                    <a:pt x="107840" y="171100"/>
                    <a:pt x="107842" y="171116"/>
                    <a:pt x="107844" y="171131"/>
                  </a:cubicBezTo>
                  <a:cubicBezTo>
                    <a:pt x="106908" y="172246"/>
                    <a:pt x="105992" y="173377"/>
                    <a:pt x="105097" y="174525"/>
                  </a:cubicBezTo>
                  <a:cubicBezTo>
                    <a:pt x="101331" y="179305"/>
                    <a:pt x="100547" y="180300"/>
                    <a:pt x="88426" y="182796"/>
                  </a:cubicBezTo>
                  <a:cubicBezTo>
                    <a:pt x="84979" y="183507"/>
                    <a:pt x="75820" y="185395"/>
                    <a:pt x="75686" y="191813"/>
                  </a:cubicBezTo>
                  <a:cubicBezTo>
                    <a:pt x="75659" y="193174"/>
                    <a:pt x="76052" y="194379"/>
                    <a:pt x="76708" y="195445"/>
                  </a:cubicBezTo>
                  <a:cubicBezTo>
                    <a:pt x="79229" y="200147"/>
                    <a:pt x="86949" y="202220"/>
                    <a:pt x="87987" y="202480"/>
                  </a:cubicBezTo>
                  <a:cubicBezTo>
                    <a:pt x="102816" y="206186"/>
                    <a:pt x="115817" y="203503"/>
                    <a:pt x="125452" y="194938"/>
                  </a:cubicBezTo>
                  <a:cubicBezTo>
                    <a:pt x="125263" y="219730"/>
                    <a:pt x="126313" y="244027"/>
                    <a:pt x="129290" y="251472"/>
                  </a:cubicBezTo>
                  <a:cubicBezTo>
                    <a:pt x="131748" y="257616"/>
                    <a:pt x="137755" y="272636"/>
                    <a:pt x="156729" y="272634"/>
                  </a:cubicBezTo>
                  <a:cubicBezTo>
                    <a:pt x="159513" y="272634"/>
                    <a:pt x="162577" y="272310"/>
                    <a:pt x="165948" y="271588"/>
                  </a:cubicBezTo>
                  <a:cubicBezTo>
                    <a:pt x="185749" y="267342"/>
                    <a:pt x="194348" y="258591"/>
                    <a:pt x="197674" y="239296"/>
                  </a:cubicBezTo>
                  <a:cubicBezTo>
                    <a:pt x="199344" y="229620"/>
                    <a:pt x="202137" y="207344"/>
                    <a:pt x="203662" y="193721"/>
                  </a:cubicBezTo>
                  <a:cubicBezTo>
                    <a:pt x="203849" y="192940"/>
                    <a:pt x="204058" y="192380"/>
                    <a:pt x="204295" y="192208"/>
                  </a:cubicBezTo>
                  <a:cubicBezTo>
                    <a:pt x="204303" y="192202"/>
                    <a:pt x="205070" y="191685"/>
                    <a:pt x="209042" y="192549"/>
                  </a:cubicBezTo>
                  <a:cubicBezTo>
                    <a:pt x="209205" y="192584"/>
                    <a:pt x="209369" y="192609"/>
                    <a:pt x="209535" y="192625"/>
                  </a:cubicBezTo>
                  <a:lnTo>
                    <a:pt x="212356" y="192872"/>
                  </a:lnTo>
                  <a:lnTo>
                    <a:pt x="212522" y="192884"/>
                  </a:lnTo>
                  <a:cubicBezTo>
                    <a:pt x="221932" y="193310"/>
                    <a:pt x="233762" y="191299"/>
                    <a:pt x="240650" y="188096"/>
                  </a:cubicBezTo>
                  <a:cubicBezTo>
                    <a:pt x="247804" y="184776"/>
                    <a:pt x="260716" y="176625"/>
                    <a:pt x="258375" y="169541"/>
                  </a:cubicBezTo>
                  <a:close/>
                  <a:moveTo>
                    <a:pt x="22918" y="137911"/>
                  </a:moveTo>
                  <a:cubicBezTo>
                    <a:pt x="14656" y="110843"/>
                    <a:pt x="9829" y="83625"/>
                    <a:pt x="9447" y="75993"/>
                  </a:cubicBezTo>
                  <a:cubicBezTo>
                    <a:pt x="8240" y="51863"/>
                    <a:pt x="14082" y="35067"/>
                    <a:pt x="26808" y="26068"/>
                  </a:cubicBezTo>
                  <a:cubicBezTo>
                    <a:pt x="47218" y="11637"/>
                    <a:pt x="80590" y="20058"/>
                    <a:pt x="94683" y="24623"/>
                  </a:cubicBezTo>
                  <a:cubicBezTo>
                    <a:pt x="94648" y="24659"/>
                    <a:pt x="94610" y="24691"/>
                    <a:pt x="94574" y="24728"/>
                  </a:cubicBezTo>
                  <a:cubicBezTo>
                    <a:pt x="72085" y="47442"/>
                    <a:pt x="72618" y="86247"/>
                    <a:pt x="72674" y="88619"/>
                  </a:cubicBezTo>
                  <a:cubicBezTo>
                    <a:pt x="72672" y="89534"/>
                    <a:pt x="72747" y="90829"/>
                    <a:pt x="72854" y="92612"/>
                  </a:cubicBezTo>
                  <a:cubicBezTo>
                    <a:pt x="73240" y="99138"/>
                    <a:pt x="73961" y="111285"/>
                    <a:pt x="72037" y="125043"/>
                  </a:cubicBezTo>
                  <a:cubicBezTo>
                    <a:pt x="70249" y="137827"/>
                    <a:pt x="74189" y="150339"/>
                    <a:pt x="82847" y="159371"/>
                  </a:cubicBezTo>
                  <a:cubicBezTo>
                    <a:pt x="83743" y="160306"/>
                    <a:pt x="84679" y="161184"/>
                    <a:pt x="85645" y="162010"/>
                  </a:cubicBezTo>
                  <a:cubicBezTo>
                    <a:pt x="81792" y="166137"/>
                    <a:pt x="73417" y="175262"/>
                    <a:pt x="64504" y="185986"/>
                  </a:cubicBezTo>
                  <a:cubicBezTo>
                    <a:pt x="58195" y="193570"/>
                    <a:pt x="53839" y="192117"/>
                    <a:pt x="52407" y="191639"/>
                  </a:cubicBezTo>
                  <a:cubicBezTo>
                    <a:pt x="48052" y="190187"/>
                    <a:pt x="43372" y="185115"/>
                    <a:pt x="38648" y="176945"/>
                  </a:cubicBezTo>
                  <a:cubicBezTo>
                    <a:pt x="33319" y="167621"/>
                    <a:pt x="27941" y="154368"/>
                    <a:pt x="22918" y="137911"/>
                  </a:cubicBezTo>
                  <a:close/>
                  <a:moveTo>
                    <a:pt x="89674" y="194442"/>
                  </a:moveTo>
                  <a:cubicBezTo>
                    <a:pt x="87772" y="193966"/>
                    <a:pt x="86039" y="193184"/>
                    <a:pt x="84871" y="192472"/>
                  </a:cubicBezTo>
                  <a:cubicBezTo>
                    <a:pt x="85859" y="192035"/>
                    <a:pt x="87509" y="191470"/>
                    <a:pt x="90242" y="190907"/>
                  </a:cubicBezTo>
                  <a:cubicBezTo>
                    <a:pt x="104502" y="187972"/>
                    <a:pt x="106705" y="185899"/>
                    <a:pt x="111514" y="179792"/>
                  </a:cubicBezTo>
                  <a:cubicBezTo>
                    <a:pt x="112617" y="178392"/>
                    <a:pt x="113866" y="176806"/>
                    <a:pt x="115596" y="174873"/>
                  </a:cubicBezTo>
                  <a:cubicBezTo>
                    <a:pt x="115968" y="174456"/>
                    <a:pt x="116247" y="173964"/>
                    <a:pt x="116415" y="173431"/>
                  </a:cubicBezTo>
                  <a:cubicBezTo>
                    <a:pt x="118313" y="171750"/>
                    <a:pt x="119442" y="172210"/>
                    <a:pt x="121270" y="172968"/>
                  </a:cubicBezTo>
                  <a:cubicBezTo>
                    <a:pt x="123004" y="173686"/>
                    <a:pt x="124690" y="175857"/>
                    <a:pt x="125376" y="178248"/>
                  </a:cubicBezTo>
                  <a:cubicBezTo>
                    <a:pt x="125699" y="179377"/>
                    <a:pt x="126064" y="181521"/>
                    <a:pt x="124874" y="183187"/>
                  </a:cubicBezTo>
                  <a:cubicBezTo>
                    <a:pt x="114825" y="197253"/>
                    <a:pt x="100186" y="197071"/>
                    <a:pt x="89674" y="194442"/>
                  </a:cubicBezTo>
                  <a:close/>
                  <a:moveTo>
                    <a:pt x="112943" y="150125"/>
                  </a:moveTo>
                  <a:lnTo>
                    <a:pt x="112360" y="151692"/>
                  </a:lnTo>
                  <a:cubicBezTo>
                    <a:pt x="110882" y="155654"/>
                    <a:pt x="109507" y="159338"/>
                    <a:pt x="108655" y="162837"/>
                  </a:cubicBezTo>
                  <a:cubicBezTo>
                    <a:pt x="101238" y="162814"/>
                    <a:pt x="94022" y="159646"/>
                    <a:pt x="88536" y="153921"/>
                  </a:cubicBezTo>
                  <a:cubicBezTo>
                    <a:pt x="81558" y="146641"/>
                    <a:pt x="78389" y="136514"/>
                    <a:pt x="79840" y="126135"/>
                  </a:cubicBezTo>
                  <a:cubicBezTo>
                    <a:pt x="81872" y="111601"/>
                    <a:pt x="81121" y="98945"/>
                    <a:pt x="80718" y="92146"/>
                  </a:cubicBezTo>
                  <a:cubicBezTo>
                    <a:pt x="80663" y="91194"/>
                    <a:pt x="80613" y="90360"/>
                    <a:pt x="80583" y="89703"/>
                  </a:cubicBezTo>
                  <a:cubicBezTo>
                    <a:pt x="83868" y="86790"/>
                    <a:pt x="99095" y="78632"/>
                    <a:pt x="109952" y="81119"/>
                  </a:cubicBezTo>
                  <a:cubicBezTo>
                    <a:pt x="114907" y="82255"/>
                    <a:pt x="117926" y="85628"/>
                    <a:pt x="119181" y="91432"/>
                  </a:cubicBezTo>
                  <a:cubicBezTo>
                    <a:pt x="125677" y="121478"/>
                    <a:pt x="120041" y="134000"/>
                    <a:pt x="115511" y="144064"/>
                  </a:cubicBezTo>
                  <a:cubicBezTo>
                    <a:pt x="114578" y="146138"/>
                    <a:pt x="113697" y="148097"/>
                    <a:pt x="112943" y="150125"/>
                  </a:cubicBezTo>
                  <a:close/>
                  <a:moveTo>
                    <a:pt x="194773" y="200937"/>
                  </a:moveTo>
                  <a:cubicBezTo>
                    <a:pt x="194585" y="202901"/>
                    <a:pt x="194375" y="205115"/>
                    <a:pt x="194086" y="207559"/>
                  </a:cubicBezTo>
                  <a:lnTo>
                    <a:pt x="192463" y="212429"/>
                  </a:lnTo>
                  <a:cubicBezTo>
                    <a:pt x="192335" y="212815"/>
                    <a:pt x="192266" y="213219"/>
                    <a:pt x="192261" y="213626"/>
                  </a:cubicBezTo>
                  <a:cubicBezTo>
                    <a:pt x="192196" y="218901"/>
                    <a:pt x="191661" y="220837"/>
                    <a:pt x="190983" y="223286"/>
                  </a:cubicBezTo>
                  <a:cubicBezTo>
                    <a:pt x="190279" y="225833"/>
                    <a:pt x="189480" y="228721"/>
                    <a:pt x="188990" y="235038"/>
                  </a:cubicBezTo>
                  <a:cubicBezTo>
                    <a:pt x="187767" y="250754"/>
                    <a:pt x="179231" y="259782"/>
                    <a:pt x="162129" y="263447"/>
                  </a:cubicBezTo>
                  <a:cubicBezTo>
                    <a:pt x="145287" y="267060"/>
                    <a:pt x="142300" y="257926"/>
                    <a:pt x="139668" y="249871"/>
                  </a:cubicBezTo>
                  <a:cubicBezTo>
                    <a:pt x="139398" y="249026"/>
                    <a:pt x="139113" y="248187"/>
                    <a:pt x="138813" y="247353"/>
                  </a:cubicBezTo>
                  <a:cubicBezTo>
                    <a:pt x="136420" y="240843"/>
                    <a:pt x="136690" y="231663"/>
                    <a:pt x="137064" y="218959"/>
                  </a:cubicBezTo>
                  <a:cubicBezTo>
                    <a:pt x="137248" y="212723"/>
                    <a:pt x="136787" y="197831"/>
                    <a:pt x="133395" y="189553"/>
                  </a:cubicBezTo>
                  <a:cubicBezTo>
                    <a:pt x="133444" y="186295"/>
                    <a:pt x="133513" y="182987"/>
                    <a:pt x="133606" y="179643"/>
                  </a:cubicBezTo>
                  <a:cubicBezTo>
                    <a:pt x="133617" y="179219"/>
                    <a:pt x="133560" y="178797"/>
                    <a:pt x="133436" y="178392"/>
                  </a:cubicBezTo>
                  <a:cubicBezTo>
                    <a:pt x="133328" y="177611"/>
                    <a:pt x="133165" y="176838"/>
                    <a:pt x="132948" y="176080"/>
                  </a:cubicBezTo>
                  <a:cubicBezTo>
                    <a:pt x="131586" y="171321"/>
                    <a:pt x="128266" y="167339"/>
                    <a:pt x="124284" y="165689"/>
                  </a:cubicBezTo>
                  <a:cubicBezTo>
                    <a:pt x="122701" y="165033"/>
                    <a:pt x="119796" y="163831"/>
                    <a:pt x="116307" y="164723"/>
                  </a:cubicBezTo>
                  <a:cubicBezTo>
                    <a:pt x="117052" y="161656"/>
                    <a:pt x="118342" y="158195"/>
                    <a:pt x="119741" y="154445"/>
                  </a:cubicBezTo>
                  <a:lnTo>
                    <a:pt x="120329" y="152867"/>
                  </a:lnTo>
                  <a:cubicBezTo>
                    <a:pt x="120990" y="151089"/>
                    <a:pt x="121818" y="149248"/>
                    <a:pt x="122696" y="147298"/>
                  </a:cubicBezTo>
                  <a:cubicBezTo>
                    <a:pt x="127435" y="136767"/>
                    <a:pt x="133926" y="122347"/>
                    <a:pt x="126881" y="89766"/>
                  </a:cubicBezTo>
                  <a:cubicBezTo>
                    <a:pt x="124243" y="77563"/>
                    <a:pt x="115430" y="71605"/>
                    <a:pt x="102073" y="72988"/>
                  </a:cubicBezTo>
                  <a:cubicBezTo>
                    <a:pt x="94064" y="73817"/>
                    <a:pt x="86739" y="77049"/>
                    <a:pt x="83084" y="78901"/>
                  </a:cubicBezTo>
                  <a:cubicBezTo>
                    <a:pt x="82351" y="79273"/>
                    <a:pt x="81626" y="79658"/>
                    <a:pt x="80908" y="80058"/>
                  </a:cubicBezTo>
                  <a:cubicBezTo>
                    <a:pt x="81928" y="67763"/>
                    <a:pt x="85782" y="44786"/>
                    <a:pt x="100196" y="30248"/>
                  </a:cubicBezTo>
                  <a:cubicBezTo>
                    <a:pt x="101267" y="29169"/>
                    <a:pt x="102392" y="28146"/>
                    <a:pt x="103567" y="27181"/>
                  </a:cubicBezTo>
                  <a:cubicBezTo>
                    <a:pt x="104150" y="27068"/>
                    <a:pt x="104700" y="26823"/>
                    <a:pt x="105175" y="26466"/>
                  </a:cubicBezTo>
                  <a:cubicBezTo>
                    <a:pt x="113536" y="20125"/>
                    <a:pt x="124005" y="17013"/>
                    <a:pt x="136312" y="17214"/>
                  </a:cubicBezTo>
                  <a:cubicBezTo>
                    <a:pt x="140858" y="17289"/>
                    <a:pt x="145221" y="17591"/>
                    <a:pt x="149360" y="18115"/>
                  </a:cubicBezTo>
                  <a:cubicBezTo>
                    <a:pt x="170907" y="22053"/>
                    <a:pt x="185408" y="34192"/>
                    <a:pt x="194209" y="44592"/>
                  </a:cubicBezTo>
                  <a:cubicBezTo>
                    <a:pt x="203258" y="55286"/>
                    <a:pt x="208158" y="66056"/>
                    <a:pt x="210114" y="71866"/>
                  </a:cubicBezTo>
                  <a:cubicBezTo>
                    <a:pt x="195409" y="70370"/>
                    <a:pt x="185406" y="73275"/>
                    <a:pt x="180335" y="80523"/>
                  </a:cubicBezTo>
                  <a:cubicBezTo>
                    <a:pt x="169305" y="96290"/>
                    <a:pt x="186369" y="126894"/>
                    <a:pt x="194572" y="141601"/>
                  </a:cubicBezTo>
                  <a:cubicBezTo>
                    <a:pt x="196075" y="144297"/>
                    <a:pt x="197374" y="146627"/>
                    <a:pt x="197782" y="147617"/>
                  </a:cubicBezTo>
                  <a:cubicBezTo>
                    <a:pt x="200452" y="154090"/>
                    <a:pt x="203911" y="158410"/>
                    <a:pt x="206435" y="161565"/>
                  </a:cubicBezTo>
                  <a:cubicBezTo>
                    <a:pt x="207209" y="162532"/>
                    <a:pt x="207960" y="163470"/>
                    <a:pt x="208530" y="164288"/>
                  </a:cubicBezTo>
                  <a:cubicBezTo>
                    <a:pt x="204076" y="165571"/>
                    <a:pt x="196075" y="168538"/>
                    <a:pt x="196804" y="183368"/>
                  </a:cubicBezTo>
                  <a:cubicBezTo>
                    <a:pt x="196667" y="185105"/>
                    <a:pt x="196334" y="188334"/>
                    <a:pt x="195877" y="192422"/>
                  </a:cubicBezTo>
                  <a:cubicBezTo>
                    <a:pt x="195365" y="194730"/>
                    <a:pt x="195097" y="197537"/>
                    <a:pt x="194773" y="200937"/>
                  </a:cubicBezTo>
                  <a:close/>
                  <a:moveTo>
                    <a:pt x="204668" y="182922"/>
                  </a:moveTo>
                  <a:cubicBezTo>
                    <a:pt x="204218" y="173681"/>
                    <a:pt x="207659" y="172715"/>
                    <a:pt x="211299" y="171693"/>
                  </a:cubicBezTo>
                  <a:cubicBezTo>
                    <a:pt x="211803" y="171555"/>
                    <a:pt x="212303" y="171405"/>
                    <a:pt x="212799" y="171242"/>
                  </a:cubicBezTo>
                  <a:cubicBezTo>
                    <a:pt x="213269" y="171658"/>
                    <a:pt x="213767" y="172040"/>
                    <a:pt x="214291" y="172386"/>
                  </a:cubicBezTo>
                  <a:cubicBezTo>
                    <a:pt x="220628" y="176570"/>
                    <a:pt x="231874" y="177068"/>
                    <a:pt x="247704" y="173880"/>
                  </a:cubicBezTo>
                  <a:cubicBezTo>
                    <a:pt x="245464" y="175846"/>
                    <a:pt x="241938" y="178318"/>
                    <a:pt x="237110" y="180560"/>
                  </a:cubicBezTo>
                  <a:cubicBezTo>
                    <a:pt x="232556" y="182674"/>
                    <a:pt x="224934" y="184260"/>
                    <a:pt x="217693" y="184600"/>
                  </a:cubicBezTo>
                  <a:cubicBezTo>
                    <a:pt x="209696" y="184974"/>
                    <a:pt x="205626" y="183703"/>
                    <a:pt x="204668" y="182922"/>
                  </a:cubicBezTo>
                  <a:close/>
                  <a:moveTo>
                    <a:pt x="210997" y="79896"/>
                  </a:moveTo>
                  <a:cubicBezTo>
                    <a:pt x="210931" y="83794"/>
                    <a:pt x="210395" y="87332"/>
                    <a:pt x="209826" y="91027"/>
                  </a:cubicBezTo>
                  <a:cubicBezTo>
                    <a:pt x="209215" y="95001"/>
                    <a:pt x="208581" y="99110"/>
                    <a:pt x="208421" y="104098"/>
                  </a:cubicBezTo>
                  <a:cubicBezTo>
                    <a:pt x="208263" y="108952"/>
                    <a:pt x="208870" y="113998"/>
                    <a:pt x="209457" y="118879"/>
                  </a:cubicBezTo>
                  <a:cubicBezTo>
                    <a:pt x="210641" y="128735"/>
                    <a:pt x="211857" y="138884"/>
                    <a:pt x="207151" y="148898"/>
                  </a:cubicBezTo>
                  <a:cubicBezTo>
                    <a:pt x="206370" y="147513"/>
                    <a:pt x="205674" y="146082"/>
                    <a:pt x="205066" y="144613"/>
                  </a:cubicBezTo>
                  <a:cubicBezTo>
                    <a:pt x="204481" y="143195"/>
                    <a:pt x="203212" y="140917"/>
                    <a:pt x="201454" y="137765"/>
                  </a:cubicBezTo>
                  <a:cubicBezTo>
                    <a:pt x="194613" y="125496"/>
                    <a:pt x="178591" y="96765"/>
                    <a:pt x="186793" y="85041"/>
                  </a:cubicBezTo>
                  <a:cubicBezTo>
                    <a:pt x="191010" y="79010"/>
                    <a:pt x="201692" y="78750"/>
                    <a:pt x="210997" y="79896"/>
                  </a:cubicBezTo>
                  <a:close/>
                  <a:moveTo>
                    <a:pt x="213535" y="157836"/>
                  </a:moveTo>
                  <a:cubicBezTo>
                    <a:pt x="213221" y="157436"/>
                    <a:pt x="212905" y="157038"/>
                    <a:pt x="212587" y="156642"/>
                  </a:cubicBezTo>
                  <a:lnTo>
                    <a:pt x="212193" y="156149"/>
                  </a:lnTo>
                  <a:cubicBezTo>
                    <a:pt x="220263" y="142819"/>
                    <a:pt x="218685" y="129632"/>
                    <a:pt x="217280" y="117938"/>
                  </a:cubicBezTo>
                  <a:cubicBezTo>
                    <a:pt x="216703" y="113140"/>
                    <a:pt x="216159" y="108608"/>
                    <a:pt x="216297" y="104352"/>
                  </a:cubicBezTo>
                  <a:cubicBezTo>
                    <a:pt x="216440" y="99839"/>
                    <a:pt x="217037" y="95970"/>
                    <a:pt x="217613" y="92227"/>
                  </a:cubicBezTo>
                  <a:cubicBezTo>
                    <a:pt x="218323" y="87616"/>
                    <a:pt x="219045" y="82845"/>
                    <a:pt x="218846" y="77220"/>
                  </a:cubicBezTo>
                  <a:cubicBezTo>
                    <a:pt x="218995" y="76630"/>
                    <a:pt x="219055" y="75933"/>
                    <a:pt x="218977" y="75106"/>
                  </a:cubicBezTo>
                  <a:cubicBezTo>
                    <a:pt x="218469" y="69711"/>
                    <a:pt x="212310" y="53570"/>
                    <a:pt x="199759" y="38957"/>
                  </a:cubicBezTo>
                  <a:cubicBezTo>
                    <a:pt x="193007" y="31097"/>
                    <a:pt x="183206" y="22320"/>
                    <a:pt x="169878" y="16293"/>
                  </a:cubicBezTo>
                  <a:cubicBezTo>
                    <a:pt x="175714" y="15109"/>
                    <a:pt x="183578" y="14032"/>
                    <a:pt x="192375" y="14227"/>
                  </a:cubicBezTo>
                  <a:cubicBezTo>
                    <a:pt x="215172" y="14734"/>
                    <a:pt x="233209" y="23267"/>
                    <a:pt x="245984" y="39591"/>
                  </a:cubicBezTo>
                  <a:cubicBezTo>
                    <a:pt x="246255" y="39945"/>
                    <a:pt x="246503" y="40317"/>
                    <a:pt x="246725" y="40704"/>
                  </a:cubicBezTo>
                  <a:cubicBezTo>
                    <a:pt x="254760" y="55768"/>
                    <a:pt x="243656" y="110436"/>
                    <a:pt x="213535" y="157836"/>
                  </a:cubicBezTo>
                  <a:close/>
                  <a:moveTo>
                    <a:pt x="115560" y="89869"/>
                  </a:moveTo>
                  <a:cubicBezTo>
                    <a:pt x="115283" y="91863"/>
                    <a:pt x="112128" y="94564"/>
                    <a:pt x="108658" y="94564"/>
                  </a:cubicBezTo>
                  <a:cubicBezTo>
                    <a:pt x="108358" y="94564"/>
                    <a:pt x="108057" y="94544"/>
                    <a:pt x="107759" y="94502"/>
                  </a:cubicBezTo>
                  <a:cubicBezTo>
                    <a:pt x="105678" y="94213"/>
                    <a:pt x="103575" y="92902"/>
                    <a:pt x="102138" y="90995"/>
                  </a:cubicBezTo>
                  <a:cubicBezTo>
                    <a:pt x="101629" y="90323"/>
                    <a:pt x="100801" y="89017"/>
                    <a:pt x="100965" y="87835"/>
                  </a:cubicBezTo>
                  <a:cubicBezTo>
                    <a:pt x="101026" y="87389"/>
                    <a:pt x="101255" y="86740"/>
                    <a:pt x="101993" y="86181"/>
                  </a:cubicBezTo>
                  <a:cubicBezTo>
                    <a:pt x="103307" y="85188"/>
                    <a:pt x="105902" y="84819"/>
                    <a:pt x="108767" y="85218"/>
                  </a:cubicBezTo>
                  <a:cubicBezTo>
                    <a:pt x="112282" y="85708"/>
                    <a:pt x="115908" y="87371"/>
                    <a:pt x="115560" y="89869"/>
                  </a:cubicBezTo>
                  <a:close/>
                  <a:moveTo>
                    <a:pt x="203688" y="85298"/>
                  </a:moveTo>
                  <a:cubicBezTo>
                    <a:pt x="203812" y="86178"/>
                    <a:pt x="203144" y="87531"/>
                    <a:pt x="201987" y="88745"/>
                  </a:cubicBezTo>
                  <a:cubicBezTo>
                    <a:pt x="201228" y="89541"/>
                    <a:pt x="199631" y="90924"/>
                    <a:pt x="197454" y="91225"/>
                  </a:cubicBezTo>
                  <a:cubicBezTo>
                    <a:pt x="197178" y="91263"/>
                    <a:pt x="196900" y="91283"/>
                    <a:pt x="196621" y="91283"/>
                  </a:cubicBezTo>
                  <a:cubicBezTo>
                    <a:pt x="193359" y="91283"/>
                    <a:pt x="190604" y="88678"/>
                    <a:pt x="190390" y="87152"/>
                  </a:cubicBezTo>
                  <a:cubicBezTo>
                    <a:pt x="190123" y="85191"/>
                    <a:pt x="193325" y="83701"/>
                    <a:pt x="196625" y="83241"/>
                  </a:cubicBezTo>
                  <a:cubicBezTo>
                    <a:pt x="199926" y="82781"/>
                    <a:pt x="203416" y="83338"/>
                    <a:pt x="203688" y="85298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grpSp>
          <p:nvGrpSpPr>
            <p:cNvPr id="38" name="baru-item-1"/>
            <p:cNvGrpSpPr/>
            <p:nvPr/>
          </p:nvGrpSpPr>
          <p:grpSpPr>
            <a:xfrm>
              <a:off x="6457950" y="2600325"/>
              <a:ext cx="3369707" cy="293370"/>
              <a:chOff x="6457950" y="2600325"/>
              <a:chExt cx="3369707" cy="29337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6457950" y="2667000"/>
                <a:ext cx="76200" cy="76200"/>
              </a:xfrm>
              <a:prstGeom prst="ellipse">
                <a:avLst/>
              </a:pr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97980" y="2600325"/>
                <a:ext cx="312967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Next.js 16 + React 19 (App Router)</a:t>
                </a:r>
              </a:p>
            </p:txBody>
          </p:sp>
        </p:grpSp>
        <p:grpSp>
          <p:nvGrpSpPr>
            <p:cNvPr id="41" name="baru-item-2"/>
            <p:cNvGrpSpPr/>
            <p:nvPr/>
          </p:nvGrpSpPr>
          <p:grpSpPr>
            <a:xfrm>
              <a:off x="6457950" y="3171825"/>
              <a:ext cx="2453405" cy="293370"/>
              <a:chOff x="6457950" y="3171825"/>
              <a:chExt cx="2453405" cy="29337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6457950" y="3238500"/>
                <a:ext cx="76200" cy="76200"/>
              </a:xfrm>
              <a:prstGeom prst="ellipse">
                <a:avLst/>
              </a:pr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697980" y="3171825"/>
                <a:ext cx="22133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TypeScript + Tailwind v4</a:t>
                </a:r>
              </a:p>
            </p:txBody>
          </p:sp>
        </p:grpSp>
        <p:grpSp>
          <p:nvGrpSpPr>
            <p:cNvPr id="44" name="baru-item-3"/>
            <p:cNvGrpSpPr/>
            <p:nvPr/>
          </p:nvGrpSpPr>
          <p:grpSpPr>
            <a:xfrm>
              <a:off x="6457950" y="3743325"/>
              <a:ext cx="3289210" cy="293370"/>
              <a:chOff x="6457950" y="3743325"/>
              <a:chExt cx="3289210" cy="29337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457950" y="3810000"/>
                <a:ext cx="76200" cy="76200"/>
              </a:xfrm>
              <a:prstGeom prst="ellipse">
                <a:avLst/>
              </a:pr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97980" y="3743325"/>
                <a:ext cx="30491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Validasi Zod di setiap respons API</a:t>
                </a:r>
              </a:p>
            </p:txBody>
          </p:sp>
        </p:grpSp>
        <p:grpSp>
          <p:nvGrpSpPr>
            <p:cNvPr id="47" name="baru-item-4"/>
            <p:cNvGrpSpPr/>
            <p:nvPr/>
          </p:nvGrpSpPr>
          <p:grpSpPr>
            <a:xfrm>
              <a:off x="6457950" y="4314825"/>
              <a:ext cx="2333695" cy="293370"/>
              <a:chOff x="6457950" y="4314825"/>
              <a:chExt cx="2333695" cy="293370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6457950" y="4381500"/>
                <a:ext cx="76200" cy="76200"/>
              </a:xfrm>
              <a:prstGeom prst="ellipse">
                <a:avLst/>
              </a:pr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697980" y="4314825"/>
                <a:ext cx="20936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Prisma 6 + PostgreSQL</a:t>
                </a:r>
              </a:p>
            </p:txBody>
          </p:sp>
        </p:grpSp>
        <p:grpSp>
          <p:nvGrpSpPr>
            <p:cNvPr id="50" name="baru-item-5"/>
            <p:cNvGrpSpPr/>
            <p:nvPr/>
          </p:nvGrpSpPr>
          <p:grpSpPr>
            <a:xfrm>
              <a:off x="6457950" y="4886325"/>
              <a:ext cx="3164710" cy="293370"/>
              <a:chOff x="6457950" y="4886325"/>
              <a:chExt cx="3164710" cy="293370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6457950" y="4953000"/>
                <a:ext cx="76200" cy="76200"/>
              </a:xfrm>
              <a:prstGeom prst="ellipse">
                <a:avLst/>
              </a:pr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697980" y="4886325"/>
                <a:ext cx="2924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Panel admin Auth.js (terproteksi)</a:t>
                </a:r>
              </a:p>
            </p:txBody>
          </p:sp>
        </p:grpSp>
        <p:grpSp>
          <p:nvGrpSpPr>
            <p:cNvPr id="53" name="baru-item-6"/>
            <p:cNvGrpSpPr/>
            <p:nvPr/>
          </p:nvGrpSpPr>
          <p:grpSpPr>
            <a:xfrm>
              <a:off x="6457950" y="5457825"/>
              <a:ext cx="3282201" cy="293370"/>
              <a:chOff x="6457950" y="5457825"/>
              <a:chExt cx="3282201" cy="29337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6457950" y="5524500"/>
                <a:ext cx="76200" cy="76200"/>
              </a:xfrm>
              <a:prstGeom prst="ellipse">
                <a:avLst/>
              </a:pr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697980" y="5457825"/>
                <a:ext cx="30421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178 tes otomatis, cakupan 98,89%</a:t>
                </a:r>
              </a:p>
            </p:txBody>
          </p:sp>
        </p:grpSp>
      </p:grpSp>
      <p:grpSp>
        <p:nvGrpSpPr>
          <p:cNvPr id="58" name="footer"/>
          <p:cNvGrpSpPr/>
          <p:nvPr/>
        </p:nvGrpSpPr>
        <p:grpSpPr>
          <a:xfrm>
            <a:off x="756285" y="6286500"/>
            <a:ext cx="10679430" cy="365284"/>
            <a:chOff x="756285" y="6286500"/>
            <a:chExt cx="10679430" cy="365284"/>
          </a:xfrm>
        </p:grpSpPr>
        <p:sp>
          <p:nvSpPr>
            <p:cNvPr id="55" name="Line 55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6285" y="6431756"/>
              <a:ext cx="4586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Diperiksa dari package.json, prisma/schema.prisma, dan struktur rute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61720" y="643175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8242833" cy="944023"/>
            <a:chOff x="745236" y="602456"/>
            <a:chExt cx="8242833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861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PERFORMA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824283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Web Baru 3,5× Lebih Cepat Merespons</a:t>
              </a:r>
            </a:p>
          </p:txBody>
        </p:sp>
      </p:grpSp>
      <p:grpSp>
        <p:nvGrpSpPr>
          <p:cNvPr id="33" name="chart-performa"/>
          <p:cNvGrpSpPr/>
          <p:nvPr/>
        </p:nvGrpSpPr>
        <p:grpSpPr>
          <a:xfrm>
            <a:off x="762000" y="1714500"/>
            <a:ext cx="8382000" cy="4346734"/>
            <a:chOff x="762000" y="1714500"/>
            <a:chExt cx="8382000" cy="4346734"/>
          </a:xfrm>
        </p:grpSpPr>
        <p:sp>
          <p:nvSpPr>
            <p:cNvPr id="5" name="Rectangle 5"/>
            <p:cNvSpPr/>
            <p:nvPr/>
          </p:nvSpPr>
          <p:spPr>
            <a:xfrm>
              <a:off x="762000" y="1714500"/>
              <a:ext cx="8382000" cy="4343400"/>
            </a:xfrm>
            <a:prstGeom prst="roundRect">
              <a:avLst>
                <a:gd name="adj" fmla="val 3509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20" name="performa-bars-chartArea"/>
            <p:cNvGrpSpPr/>
            <p:nvPr/>
          </p:nvGrpSpPr>
          <p:grpSpPr>
            <a:xfrm>
              <a:off x="1560188" y="2164556"/>
              <a:ext cx="7208527" cy="3325178"/>
              <a:chOff x="1560188" y="2164556"/>
              <a:chExt cx="7208527" cy="3325178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1905000" y="5334000"/>
                <a:ext cx="685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9525">
                    <a:moveTo>
                      <a:pt x="0" y="0"/>
                    </a:moveTo>
                    <a:lnTo>
                      <a:pt x="6858000" y="0"/>
                    </a:lnTo>
                  </a:path>
                </a:pathLst>
              </a:custGeom>
              <a:noFill/>
              <a:ln w="14288">
                <a:solidFill>
                  <a:srgbClr val="3B4E6B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1905000" y="4381500"/>
                <a:ext cx="685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9525">
                    <a:moveTo>
                      <a:pt x="0" y="0"/>
                    </a:moveTo>
                    <a:lnTo>
                      <a:pt x="6858000" y="0"/>
                    </a:lnTo>
                  </a:path>
                </a:pathLst>
              </a:custGeom>
              <a:noFill/>
              <a:ln w="9525">
                <a:solidFill>
                  <a:srgbClr val="23344F"/>
                </a:solidFill>
                <a:prstDash val="dash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905000" y="3429000"/>
                <a:ext cx="685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9525">
                    <a:moveTo>
                      <a:pt x="0" y="0"/>
                    </a:moveTo>
                    <a:lnTo>
                      <a:pt x="6858000" y="0"/>
                    </a:lnTo>
                  </a:path>
                </a:pathLst>
              </a:custGeom>
              <a:noFill/>
              <a:ln w="9525">
                <a:solidFill>
                  <a:srgbClr val="23344F"/>
                </a:solidFill>
                <a:prstDash val="dash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905000" y="2476500"/>
                <a:ext cx="685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9525">
                    <a:moveTo>
                      <a:pt x="0" y="0"/>
                    </a:moveTo>
                    <a:lnTo>
                      <a:pt x="6858000" y="0"/>
                    </a:lnTo>
                  </a:path>
                </a:pathLst>
              </a:custGeom>
              <a:noFill/>
              <a:ln w="9525">
                <a:solidFill>
                  <a:srgbClr val="23344F"/>
                </a:solidFill>
                <a:prstDash val="dash"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905000" y="2419350"/>
                <a:ext cx="9525" cy="2914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14650">
                    <a:moveTo>
                      <a:pt x="0" y="0"/>
                    </a:moveTo>
                    <a:lnTo>
                      <a:pt x="0" y="2914650"/>
                    </a:lnTo>
                  </a:path>
                </a:pathLst>
              </a:custGeom>
              <a:noFill/>
              <a:ln w="14288">
                <a:solidFill>
                  <a:srgbClr val="3B4E6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722753" y="5269706"/>
                <a:ext cx="927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id-ID" sz="1120" dirty="0">
                    <a:solidFill>
                      <a:srgbClr val="7C8DA6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60188" y="4317206"/>
                <a:ext cx="2552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id-ID" sz="1120" dirty="0">
                    <a:solidFill>
                      <a:srgbClr val="7C8DA6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60188" y="3364706"/>
                <a:ext cx="2552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id-ID" sz="1120" dirty="0">
                    <a:solidFill>
                      <a:srgbClr val="7C8DA6"/>
                    </a:solidFill>
                    <a:latin typeface="+mn-lt"/>
                    <a:ea typeface="+mn-ea"/>
                    <a:cs typeface="+mn-cs"/>
                  </a:rPr>
                  <a:t>200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60188" y="2412206"/>
                <a:ext cx="2552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id-ID" sz="1120" dirty="0">
                    <a:solidFill>
                      <a:srgbClr val="7C8DA6"/>
                    </a:solidFill>
                    <a:latin typeface="+mn-lt"/>
                    <a:ea typeface="+mn-ea"/>
                    <a:cs typeface="+mn-cs"/>
                  </a:rPr>
                  <a:t>300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61519" y="2164556"/>
                <a:ext cx="9071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id-ID" sz="1120" dirty="0">
                    <a:solidFill>
                      <a:srgbClr val="7C8DA6"/>
                    </a:solidFill>
                    <a:latin typeface="+mn-lt"/>
                    <a:ea typeface="+mn-ea"/>
                    <a:cs typeface="+mn-cs"/>
                  </a:rPr>
                  <a:t>milidetik (ms)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2381250" y="2714625"/>
                <a:ext cx="952500" cy="2619375"/>
              </a:xfrm>
              <a:prstGeom prst="roundRect">
                <a:avLst>
                  <a:gd name="adj" fmla="val 6000"/>
                </a:avLst>
              </a:prstGeom>
              <a:solidFill>
                <a:srgbClr val="475569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524250" y="4581525"/>
                <a:ext cx="952500" cy="752475"/>
              </a:xfrm>
              <a:prstGeom prst="roundRect">
                <a:avLst>
                  <a:gd name="adj" fmla="val 7595"/>
                </a:avLst>
              </a:prstGeom>
              <a:gradFill>
                <a:gsLst>
                  <a:gs pos="0">
                    <a:srgbClr val="22D3EE"/>
                  </a:gs>
                  <a:gs pos="100000">
                    <a:srgbClr val="0E7490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334000" y="2714625"/>
                <a:ext cx="952500" cy="2619375"/>
              </a:xfrm>
              <a:prstGeom prst="roundRect">
                <a:avLst>
                  <a:gd name="adj" fmla="val 6000"/>
                </a:avLst>
              </a:prstGeom>
              <a:solidFill>
                <a:srgbClr val="475569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477000" y="4562475"/>
                <a:ext cx="952500" cy="771525"/>
              </a:xfrm>
              <a:prstGeom prst="roundRect">
                <a:avLst>
                  <a:gd name="adj" fmla="val 7407"/>
                </a:avLst>
              </a:prstGeom>
              <a:gradFill>
                <a:gsLst>
                  <a:gs pos="0">
                    <a:srgbClr val="22D3EE"/>
                  </a:gs>
                  <a:gs pos="100000">
                    <a:srgbClr val="0E7490"/>
                  </a:gs>
                </a:gsLst>
                <a:lin ang="5400000" scaled="1"/>
              </a:gra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2702351" y="2453164"/>
              <a:ext cx="3102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2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275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4908" y="4320064"/>
              <a:ext cx="211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28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55101" y="2453164"/>
              <a:ext cx="3102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2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275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47658" y="4301014"/>
              <a:ext cx="211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28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86160" y="5561171"/>
              <a:ext cx="485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420" b="1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TTFB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62982" y="5841206"/>
              <a:ext cx="1532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waktu ke byte pertama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77182" y="5561171"/>
              <a:ext cx="1609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420" b="1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Waktu muat total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95413" y="5841206"/>
              <a:ext cx="15726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dokumen HTML selesai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905000" y="21717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47556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46935" y="2183606"/>
              <a:ext cx="68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Web lama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143250" y="21717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85185" y="2183606"/>
              <a:ext cx="669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Web baru</a:t>
              </a:r>
            </a:p>
          </p:txBody>
        </p:sp>
      </p:grpSp>
      <p:grpSp>
        <p:nvGrpSpPr>
          <p:cNvPr id="39" name="callout-speed"/>
          <p:cNvGrpSpPr/>
          <p:nvPr/>
        </p:nvGrpSpPr>
        <p:grpSpPr>
          <a:xfrm>
            <a:off x="9296400" y="1714500"/>
            <a:ext cx="2133600" cy="1866900"/>
            <a:chOff x="9296400" y="1714500"/>
            <a:chExt cx="2133600" cy="1866900"/>
          </a:xfrm>
        </p:grpSpPr>
        <p:sp>
          <p:nvSpPr>
            <p:cNvPr id="34" name="Rectangle 34"/>
            <p:cNvSpPr/>
            <p:nvPr/>
          </p:nvSpPr>
          <p:spPr>
            <a:xfrm>
              <a:off x="9296400" y="1714500"/>
              <a:ext cx="2133600" cy="1866900"/>
            </a:xfrm>
            <a:prstGeom prst="roundRect">
              <a:avLst>
                <a:gd name="adj" fmla="val 8163"/>
              </a:avLst>
            </a:prstGeom>
            <a:solidFill>
              <a:srgbClr val="22D3EE">
                <a:alpha val="8000"/>
              </a:srgbClr>
            </a:solidFill>
            <a:ln w="14288">
              <a:solidFill>
                <a:srgbClr val="22D3EE">
                  <a:alpha val="40000"/>
                </a:srgbClr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584642" y="1992312"/>
              <a:ext cx="242665" cy="307219"/>
            </a:xfrm>
            <a:custGeom>
              <a:avLst/>
              <a:gdLst/>
              <a:ahLst/>
              <a:cxnLst/>
              <a:rect l="l" t="t" r="r" b="b"/>
              <a:pathLst>
                <a:path w="242665" h="307219">
                  <a:moveTo>
                    <a:pt x="136414" y="0"/>
                  </a:moveTo>
                  <a:lnTo>
                    <a:pt x="136685" y="15"/>
                  </a:lnTo>
                  <a:lnTo>
                    <a:pt x="136927" y="30"/>
                  </a:lnTo>
                  <a:lnTo>
                    <a:pt x="138178" y="106"/>
                  </a:lnTo>
                  <a:lnTo>
                    <a:pt x="138344" y="136"/>
                  </a:lnTo>
                  <a:lnTo>
                    <a:pt x="138510" y="136"/>
                  </a:lnTo>
                  <a:lnTo>
                    <a:pt x="139083" y="271"/>
                  </a:lnTo>
                  <a:lnTo>
                    <a:pt x="139867" y="392"/>
                  </a:lnTo>
                  <a:lnTo>
                    <a:pt x="140109" y="483"/>
                  </a:lnTo>
                  <a:lnTo>
                    <a:pt x="140275" y="498"/>
                  </a:lnTo>
                  <a:lnTo>
                    <a:pt x="140712" y="664"/>
                  </a:lnTo>
                  <a:lnTo>
                    <a:pt x="141496" y="875"/>
                  </a:lnTo>
                  <a:lnTo>
                    <a:pt x="141783" y="1010"/>
                  </a:lnTo>
                  <a:lnTo>
                    <a:pt x="142009" y="1071"/>
                  </a:lnTo>
                  <a:lnTo>
                    <a:pt x="142431" y="1282"/>
                  </a:lnTo>
                  <a:lnTo>
                    <a:pt x="143034" y="1538"/>
                  </a:lnTo>
                  <a:lnTo>
                    <a:pt x="143351" y="1719"/>
                  </a:lnTo>
                  <a:lnTo>
                    <a:pt x="143683" y="1870"/>
                  </a:lnTo>
                  <a:lnTo>
                    <a:pt x="144030" y="2096"/>
                  </a:lnTo>
                  <a:lnTo>
                    <a:pt x="144497" y="2353"/>
                  </a:lnTo>
                  <a:lnTo>
                    <a:pt x="145010" y="2715"/>
                  </a:lnTo>
                  <a:lnTo>
                    <a:pt x="145282" y="2881"/>
                  </a:lnTo>
                  <a:lnTo>
                    <a:pt x="145478" y="3061"/>
                  </a:lnTo>
                  <a:lnTo>
                    <a:pt x="145840" y="3318"/>
                  </a:lnTo>
                  <a:lnTo>
                    <a:pt x="146413" y="3831"/>
                  </a:lnTo>
                  <a:lnTo>
                    <a:pt x="146744" y="4087"/>
                  </a:lnTo>
                  <a:lnTo>
                    <a:pt x="146865" y="4238"/>
                  </a:lnTo>
                  <a:lnTo>
                    <a:pt x="147076" y="4419"/>
                  </a:lnTo>
                  <a:lnTo>
                    <a:pt x="147619" y="5037"/>
                  </a:lnTo>
                  <a:lnTo>
                    <a:pt x="148011" y="5444"/>
                  </a:lnTo>
                  <a:lnTo>
                    <a:pt x="148102" y="5580"/>
                  </a:lnTo>
                  <a:cubicBezTo>
                    <a:pt x="149911" y="7797"/>
                    <a:pt x="151058" y="10436"/>
                    <a:pt x="151389" y="13317"/>
                  </a:cubicBezTo>
                  <a:lnTo>
                    <a:pt x="151405" y="13498"/>
                  </a:lnTo>
                  <a:lnTo>
                    <a:pt x="151435" y="14116"/>
                  </a:lnTo>
                  <a:lnTo>
                    <a:pt x="151495" y="15081"/>
                  </a:lnTo>
                  <a:lnTo>
                    <a:pt x="151495" y="105569"/>
                  </a:lnTo>
                  <a:lnTo>
                    <a:pt x="226901" y="105569"/>
                  </a:lnTo>
                  <a:cubicBezTo>
                    <a:pt x="232280" y="105567"/>
                    <a:pt x="237253" y="108431"/>
                    <a:pt x="239952" y="113085"/>
                  </a:cubicBezTo>
                  <a:cubicBezTo>
                    <a:pt x="242650" y="117739"/>
                    <a:pt x="242665" y="123477"/>
                    <a:pt x="239992" y="128145"/>
                  </a:cubicBezTo>
                  <a:lnTo>
                    <a:pt x="239087" y="129518"/>
                  </a:lnTo>
                  <a:lnTo>
                    <a:pt x="118437" y="295411"/>
                  </a:lnTo>
                  <a:cubicBezTo>
                    <a:pt x="109871" y="307219"/>
                    <a:pt x="91170" y="301142"/>
                    <a:pt x="91170" y="286543"/>
                  </a:cubicBezTo>
                  <a:lnTo>
                    <a:pt x="91170" y="196056"/>
                  </a:lnTo>
                  <a:lnTo>
                    <a:pt x="15764" y="196056"/>
                  </a:lnTo>
                  <a:cubicBezTo>
                    <a:pt x="10385" y="196057"/>
                    <a:pt x="5412" y="193193"/>
                    <a:pt x="2714" y="188539"/>
                  </a:cubicBezTo>
                  <a:cubicBezTo>
                    <a:pt x="15" y="183886"/>
                    <a:pt x="0" y="178147"/>
                    <a:pt x="2674" y="173479"/>
                  </a:cubicBezTo>
                  <a:lnTo>
                    <a:pt x="3578" y="172107"/>
                  </a:lnTo>
                  <a:lnTo>
                    <a:pt x="124228" y="6213"/>
                  </a:lnTo>
                  <a:lnTo>
                    <a:pt x="124379" y="6017"/>
                  </a:lnTo>
                  <a:lnTo>
                    <a:pt x="124650" y="5655"/>
                  </a:lnTo>
                  <a:lnTo>
                    <a:pt x="125148" y="5082"/>
                  </a:lnTo>
                  <a:lnTo>
                    <a:pt x="125420" y="4751"/>
                  </a:lnTo>
                  <a:lnTo>
                    <a:pt x="125555" y="4630"/>
                  </a:lnTo>
                  <a:lnTo>
                    <a:pt x="125751" y="4419"/>
                  </a:lnTo>
                  <a:lnTo>
                    <a:pt x="126355" y="3876"/>
                  </a:lnTo>
                  <a:lnTo>
                    <a:pt x="126777" y="3484"/>
                  </a:lnTo>
                  <a:lnTo>
                    <a:pt x="126898" y="3393"/>
                  </a:lnTo>
                  <a:cubicBezTo>
                    <a:pt x="128665" y="1947"/>
                    <a:pt x="130738" y="921"/>
                    <a:pt x="132960" y="392"/>
                  </a:cubicBezTo>
                  <a:lnTo>
                    <a:pt x="133126" y="377"/>
                  </a:lnTo>
                  <a:lnTo>
                    <a:pt x="133533" y="302"/>
                  </a:lnTo>
                  <a:lnTo>
                    <a:pt x="134649" y="106"/>
                  </a:lnTo>
                  <a:lnTo>
                    <a:pt x="134815" y="90"/>
                  </a:lnTo>
                  <a:lnTo>
                    <a:pt x="135434" y="60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05950" y="2398395"/>
              <a:ext cx="109737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9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71%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17761" y="2989421"/>
              <a:ext cx="10726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lebih rendah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19285" y="3269456"/>
              <a:ext cx="1343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pada waktu respons</a:t>
              </a:r>
            </a:p>
          </p:txBody>
        </p:sp>
      </p:grpSp>
      <p:grpSp>
        <p:nvGrpSpPr>
          <p:cNvPr id="44" name="caveat"/>
          <p:cNvGrpSpPr/>
          <p:nvPr/>
        </p:nvGrpSpPr>
        <p:grpSpPr>
          <a:xfrm>
            <a:off x="9296400" y="3771900"/>
            <a:ext cx="2133600" cy="2286000"/>
            <a:chOff x="9296400" y="3771900"/>
            <a:chExt cx="2133600" cy="2286000"/>
          </a:xfrm>
        </p:grpSpPr>
        <p:sp>
          <p:nvSpPr>
            <p:cNvPr id="40" name="Rectangle 40"/>
            <p:cNvSpPr/>
            <p:nvPr/>
          </p:nvSpPr>
          <p:spPr>
            <a:xfrm>
              <a:off x="9296400" y="3771900"/>
              <a:ext cx="2133600" cy="2286000"/>
            </a:xfrm>
            <a:prstGeom prst="roundRect">
              <a:avLst>
                <a:gd name="adj" fmla="val 7143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535900" y="4002659"/>
              <a:ext cx="282851" cy="245440"/>
            </a:xfrm>
            <a:custGeom>
              <a:avLst/>
              <a:gdLst/>
              <a:ahLst/>
              <a:cxnLst/>
              <a:rect l="l" t="t" r="r" b="b"/>
              <a:pathLst>
                <a:path w="282851" h="245440">
                  <a:moveTo>
                    <a:pt x="141499" y="0"/>
                  </a:moveTo>
                  <a:cubicBezTo>
                    <a:pt x="153628" y="0"/>
                    <a:pt x="164931" y="5931"/>
                    <a:pt x="171852" y="15837"/>
                  </a:cubicBezTo>
                  <a:lnTo>
                    <a:pt x="173186" y="17869"/>
                  </a:lnTo>
                  <a:lnTo>
                    <a:pt x="276233" y="189928"/>
                  </a:lnTo>
                  <a:cubicBezTo>
                    <a:pt x="282599" y="200953"/>
                    <a:pt x="282851" y="214477"/>
                    <a:pt x="276900" y="225732"/>
                  </a:cubicBezTo>
                  <a:cubicBezTo>
                    <a:pt x="270949" y="236986"/>
                    <a:pt x="259630" y="244392"/>
                    <a:pt x="246934" y="245338"/>
                  </a:cubicBezTo>
                  <a:lnTo>
                    <a:pt x="244458" y="245440"/>
                  </a:lnTo>
                  <a:lnTo>
                    <a:pt x="38401" y="245440"/>
                  </a:lnTo>
                  <a:cubicBezTo>
                    <a:pt x="25693" y="245297"/>
                    <a:pt x="13947" y="238642"/>
                    <a:pt x="7291" y="227816"/>
                  </a:cubicBezTo>
                  <a:cubicBezTo>
                    <a:pt x="635" y="216989"/>
                    <a:pt x="0" y="203504"/>
                    <a:pt x="5610" y="192100"/>
                  </a:cubicBezTo>
                  <a:lnTo>
                    <a:pt x="6867" y="189750"/>
                  </a:lnTo>
                  <a:lnTo>
                    <a:pt x="109864" y="17818"/>
                  </a:lnTo>
                  <a:cubicBezTo>
                    <a:pt x="116570" y="6758"/>
                    <a:pt x="128565" y="3"/>
                    <a:pt x="141499" y="0"/>
                  </a:cubicBezTo>
                  <a:close/>
                  <a:moveTo>
                    <a:pt x="141626" y="169291"/>
                  </a:moveTo>
                  <a:lnTo>
                    <a:pt x="140013" y="169379"/>
                  </a:lnTo>
                  <a:cubicBezTo>
                    <a:pt x="133625" y="170139"/>
                    <a:pt x="128813" y="175557"/>
                    <a:pt x="128813" y="181991"/>
                  </a:cubicBezTo>
                  <a:cubicBezTo>
                    <a:pt x="128813" y="188424"/>
                    <a:pt x="133625" y="193842"/>
                    <a:pt x="140013" y="194602"/>
                  </a:cubicBezTo>
                  <a:lnTo>
                    <a:pt x="141499" y="194691"/>
                  </a:lnTo>
                  <a:lnTo>
                    <a:pt x="143112" y="194602"/>
                  </a:lnTo>
                  <a:cubicBezTo>
                    <a:pt x="149501" y="193842"/>
                    <a:pt x="154312" y="188424"/>
                    <a:pt x="154312" y="181991"/>
                  </a:cubicBezTo>
                  <a:cubicBezTo>
                    <a:pt x="154312" y="175557"/>
                    <a:pt x="149501" y="170139"/>
                    <a:pt x="143112" y="169379"/>
                  </a:cubicBezTo>
                  <a:lnTo>
                    <a:pt x="141626" y="169291"/>
                  </a:lnTo>
                  <a:close/>
                  <a:moveTo>
                    <a:pt x="141499" y="80391"/>
                  </a:moveTo>
                  <a:cubicBezTo>
                    <a:pt x="135061" y="80392"/>
                    <a:pt x="129641" y="85211"/>
                    <a:pt x="128888" y="91605"/>
                  </a:cubicBezTo>
                  <a:lnTo>
                    <a:pt x="128799" y="93091"/>
                  </a:lnTo>
                  <a:lnTo>
                    <a:pt x="128799" y="143891"/>
                  </a:lnTo>
                  <a:lnTo>
                    <a:pt x="128888" y="145377"/>
                  </a:lnTo>
                  <a:cubicBezTo>
                    <a:pt x="129648" y="151765"/>
                    <a:pt x="135065" y="156576"/>
                    <a:pt x="141499" y="156576"/>
                  </a:cubicBezTo>
                  <a:cubicBezTo>
                    <a:pt x="147933" y="156576"/>
                    <a:pt x="153350" y="151765"/>
                    <a:pt x="154110" y="145377"/>
                  </a:cubicBezTo>
                  <a:lnTo>
                    <a:pt x="154199" y="143891"/>
                  </a:lnTo>
                  <a:lnTo>
                    <a:pt x="154199" y="93091"/>
                  </a:lnTo>
                  <a:lnTo>
                    <a:pt x="154110" y="91605"/>
                  </a:lnTo>
                  <a:cubicBezTo>
                    <a:pt x="153357" y="85211"/>
                    <a:pt x="147938" y="80392"/>
                    <a:pt x="141499" y="80391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17761" y="4456271"/>
              <a:ext cx="11810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Catatan jujur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20047" y="4809649"/>
              <a:ext cx="1288160" cy="1028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-ID" sz="9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HTML web baru lebih</a:t>
              </a:r>
              <a:br/>
              <a:r>
                <a:rPr lang="id-ID" sz="9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besar (160 KB vs 36 KB)</a:t>
              </a:r>
              <a:br/>
              <a:r>
                <a:rPr lang="id-ID" sz="9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karena render server +</a:t>
              </a:r>
              <a:br/>
              <a:r>
                <a:rPr lang="id-ID" sz="9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konten dinamis: berita,</a:t>
              </a:r>
              <a:br/>
              <a:r>
                <a:rPr lang="id-ID" sz="9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cuaca, dan radio.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756285" y="6210300"/>
            <a:ext cx="10679430" cy="384334"/>
            <a:chOff x="756285" y="6210300"/>
            <a:chExt cx="10679430" cy="384334"/>
          </a:xfrm>
        </p:grpSpPr>
        <p:sp>
          <p:nvSpPr>
            <p:cNvPr id="45" name="Line 45"/>
            <p:cNvSpPr/>
            <p:nvPr/>
          </p:nvSpPr>
          <p:spPr>
            <a:xfrm>
              <a:off x="762000" y="6210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6285" y="6374606"/>
              <a:ext cx="4439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Sumber: pengukuran curl, 28 Sep 2026 · TTFB = Time To First Byte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61720" y="637460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6890059" cy="944023"/>
            <a:chOff x="745236" y="602456"/>
            <a:chExt cx="6890059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23871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SEO &amp; KETERBUKAAN DATA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68900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Dari Tidak Terindeks ke 214 URL</a:t>
              </a:r>
            </a:p>
          </p:txBody>
        </p:sp>
      </p:grpSp>
      <p:grpSp>
        <p:nvGrpSpPr>
          <p:cNvPr id="15" name="seo-sitemap"/>
          <p:cNvGrpSpPr/>
          <p:nvPr/>
        </p:nvGrpSpPr>
        <p:grpSpPr>
          <a:xfrm>
            <a:off x="762000" y="1809750"/>
            <a:ext cx="5105400" cy="1333500"/>
            <a:chOff x="762000" y="1809750"/>
            <a:chExt cx="5105400" cy="1333500"/>
          </a:xfrm>
        </p:grpSpPr>
        <p:sp>
          <p:nvSpPr>
            <p:cNvPr id="5" name="Rectangle 5"/>
            <p:cNvSpPr/>
            <p:nvPr/>
          </p:nvSpPr>
          <p:spPr>
            <a:xfrm>
              <a:off x="762000" y="1809750"/>
              <a:ext cx="5105400" cy="1333500"/>
            </a:xfrm>
            <a:prstGeom prst="roundRect">
              <a:avLst>
                <a:gd name="adj" fmla="val 1000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72163" y="2068978"/>
              <a:ext cx="210298" cy="285666"/>
              <a:chOff x="1072163" y="2068978"/>
              <a:chExt cx="210298" cy="28566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0613" y="2111373"/>
                <a:ext cx="135470" cy="135980"/>
              </a:xfrm>
              <a:custGeom>
                <a:avLst/>
                <a:gdLst/>
                <a:ahLst/>
                <a:cxnLst/>
                <a:rect l="l" t="t" r="r" b="b"/>
                <a:pathLst>
                  <a:path w="135470" h="135980">
                    <a:moveTo>
                      <a:pt x="67469" y="2"/>
                    </a:moveTo>
                    <a:cubicBezTo>
                      <a:pt x="104351" y="0"/>
                      <a:pt x="134399" y="29614"/>
                      <a:pt x="134935" y="66492"/>
                    </a:cubicBezTo>
                    <a:cubicBezTo>
                      <a:pt x="135470" y="103370"/>
                      <a:pt x="106293" y="133844"/>
                      <a:pt x="69427" y="134912"/>
                    </a:cubicBezTo>
                    <a:cubicBezTo>
                      <a:pt x="32560" y="135980"/>
                      <a:pt x="1668" y="107246"/>
                      <a:pt x="67" y="70399"/>
                    </a:cubicBezTo>
                    <a:lnTo>
                      <a:pt x="0" y="67471"/>
                    </a:lnTo>
                    <a:lnTo>
                      <a:pt x="67" y="64543"/>
                    </a:lnTo>
                    <a:cubicBezTo>
                      <a:pt x="1635" y="28455"/>
                      <a:pt x="31347" y="4"/>
                      <a:pt x="67469" y="2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2163" y="2068978"/>
                <a:ext cx="210298" cy="239258"/>
              </a:xfrm>
              <a:custGeom>
                <a:avLst/>
                <a:gdLst/>
                <a:ahLst/>
                <a:cxnLst/>
                <a:rect l="l" t="t" r="r" b="b"/>
                <a:pathLst>
                  <a:path w="210298" h="239258">
                    <a:moveTo>
                      <a:pt x="128195" y="8689"/>
                    </a:moveTo>
                    <a:cubicBezTo>
                      <a:pt x="131907" y="2229"/>
                      <a:pt x="140153" y="0"/>
                      <a:pt x="146614" y="3710"/>
                    </a:cubicBezTo>
                    <a:cubicBezTo>
                      <a:pt x="186735" y="26770"/>
                      <a:pt x="210298" y="70598"/>
                      <a:pt x="207404" y="116783"/>
                    </a:cubicBezTo>
                    <a:cubicBezTo>
                      <a:pt x="204511" y="162969"/>
                      <a:pt x="175663" y="203513"/>
                      <a:pt x="132977" y="221385"/>
                    </a:cubicBezTo>
                    <a:cubicBezTo>
                      <a:pt x="90291" y="239258"/>
                      <a:pt x="41162" y="231362"/>
                      <a:pt x="6225" y="201016"/>
                    </a:cubicBezTo>
                    <a:cubicBezTo>
                      <a:pt x="598" y="196127"/>
                      <a:pt x="0" y="187603"/>
                      <a:pt x="4889" y="181976"/>
                    </a:cubicBezTo>
                    <a:cubicBezTo>
                      <a:pt x="9778" y="176350"/>
                      <a:pt x="18302" y="175752"/>
                      <a:pt x="23929" y="180641"/>
                    </a:cubicBezTo>
                    <a:cubicBezTo>
                      <a:pt x="51115" y="204254"/>
                      <a:pt x="89344" y="210397"/>
                      <a:pt x="122559" y="196490"/>
                    </a:cubicBezTo>
                    <a:cubicBezTo>
                      <a:pt x="155775" y="182583"/>
                      <a:pt x="178223" y="151035"/>
                      <a:pt x="180475" y="115096"/>
                    </a:cubicBezTo>
                    <a:cubicBezTo>
                      <a:pt x="182727" y="79157"/>
                      <a:pt x="164394" y="45053"/>
                      <a:pt x="133174" y="27108"/>
                    </a:cubicBezTo>
                    <a:cubicBezTo>
                      <a:pt x="126714" y="23396"/>
                      <a:pt x="124485" y="15151"/>
                      <a:pt x="128195" y="8689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44588" y="2273301"/>
                <a:ext cx="26988" cy="81343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81343">
                    <a:moveTo>
                      <a:pt x="13494" y="0"/>
                    </a:moveTo>
                    <a:cubicBezTo>
                      <a:pt x="20335" y="1"/>
                      <a:pt x="26093" y="5121"/>
                      <a:pt x="26893" y="11915"/>
                    </a:cubicBezTo>
                    <a:lnTo>
                      <a:pt x="26988" y="13494"/>
                    </a:lnTo>
                    <a:lnTo>
                      <a:pt x="26988" y="67469"/>
                    </a:lnTo>
                    <a:cubicBezTo>
                      <a:pt x="26980" y="74608"/>
                      <a:pt x="21412" y="80506"/>
                      <a:pt x="14285" y="80925"/>
                    </a:cubicBezTo>
                    <a:cubicBezTo>
                      <a:pt x="7157" y="81343"/>
                      <a:pt x="938" y="76137"/>
                      <a:pt x="94" y="69048"/>
                    </a:cubicBezTo>
                    <a:lnTo>
                      <a:pt x="0" y="67469"/>
                    </a:ln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90232" y="2327276"/>
                <a:ext cx="13569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35698" h="26988">
                    <a:moveTo>
                      <a:pt x="121824" y="0"/>
                    </a:moveTo>
                    <a:cubicBezTo>
                      <a:pt x="128964" y="8"/>
                      <a:pt x="134861" y="5576"/>
                      <a:pt x="135280" y="12703"/>
                    </a:cubicBezTo>
                    <a:cubicBezTo>
                      <a:pt x="135698" y="19830"/>
                      <a:pt x="130493" y="26050"/>
                      <a:pt x="123403" y="26893"/>
                    </a:cubicBezTo>
                    <a:lnTo>
                      <a:pt x="121824" y="26988"/>
                    </a:lnTo>
                    <a:lnTo>
                      <a:pt x="13874" y="26988"/>
                    </a:lnTo>
                    <a:cubicBezTo>
                      <a:pt x="6735" y="26980"/>
                      <a:pt x="837" y="21412"/>
                      <a:pt x="418" y="14285"/>
                    </a:cubicBezTo>
                    <a:cubicBezTo>
                      <a:pt x="0" y="7157"/>
                      <a:pt x="5206" y="938"/>
                      <a:pt x="12295" y="94"/>
                    </a:cubicBezTo>
                    <a:lnTo>
                      <a:pt x="13874" y="0"/>
                    </a:lnTo>
                    <a:lnTo>
                      <a:pt x="121824" y="0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77518" y="2012632"/>
              <a:ext cx="1294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sitemap.xml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80185" y="2316956"/>
              <a:ext cx="2401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daftar halaman untuk mesin pencari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3173" y="2796064"/>
              <a:ext cx="1825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 xml:space="preserve">Lama: </a:t>
              </a:r>
              <a:r>
                <a:rPr lang="id-ID" sz="1280" b="1" dirty="0">
                  <a:solidFill>
                    <a:srgbClr val="F59E0B"/>
                  </a:solidFill>
                  <a:latin typeface="+mn-lt"/>
                  <a:ea typeface="+mn-ea"/>
                  <a:cs typeface="+mn-cs"/>
                </a:rPr>
                <a:t>404 — tidak ada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523" y="2796064"/>
              <a:ext cx="1155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 xml:space="preserve">Baru: </a:t>
              </a:r>
              <a:r>
                <a:rPr lang="id-ID" sz="128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214 URL</a:t>
              </a:r>
            </a:p>
          </p:txBody>
        </p:sp>
      </p:grpSp>
      <p:grpSp>
        <p:nvGrpSpPr>
          <p:cNvPr id="22" name="seo-robots"/>
          <p:cNvGrpSpPr/>
          <p:nvPr/>
        </p:nvGrpSpPr>
        <p:grpSpPr>
          <a:xfrm>
            <a:off x="6324600" y="1809750"/>
            <a:ext cx="5105400" cy="1333500"/>
            <a:chOff x="6324600" y="1809750"/>
            <a:chExt cx="5105400" cy="13335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809750"/>
              <a:ext cx="5105400" cy="1333500"/>
            </a:xfrm>
            <a:prstGeom prst="roundRect">
              <a:avLst>
                <a:gd name="adj" fmla="val 1000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589873" y="2075023"/>
              <a:ext cx="288605" cy="288605"/>
            </a:xfrm>
            <a:custGeom>
              <a:avLst/>
              <a:gdLst/>
              <a:ahLst/>
              <a:cxnLst/>
              <a:rect l="l" t="t" r="r" b="b"/>
              <a:pathLst>
                <a:path w="288605" h="288605">
                  <a:moveTo>
                    <a:pt x="180021" y="37445"/>
                  </a:moveTo>
                  <a:cubicBezTo>
                    <a:pt x="180755" y="40476"/>
                    <a:pt x="182892" y="42974"/>
                    <a:pt x="185772" y="44169"/>
                  </a:cubicBezTo>
                  <a:cubicBezTo>
                    <a:pt x="188652" y="45363"/>
                    <a:pt x="191930" y="45111"/>
                    <a:pt x="194594" y="43490"/>
                  </a:cubicBezTo>
                  <a:cubicBezTo>
                    <a:pt x="227505" y="23452"/>
                    <a:pt x="265166" y="61100"/>
                    <a:pt x="245128" y="94011"/>
                  </a:cubicBezTo>
                  <a:cubicBezTo>
                    <a:pt x="243507" y="96673"/>
                    <a:pt x="243253" y="99949"/>
                    <a:pt x="244445" y="102829"/>
                  </a:cubicBezTo>
                  <a:cubicBezTo>
                    <a:pt x="245637" y="105708"/>
                    <a:pt x="248132" y="107847"/>
                    <a:pt x="251160" y="108584"/>
                  </a:cubicBezTo>
                  <a:cubicBezTo>
                    <a:pt x="288605" y="117666"/>
                    <a:pt x="288605" y="170926"/>
                    <a:pt x="251160" y="180021"/>
                  </a:cubicBezTo>
                  <a:cubicBezTo>
                    <a:pt x="248129" y="180755"/>
                    <a:pt x="245631" y="182892"/>
                    <a:pt x="244436" y="185772"/>
                  </a:cubicBezTo>
                  <a:cubicBezTo>
                    <a:pt x="243242" y="188652"/>
                    <a:pt x="243494" y="191930"/>
                    <a:pt x="245115" y="194594"/>
                  </a:cubicBezTo>
                  <a:cubicBezTo>
                    <a:pt x="265153" y="227505"/>
                    <a:pt x="227505" y="265166"/>
                    <a:pt x="194594" y="245128"/>
                  </a:cubicBezTo>
                  <a:cubicBezTo>
                    <a:pt x="191932" y="243507"/>
                    <a:pt x="188656" y="243253"/>
                    <a:pt x="185776" y="244445"/>
                  </a:cubicBezTo>
                  <a:cubicBezTo>
                    <a:pt x="182897" y="245637"/>
                    <a:pt x="180758" y="248132"/>
                    <a:pt x="180021" y="251160"/>
                  </a:cubicBezTo>
                  <a:cubicBezTo>
                    <a:pt x="170939" y="288605"/>
                    <a:pt x="117679" y="288605"/>
                    <a:pt x="108584" y="251160"/>
                  </a:cubicBezTo>
                  <a:cubicBezTo>
                    <a:pt x="107850" y="248129"/>
                    <a:pt x="105713" y="245631"/>
                    <a:pt x="102833" y="244436"/>
                  </a:cubicBezTo>
                  <a:cubicBezTo>
                    <a:pt x="99953" y="243242"/>
                    <a:pt x="96675" y="243494"/>
                    <a:pt x="94011" y="245115"/>
                  </a:cubicBezTo>
                  <a:cubicBezTo>
                    <a:pt x="61100" y="265153"/>
                    <a:pt x="23439" y="227505"/>
                    <a:pt x="43477" y="194594"/>
                  </a:cubicBezTo>
                  <a:cubicBezTo>
                    <a:pt x="45098" y="191932"/>
                    <a:pt x="45352" y="188656"/>
                    <a:pt x="44160" y="185776"/>
                  </a:cubicBezTo>
                  <a:cubicBezTo>
                    <a:pt x="42968" y="182897"/>
                    <a:pt x="40473" y="180758"/>
                    <a:pt x="37445" y="180021"/>
                  </a:cubicBezTo>
                  <a:cubicBezTo>
                    <a:pt x="0" y="170939"/>
                    <a:pt x="0" y="117679"/>
                    <a:pt x="37445" y="108584"/>
                  </a:cubicBezTo>
                  <a:cubicBezTo>
                    <a:pt x="40476" y="107850"/>
                    <a:pt x="42974" y="105713"/>
                    <a:pt x="44169" y="102833"/>
                  </a:cubicBezTo>
                  <a:cubicBezTo>
                    <a:pt x="45363" y="99953"/>
                    <a:pt x="45111" y="96675"/>
                    <a:pt x="43490" y="94011"/>
                  </a:cubicBezTo>
                  <a:cubicBezTo>
                    <a:pt x="23452" y="61100"/>
                    <a:pt x="61100" y="23439"/>
                    <a:pt x="94011" y="43477"/>
                  </a:cubicBezTo>
                  <a:cubicBezTo>
                    <a:pt x="96671" y="45110"/>
                    <a:pt x="99952" y="45371"/>
                    <a:pt x="102836" y="44177"/>
                  </a:cubicBezTo>
                  <a:cubicBezTo>
                    <a:pt x="105720" y="42984"/>
                    <a:pt x="107857" y="40481"/>
                    <a:pt x="108584" y="37445"/>
                  </a:cubicBezTo>
                  <a:cubicBezTo>
                    <a:pt x="117666" y="0"/>
                    <a:pt x="170926" y="0"/>
                    <a:pt x="180021" y="37445"/>
                  </a:cubicBezTo>
                  <a:close/>
                  <a:moveTo>
                    <a:pt x="144303" y="103821"/>
                  </a:moveTo>
                  <a:cubicBezTo>
                    <a:pt x="121945" y="103821"/>
                    <a:pt x="103821" y="121945"/>
                    <a:pt x="103821" y="144303"/>
                  </a:cubicBezTo>
                  <a:cubicBezTo>
                    <a:pt x="103821" y="166660"/>
                    <a:pt x="121945" y="184784"/>
                    <a:pt x="144303" y="184784"/>
                  </a:cubicBezTo>
                  <a:cubicBezTo>
                    <a:pt x="166660" y="184784"/>
                    <a:pt x="184784" y="166660"/>
                    <a:pt x="184784" y="144303"/>
                  </a:cubicBezTo>
                  <a:cubicBezTo>
                    <a:pt x="184784" y="121945"/>
                    <a:pt x="166660" y="103821"/>
                    <a:pt x="144303" y="103821"/>
                  </a:cubicBezTo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118" y="2012632"/>
              <a:ext cx="10544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robots.txt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2785" y="2316956"/>
              <a:ext cx="23017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panduan perayapan mesin pencari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5773" y="2796064"/>
              <a:ext cx="1366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 xml:space="preserve">Lama: </a:t>
              </a:r>
              <a:r>
                <a:rPr lang="id-ID" sz="1280" b="1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200 — ada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66123" y="2796064"/>
              <a:ext cx="1304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 xml:space="preserve">Baru: </a:t>
              </a:r>
              <a:r>
                <a:rPr lang="id-ID" sz="128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200 — ada</a:t>
              </a:r>
            </a:p>
          </p:txBody>
        </p:sp>
      </p:grpSp>
      <p:grpSp>
        <p:nvGrpSpPr>
          <p:cNvPr id="31" name="seo-meta"/>
          <p:cNvGrpSpPr/>
          <p:nvPr/>
        </p:nvGrpSpPr>
        <p:grpSpPr>
          <a:xfrm>
            <a:off x="762000" y="3390900"/>
            <a:ext cx="5105400" cy="1333500"/>
            <a:chOff x="762000" y="3390900"/>
            <a:chExt cx="5105400" cy="1333500"/>
          </a:xfrm>
        </p:grpSpPr>
        <p:sp>
          <p:nvSpPr>
            <p:cNvPr id="23" name="Rectangle 23"/>
            <p:cNvSpPr/>
            <p:nvPr/>
          </p:nvSpPr>
          <p:spPr>
            <a:xfrm>
              <a:off x="762000" y="3390900"/>
              <a:ext cx="5105400" cy="1333500"/>
            </a:xfrm>
            <a:prstGeom prst="roundRect">
              <a:avLst>
                <a:gd name="adj" fmla="val 1000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63624" y="3665538"/>
              <a:ext cx="215903" cy="269877"/>
              <a:chOff x="1063624" y="3665538"/>
              <a:chExt cx="215903" cy="26987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63624" y="366553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148433" y="188913"/>
                    </a:moveTo>
                    <a:lnTo>
                      <a:pt x="67470" y="188913"/>
                    </a:lnTo>
                    <a:cubicBezTo>
                      <a:pt x="60018" y="188913"/>
                      <a:pt x="53976" y="194954"/>
                      <a:pt x="53976" y="202407"/>
                    </a:cubicBezTo>
                    <a:cubicBezTo>
                      <a:pt x="53976" y="209859"/>
                      <a:pt x="60018" y="215901"/>
                      <a:pt x="67470" y="215901"/>
                    </a:cubicBezTo>
                    <a:lnTo>
                      <a:pt x="148433" y="215901"/>
                    </a:lnTo>
                    <a:cubicBezTo>
                      <a:pt x="155885" y="215901"/>
                      <a:pt x="161927" y="209859"/>
                      <a:pt x="161927" y="202407"/>
                    </a:cubicBezTo>
                    <a:cubicBezTo>
                      <a:pt x="161927" y="194954"/>
                      <a:pt x="155885" y="188913"/>
                      <a:pt x="148433" y="188913"/>
                    </a:cubicBezTo>
                    <a:moveTo>
                      <a:pt x="148433" y="134938"/>
                    </a:moveTo>
                    <a:lnTo>
                      <a:pt x="67470" y="134938"/>
                    </a:lnTo>
                    <a:cubicBezTo>
                      <a:pt x="60018" y="134938"/>
                      <a:pt x="53976" y="140979"/>
                      <a:pt x="53976" y="148432"/>
                    </a:cubicBezTo>
                    <a:cubicBezTo>
                      <a:pt x="53976" y="155884"/>
                      <a:pt x="60018" y="161925"/>
                      <a:pt x="67470" y="161925"/>
                    </a:cubicBezTo>
                    <a:lnTo>
                      <a:pt x="148433" y="161925"/>
                    </a:lnTo>
                    <a:cubicBezTo>
                      <a:pt x="155885" y="161925"/>
                      <a:pt x="161927" y="155884"/>
                      <a:pt x="161927" y="148432"/>
                    </a:cubicBezTo>
                    <a:cubicBezTo>
                      <a:pt x="161927" y="140979"/>
                      <a:pt x="155885" y="134938"/>
                      <a:pt x="148433" y="134938"/>
                    </a:cubicBezTo>
                    <a:moveTo>
                      <a:pt x="80964" y="80963"/>
                    </a:moveTo>
                    <a:lnTo>
                      <a:pt x="67470" y="80963"/>
                    </a:lnTo>
                    <a:cubicBezTo>
                      <a:pt x="60018" y="80963"/>
                      <a:pt x="53976" y="87004"/>
                      <a:pt x="53976" y="94456"/>
                    </a:cubicBezTo>
                    <a:cubicBezTo>
                      <a:pt x="53976" y="101909"/>
                      <a:pt x="60018" y="107950"/>
                      <a:pt x="67470" y="107950"/>
                    </a:cubicBezTo>
                    <a:lnTo>
                      <a:pt x="80964" y="107950"/>
                    </a:lnTo>
                    <a:cubicBezTo>
                      <a:pt x="88416" y="107950"/>
                      <a:pt x="94458" y="101909"/>
                      <a:pt x="94458" y="94456"/>
                    </a:cubicBezTo>
                    <a:cubicBezTo>
                      <a:pt x="94458" y="87004"/>
                      <a:pt x="88416" y="80963"/>
                      <a:pt x="80964" y="80963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212043" y="367901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477518" y="3593782"/>
              <a:ext cx="23622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Metadata Open Graph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80185" y="3898106"/>
              <a:ext cx="1978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tampilan kartu saat dibagikan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3173" y="4377214"/>
              <a:ext cx="193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 xml:space="preserve">Lama: </a:t>
              </a:r>
              <a:r>
                <a:rPr lang="id-ID" sz="12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tidak terverifikasi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03523" y="4377214"/>
              <a:ext cx="739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 xml:space="preserve">Baru: </a:t>
              </a:r>
              <a:r>
                <a:rPr lang="id-ID" sz="128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ada</a:t>
              </a:r>
            </a:p>
          </p:txBody>
        </p:sp>
      </p:grpSp>
      <p:grpSp>
        <p:nvGrpSpPr>
          <p:cNvPr id="41" name="seo-open"/>
          <p:cNvGrpSpPr/>
          <p:nvPr/>
        </p:nvGrpSpPr>
        <p:grpSpPr>
          <a:xfrm>
            <a:off x="6324600" y="3390900"/>
            <a:ext cx="5164610" cy="1333500"/>
            <a:chOff x="6324600" y="3390900"/>
            <a:chExt cx="5164610" cy="1333500"/>
          </a:xfrm>
        </p:grpSpPr>
        <p:sp>
          <p:nvSpPr>
            <p:cNvPr id="32" name="Rectangle 32"/>
            <p:cNvSpPr/>
            <p:nvPr/>
          </p:nvSpPr>
          <p:spPr>
            <a:xfrm>
              <a:off x="6324600" y="3390900"/>
              <a:ext cx="5105400" cy="1333500"/>
            </a:xfrm>
            <a:prstGeom prst="roundRect">
              <a:avLst>
                <a:gd name="adj" fmla="val 1000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12730" y="3665538"/>
              <a:ext cx="242889" cy="269876"/>
              <a:chOff x="6612730" y="3665538"/>
              <a:chExt cx="242889" cy="2698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612731" y="3850821"/>
                <a:ext cx="242888" cy="84593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84593">
                    <a:moveTo>
                      <a:pt x="0" y="0"/>
                    </a:moveTo>
                    <a:cubicBezTo>
                      <a:pt x="26556" y="20335"/>
                      <a:pt x="70626" y="30617"/>
                      <a:pt x="121444" y="30617"/>
                    </a:cubicBezTo>
                    <a:cubicBezTo>
                      <a:pt x="172181" y="30617"/>
                      <a:pt x="216238" y="20362"/>
                      <a:pt x="242888" y="229"/>
                    </a:cubicBezTo>
                    <a:lnTo>
                      <a:pt x="242888" y="30617"/>
                    </a:lnTo>
                    <a:cubicBezTo>
                      <a:pt x="242888" y="63340"/>
                      <a:pt x="190330" y="83729"/>
                      <a:pt x="125587" y="84566"/>
                    </a:cubicBezTo>
                    <a:lnTo>
                      <a:pt x="121444" y="84593"/>
                    </a:lnTo>
                    <a:cubicBezTo>
                      <a:pt x="54812" y="84593"/>
                      <a:pt x="0" y="64041"/>
                      <a:pt x="0" y="30617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12731" y="3769858"/>
                <a:ext cx="242888" cy="84593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84593">
                    <a:moveTo>
                      <a:pt x="0" y="0"/>
                    </a:moveTo>
                    <a:cubicBezTo>
                      <a:pt x="26556" y="20335"/>
                      <a:pt x="70626" y="30617"/>
                      <a:pt x="121444" y="30617"/>
                    </a:cubicBezTo>
                    <a:cubicBezTo>
                      <a:pt x="172181" y="30617"/>
                      <a:pt x="216238" y="20362"/>
                      <a:pt x="242888" y="229"/>
                    </a:cubicBezTo>
                    <a:lnTo>
                      <a:pt x="242888" y="30617"/>
                    </a:lnTo>
                    <a:cubicBezTo>
                      <a:pt x="242888" y="64041"/>
                      <a:pt x="188076" y="84593"/>
                      <a:pt x="121444" y="84593"/>
                    </a:cubicBezTo>
                    <a:cubicBezTo>
                      <a:pt x="56701" y="84593"/>
                      <a:pt x="3104" y="65188"/>
                      <a:pt x="283" y="33384"/>
                    </a:cubicBezTo>
                    <a:lnTo>
                      <a:pt x="67" y="32021"/>
                    </a:lnTo>
                    <a:lnTo>
                      <a:pt x="0" y="30617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12730" y="3665538"/>
                <a:ext cx="24288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9" h="107950">
                    <a:moveTo>
                      <a:pt x="121445" y="0"/>
                    </a:moveTo>
                    <a:cubicBezTo>
                      <a:pt x="135492" y="0"/>
                      <a:pt x="149026" y="918"/>
                      <a:pt x="161616" y="2672"/>
                    </a:cubicBezTo>
                    <a:lnTo>
                      <a:pt x="167945" y="3630"/>
                    </a:lnTo>
                    <a:cubicBezTo>
                      <a:pt x="175501" y="4889"/>
                      <a:pt x="182635" y="6455"/>
                      <a:pt x="189346" y="8326"/>
                    </a:cubicBezTo>
                    <a:lnTo>
                      <a:pt x="195283" y="10093"/>
                    </a:lnTo>
                    <a:lnTo>
                      <a:pt x="196295" y="10417"/>
                    </a:lnTo>
                    <a:cubicBezTo>
                      <a:pt x="199967" y="11625"/>
                      <a:pt x="203591" y="12975"/>
                      <a:pt x="207158" y="14465"/>
                    </a:cubicBezTo>
                    <a:lnTo>
                      <a:pt x="209843" y="15626"/>
                    </a:lnTo>
                    <a:cubicBezTo>
                      <a:pt x="214656" y="17803"/>
                      <a:pt x="219005" y="20187"/>
                      <a:pt x="222891" y="22778"/>
                    </a:cubicBezTo>
                    <a:cubicBezTo>
                      <a:pt x="224376" y="23767"/>
                      <a:pt x="225784" y="24779"/>
                      <a:pt x="227115" y="25814"/>
                    </a:cubicBezTo>
                    <a:cubicBezTo>
                      <a:pt x="230487" y="28431"/>
                      <a:pt x="233520" y="31459"/>
                      <a:pt x="236142" y="34827"/>
                    </a:cubicBezTo>
                    <a:lnTo>
                      <a:pt x="237370" y="36555"/>
                    </a:lnTo>
                    <a:cubicBezTo>
                      <a:pt x="238000" y="37499"/>
                      <a:pt x="238580" y="38448"/>
                      <a:pt x="239111" y="39402"/>
                    </a:cubicBezTo>
                    <a:lnTo>
                      <a:pt x="240055" y="41277"/>
                    </a:lnTo>
                    <a:cubicBezTo>
                      <a:pt x="241522" y="44426"/>
                      <a:pt x="242421" y="47710"/>
                      <a:pt x="242754" y="51128"/>
                    </a:cubicBezTo>
                    <a:lnTo>
                      <a:pt x="242889" y="53975"/>
                    </a:lnTo>
                    <a:cubicBezTo>
                      <a:pt x="242889" y="87399"/>
                      <a:pt x="188077" y="107950"/>
                      <a:pt x="121445" y="107950"/>
                    </a:cubicBezTo>
                    <a:cubicBezTo>
                      <a:pt x="56702" y="107950"/>
                      <a:pt x="3105" y="88546"/>
                      <a:pt x="284" y="56741"/>
                    </a:cubicBezTo>
                    <a:cubicBezTo>
                      <a:pt x="95" y="55831"/>
                      <a:pt x="0" y="54905"/>
                      <a:pt x="1" y="53975"/>
                    </a:cubicBezTo>
                    <a:lnTo>
                      <a:pt x="69" y="52572"/>
                    </a:lnTo>
                    <a:lnTo>
                      <a:pt x="284" y="51222"/>
                    </a:lnTo>
                    <a:cubicBezTo>
                      <a:pt x="3051" y="20106"/>
                      <a:pt x="54394" y="850"/>
                      <a:pt x="117235" y="27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040118" y="3593782"/>
              <a:ext cx="27388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Data terbuka (Open Data)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42785" y="3898106"/>
              <a:ext cx="2334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dataset publik dapat diakses mesin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65773" y="4377214"/>
              <a:ext cx="1825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 xml:space="preserve">Lama: </a:t>
              </a:r>
              <a:r>
                <a:rPr lang="id-ID" sz="12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tautan eksternal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66123" y="4377214"/>
              <a:ext cx="21230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 xml:space="preserve">Baru: </a:t>
              </a:r>
              <a:r>
                <a:rPr lang="id-ID" sz="128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halaman terintegrasi</a:t>
              </a:r>
            </a:p>
          </p:txBody>
        </p:sp>
      </p:grpSp>
      <p:grpSp>
        <p:nvGrpSpPr>
          <p:cNvPr id="48" name="seo-highlight"/>
          <p:cNvGrpSpPr/>
          <p:nvPr/>
        </p:nvGrpSpPr>
        <p:grpSpPr>
          <a:xfrm>
            <a:off x="762000" y="4972050"/>
            <a:ext cx="10668000" cy="1135189"/>
            <a:chOff x="762000" y="4972050"/>
            <a:chExt cx="10668000" cy="1135189"/>
          </a:xfrm>
        </p:grpSpPr>
        <p:sp>
          <p:nvSpPr>
            <p:cNvPr id="42" name="Rectangle 42"/>
            <p:cNvSpPr/>
            <p:nvPr/>
          </p:nvSpPr>
          <p:spPr>
            <a:xfrm>
              <a:off x="762000" y="4972050"/>
              <a:ext cx="10668000" cy="990600"/>
            </a:xfrm>
            <a:prstGeom prst="roundRect">
              <a:avLst>
                <a:gd name="adj" fmla="val 13462"/>
              </a:avLst>
            </a:prstGeom>
            <a:solidFill>
              <a:srgbClr val="22D3EE">
                <a:alpha val="7000"/>
              </a:srgbClr>
            </a:solidFill>
            <a:ln w="14288">
              <a:solidFill>
                <a:srgbClr val="22D3EE">
                  <a:alpha val="35000"/>
                </a:srgbClr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074446" y="5265409"/>
              <a:ext cx="289177" cy="271792"/>
              <a:chOff x="1074446" y="5265409"/>
              <a:chExt cx="289177" cy="27179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076325" y="5360599"/>
                <a:ext cx="285751" cy="17660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76602">
                    <a:moveTo>
                      <a:pt x="193993" y="7930"/>
                    </a:moveTo>
                    <a:cubicBezTo>
                      <a:pt x="199413" y="1166"/>
                      <a:pt x="209256" y="0"/>
                      <a:pt x="216107" y="5310"/>
                    </a:cubicBezTo>
                    <a:lnTo>
                      <a:pt x="217599" y="6628"/>
                    </a:lnTo>
                    <a:lnTo>
                      <a:pt x="281099" y="70128"/>
                    </a:lnTo>
                    <a:cubicBezTo>
                      <a:pt x="283566" y="72597"/>
                      <a:pt x="285151" y="75811"/>
                      <a:pt x="285608" y="79272"/>
                    </a:cubicBezTo>
                    <a:lnTo>
                      <a:pt x="285751" y="81352"/>
                    </a:lnTo>
                    <a:lnTo>
                      <a:pt x="285751" y="160727"/>
                    </a:lnTo>
                    <a:cubicBezTo>
                      <a:pt x="285750" y="168775"/>
                      <a:pt x="279726" y="175549"/>
                      <a:pt x="271733" y="176491"/>
                    </a:cubicBezTo>
                    <a:lnTo>
                      <a:pt x="269876" y="176602"/>
                    </a:lnTo>
                    <a:lnTo>
                      <a:pt x="15526" y="176602"/>
                    </a:lnTo>
                    <a:lnTo>
                      <a:pt x="13780" y="176459"/>
                    </a:lnTo>
                    <a:lnTo>
                      <a:pt x="12033" y="176141"/>
                    </a:lnTo>
                    <a:lnTo>
                      <a:pt x="10335" y="175602"/>
                    </a:lnTo>
                    <a:lnTo>
                      <a:pt x="8668" y="174871"/>
                    </a:lnTo>
                    <a:lnTo>
                      <a:pt x="7080" y="173935"/>
                    </a:lnTo>
                    <a:lnTo>
                      <a:pt x="5588" y="172824"/>
                    </a:lnTo>
                    <a:lnTo>
                      <a:pt x="4636" y="171950"/>
                    </a:lnTo>
                    <a:lnTo>
                      <a:pt x="3493" y="170649"/>
                    </a:lnTo>
                    <a:lnTo>
                      <a:pt x="2477" y="169236"/>
                    </a:lnTo>
                    <a:lnTo>
                      <a:pt x="1619" y="167712"/>
                    </a:lnTo>
                    <a:lnTo>
                      <a:pt x="1365" y="167156"/>
                    </a:lnTo>
                    <a:lnTo>
                      <a:pt x="730" y="165521"/>
                    </a:lnTo>
                    <a:lnTo>
                      <a:pt x="302" y="163838"/>
                    </a:lnTo>
                    <a:lnTo>
                      <a:pt x="64" y="162124"/>
                    </a:lnTo>
                    <a:lnTo>
                      <a:pt x="0" y="160378"/>
                    </a:lnTo>
                    <a:lnTo>
                      <a:pt x="143" y="158631"/>
                    </a:lnTo>
                    <a:lnTo>
                      <a:pt x="445" y="156964"/>
                    </a:lnTo>
                    <a:cubicBezTo>
                      <a:pt x="603" y="156329"/>
                      <a:pt x="794" y="155742"/>
                      <a:pt x="1000" y="155186"/>
                    </a:cubicBezTo>
                    <a:lnTo>
                      <a:pt x="1730" y="153519"/>
                    </a:lnTo>
                    <a:lnTo>
                      <a:pt x="2667" y="151932"/>
                    </a:lnTo>
                    <a:lnTo>
                      <a:pt x="66167" y="56682"/>
                    </a:lnTo>
                    <a:cubicBezTo>
                      <a:pt x="70188" y="50628"/>
                      <a:pt x="77806" y="48078"/>
                      <a:pt x="84662" y="50491"/>
                    </a:cubicBezTo>
                    <a:lnTo>
                      <a:pt x="86471" y="51284"/>
                    </a:lnTo>
                    <a:lnTo>
                      <a:pt x="138494" y="77288"/>
                    </a:lnTo>
                    <a:lnTo>
                      <a:pt x="193977" y="7930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74446" y="5265409"/>
                <a:ext cx="289177" cy="162546"/>
              </a:xfrm>
              <a:custGeom>
                <a:avLst/>
                <a:gdLst/>
                <a:ahLst/>
                <a:cxnLst/>
                <a:rect l="l" t="t" r="r" b="b"/>
                <a:pathLst>
                  <a:path w="289177" h="162546">
                    <a:moveTo>
                      <a:pt x="196063" y="7631"/>
                    </a:moveTo>
                    <a:cubicBezTo>
                      <a:pt x="201538" y="1053"/>
                      <a:pt x="211242" y="0"/>
                      <a:pt x="218002" y="5250"/>
                    </a:cubicBezTo>
                    <a:lnTo>
                      <a:pt x="219478" y="6568"/>
                    </a:lnTo>
                    <a:lnTo>
                      <a:pt x="282978" y="70068"/>
                    </a:lnTo>
                    <a:cubicBezTo>
                      <a:pt x="288887" y="75997"/>
                      <a:pt x="289177" y="85495"/>
                      <a:pt x="283641" y="91773"/>
                    </a:cubicBezTo>
                    <a:cubicBezTo>
                      <a:pt x="278105" y="98052"/>
                      <a:pt x="268645" y="98953"/>
                      <a:pt x="262023" y="93833"/>
                    </a:cubicBezTo>
                    <a:lnTo>
                      <a:pt x="260531" y="92515"/>
                    </a:lnTo>
                    <a:lnTo>
                      <a:pt x="209318" y="41318"/>
                    </a:lnTo>
                    <a:lnTo>
                      <a:pt x="141071" y="123202"/>
                    </a:lnTo>
                    <a:cubicBezTo>
                      <a:pt x="136826" y="128294"/>
                      <a:pt x="129863" y="130212"/>
                      <a:pt x="123609" y="128012"/>
                    </a:cubicBezTo>
                    <a:lnTo>
                      <a:pt x="121783" y="127234"/>
                    </a:lnTo>
                    <a:lnTo>
                      <a:pt x="70126" y="101421"/>
                    </a:lnTo>
                    <a:lnTo>
                      <a:pt x="30454" y="154317"/>
                    </a:lnTo>
                    <a:cubicBezTo>
                      <a:pt x="25656" y="160716"/>
                      <a:pt x="16846" y="162546"/>
                      <a:pt x="9896" y="158587"/>
                    </a:cubicBezTo>
                    <a:lnTo>
                      <a:pt x="8229" y="157492"/>
                    </a:lnTo>
                    <a:cubicBezTo>
                      <a:pt x="1830" y="152693"/>
                      <a:pt x="0" y="143884"/>
                      <a:pt x="3959" y="136934"/>
                    </a:cubicBezTo>
                    <a:lnTo>
                      <a:pt x="5054" y="135267"/>
                    </a:lnTo>
                    <a:lnTo>
                      <a:pt x="52679" y="71767"/>
                    </a:lnTo>
                    <a:cubicBezTo>
                      <a:pt x="56858" y="66200"/>
                      <a:pt x="64176" y="64005"/>
                      <a:pt x="70729" y="66353"/>
                    </a:cubicBezTo>
                    <a:lnTo>
                      <a:pt x="72475" y="67099"/>
                    </a:lnTo>
                    <a:lnTo>
                      <a:pt x="124720" y="93214"/>
                    </a:lnTo>
                    <a:lnTo>
                      <a:pt x="196063" y="7631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613535" y="5269706"/>
              <a:ext cx="616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DAMPAK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10868" y="5536882"/>
              <a:ext cx="7999362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id-ID" sz="16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Web lama tanpa sitemap: ~30+ halaman harus ditemukan manual. Web baru: 214 URL</a:t>
              </a:r>
              <a:br/>
              <a:r>
                <a:rPr lang="id-ID" sz="16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terdaftar otomatis dan konsisten.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756285" y="6134100"/>
            <a:ext cx="10679430" cy="403384"/>
            <a:chOff x="756285" y="6134100"/>
            <a:chExt cx="10679430" cy="403384"/>
          </a:xfrm>
        </p:grpSpPr>
        <p:sp>
          <p:nvSpPr>
            <p:cNvPr id="49" name="Line 49"/>
            <p:cNvSpPr/>
            <p:nvPr/>
          </p:nvSpPr>
          <p:spPr>
            <a:xfrm>
              <a:off x="762000" y="61341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6285" y="6317456"/>
              <a:ext cx="45476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Sumber: permintaan HTTP langsung ke /sitemap.xml dan /robots.txt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61720" y="631745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6551103" cy="944023"/>
            <a:chOff x="745236" y="602456"/>
            <a:chExt cx="6551103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2605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KEAMANAN &amp; AKSESIBILITAS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655110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Perlindungan Berlapis, Terukur</a:t>
              </a:r>
            </a:p>
          </p:txBody>
        </p:sp>
      </p:grpSp>
      <p:grpSp>
        <p:nvGrpSpPr>
          <p:cNvPr id="37" name="sec-panel"/>
          <p:cNvGrpSpPr/>
          <p:nvPr/>
        </p:nvGrpSpPr>
        <p:grpSpPr>
          <a:xfrm>
            <a:off x="762000" y="1771650"/>
            <a:ext cx="6781800" cy="4284345"/>
            <a:chOff x="762000" y="1771650"/>
            <a:chExt cx="6781800" cy="4284345"/>
          </a:xfrm>
        </p:grpSpPr>
        <p:sp>
          <p:nvSpPr>
            <p:cNvPr id="5" name="Rectangle 5"/>
            <p:cNvSpPr/>
            <p:nvPr/>
          </p:nvSpPr>
          <p:spPr>
            <a:xfrm>
              <a:off x="762000" y="1771650"/>
              <a:ext cx="6781800" cy="4267200"/>
            </a:xfrm>
            <a:prstGeom prst="roundRect">
              <a:avLst>
                <a:gd name="adj" fmla="val 3571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050806" y="204787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149344" y="100012"/>
                  </a:moveTo>
                  <a:cubicBezTo>
                    <a:pt x="134391" y="100008"/>
                    <a:pt x="121962" y="111533"/>
                    <a:pt x="120841" y="126444"/>
                  </a:cubicBezTo>
                  <a:lnTo>
                    <a:pt x="120769" y="128588"/>
                  </a:lnTo>
                  <a:lnTo>
                    <a:pt x="120841" y="130731"/>
                  </a:lnTo>
                  <a:cubicBezTo>
                    <a:pt x="121556" y="140147"/>
                    <a:pt x="126877" y="148601"/>
                    <a:pt x="135057" y="153319"/>
                  </a:cubicBezTo>
                  <a:lnTo>
                    <a:pt x="135057" y="178594"/>
                  </a:lnTo>
                  <a:lnTo>
                    <a:pt x="135157" y="180265"/>
                  </a:lnTo>
                  <a:cubicBezTo>
                    <a:pt x="136050" y="187772"/>
                    <a:pt x="142635" y="193284"/>
                    <a:pt x="150182" y="192841"/>
                  </a:cubicBezTo>
                  <a:cubicBezTo>
                    <a:pt x="157728" y="192398"/>
                    <a:pt x="163623" y="186153"/>
                    <a:pt x="163632" y="178594"/>
                  </a:cubicBezTo>
                  <a:lnTo>
                    <a:pt x="163646" y="153333"/>
                  </a:lnTo>
                  <a:cubicBezTo>
                    <a:pt x="174848" y="146865"/>
                    <a:pt x="180308" y="133679"/>
                    <a:pt x="176957" y="121185"/>
                  </a:cubicBezTo>
                  <a:cubicBezTo>
                    <a:pt x="173606" y="108691"/>
                    <a:pt x="162280" y="100007"/>
                    <a:pt x="149344" y="100012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95806" y="1977390"/>
              <a:ext cx="3762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Header keamanan respons HTTP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99235" y="2297906"/>
              <a:ext cx="2385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diukur langsung dari respons server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28700" y="2647950"/>
              <a:ext cx="6248400" cy="381000"/>
            </a:xfrm>
            <a:prstGeom prst="roundRect">
              <a:avLst>
                <a:gd name="adj" fmla="val 20000"/>
              </a:avLst>
            </a:prstGeom>
            <a:gradFill>
              <a:gsLst>
                <a:gs pos="0">
                  <a:srgbClr val="22D3EE">
                    <a:alpha val="10000"/>
                  </a:srgbClr>
                </a:gs>
                <a:gs pos="100000">
                  <a:srgbClr val="22D3EE">
                    <a:alpha val="2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4435" y="2774156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93A4BD"/>
                  </a:solidFill>
                  <a:latin typeface="+mj-lt"/>
                  <a:ea typeface="+mj-ea"/>
                  <a:cs typeface="+mj-cs"/>
                </a:rPr>
                <a:t>HEADER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53045" y="2774156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b="1" dirty="0">
                  <a:solidFill>
                    <a:srgbClr val="93A4BD"/>
                  </a:solidFill>
                  <a:latin typeface="+mj-lt"/>
                  <a:ea typeface="+mj-ea"/>
                  <a:cs typeface="+mj-cs"/>
                </a:rPr>
                <a:t>LAMA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86545" y="2774156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b="1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BARU</a:t>
              </a:r>
            </a:p>
          </p:txBody>
        </p:sp>
        <p:grpSp>
          <p:nvGrpSpPr>
            <p:cNvPr id="16" name="sec-row-1"/>
            <p:cNvGrpSpPr/>
            <p:nvPr/>
          </p:nvGrpSpPr>
          <p:grpSpPr>
            <a:xfrm>
              <a:off x="1193292" y="3245168"/>
              <a:ext cx="5556850" cy="264033"/>
              <a:chOff x="1193292" y="3245168"/>
              <a:chExt cx="5556850" cy="26403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193292" y="3245168"/>
                <a:ext cx="25880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35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Strict-Transport-Security (HSTS)</a:t>
                </a: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5260088" y="3261307"/>
                <a:ext cx="177310" cy="125834"/>
              </a:xfrm>
              <a:custGeom>
                <a:avLst/>
                <a:gdLst/>
                <a:ahLst/>
                <a:cxnLst/>
                <a:rect l="l" t="t" r="r" b="b"/>
                <a:pathLst>
                  <a:path w="177310" h="125834">
                    <a:moveTo>
                      <a:pt x="173282" y="4028"/>
                    </a:moveTo>
                    <a:cubicBezTo>
                      <a:pt x="177310" y="8058"/>
                      <a:pt x="177310" y="14589"/>
                      <a:pt x="173282" y="18619"/>
                    </a:cubicBezTo>
                    <a:lnTo>
                      <a:pt x="70095" y="121806"/>
                    </a:lnTo>
                    <a:cubicBezTo>
                      <a:pt x="66065" y="125834"/>
                      <a:pt x="59534" y="125834"/>
                      <a:pt x="55504" y="121806"/>
                    </a:cubicBezTo>
                    <a:lnTo>
                      <a:pt x="3911" y="70213"/>
                    </a:lnTo>
                    <a:cubicBezTo>
                      <a:pt x="0" y="66164"/>
                      <a:pt x="56" y="59728"/>
                      <a:pt x="4036" y="55748"/>
                    </a:cubicBezTo>
                    <a:cubicBezTo>
                      <a:pt x="8016" y="51767"/>
                      <a:pt x="14452" y="51711"/>
                      <a:pt x="18501" y="55622"/>
                    </a:cubicBezTo>
                    <a:lnTo>
                      <a:pt x="62799" y="99920"/>
                    </a:lnTo>
                    <a:lnTo>
                      <a:pt x="158691" y="4028"/>
                    </a:lnTo>
                    <a:cubicBezTo>
                      <a:pt x="162721" y="0"/>
                      <a:pt x="169252" y="0"/>
                      <a:pt x="173282" y="4028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603906" y="3251106"/>
                <a:ext cx="146236" cy="146236"/>
              </a:xfrm>
              <a:custGeom>
                <a:avLst/>
                <a:gdLst/>
                <a:ahLst/>
                <a:cxnLst/>
                <a:rect l="l" t="t" r="r" b="b"/>
                <a:pathLst>
                  <a:path w="146236" h="146236">
                    <a:moveTo>
                      <a:pt x="18501" y="3911"/>
                    </a:moveTo>
                    <a:lnTo>
                      <a:pt x="73118" y="58517"/>
                    </a:lnTo>
                    <a:lnTo>
                      <a:pt x="127735" y="3911"/>
                    </a:lnTo>
                    <a:cubicBezTo>
                      <a:pt x="131784" y="0"/>
                      <a:pt x="138220" y="56"/>
                      <a:pt x="142200" y="4036"/>
                    </a:cubicBezTo>
                    <a:cubicBezTo>
                      <a:pt x="146180" y="8016"/>
                      <a:pt x="146236" y="14452"/>
                      <a:pt x="142326" y="18501"/>
                    </a:cubicBezTo>
                    <a:lnTo>
                      <a:pt x="87719" y="73118"/>
                    </a:lnTo>
                    <a:lnTo>
                      <a:pt x="142326" y="127735"/>
                    </a:lnTo>
                    <a:cubicBezTo>
                      <a:pt x="146236" y="131784"/>
                      <a:pt x="146180" y="138220"/>
                      <a:pt x="142200" y="142200"/>
                    </a:cubicBezTo>
                    <a:cubicBezTo>
                      <a:pt x="138220" y="146180"/>
                      <a:pt x="131784" y="146236"/>
                      <a:pt x="127735" y="142326"/>
                    </a:cubicBezTo>
                    <a:lnTo>
                      <a:pt x="73118" y="87719"/>
                    </a:lnTo>
                    <a:lnTo>
                      <a:pt x="18501" y="142326"/>
                    </a:lnTo>
                    <a:cubicBezTo>
                      <a:pt x="15910" y="145008"/>
                      <a:pt x="12074" y="146084"/>
                      <a:pt x="8466" y="145140"/>
                    </a:cubicBezTo>
                    <a:cubicBezTo>
                      <a:pt x="4858" y="144195"/>
                      <a:pt x="2041" y="141378"/>
                      <a:pt x="1097" y="137770"/>
                    </a:cubicBezTo>
                    <a:cubicBezTo>
                      <a:pt x="152" y="134162"/>
                      <a:pt x="1228" y="130326"/>
                      <a:pt x="3911" y="127735"/>
                    </a:cubicBezTo>
                    <a:lnTo>
                      <a:pt x="58517" y="73118"/>
                    </a:lnTo>
                    <a:lnTo>
                      <a:pt x="3911" y="18501"/>
                    </a:lnTo>
                    <a:cubicBezTo>
                      <a:pt x="0" y="14452"/>
                      <a:pt x="56" y="8016"/>
                      <a:pt x="4036" y="4036"/>
                    </a:cubicBezTo>
                    <a:cubicBezTo>
                      <a:pt x="8016" y="56"/>
                      <a:pt x="14452" y="0"/>
                      <a:pt x="18501" y="3911"/>
                    </a:cubicBezTo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</p:sp>
        </p:grpSp>
        <p:grpSp>
          <p:nvGrpSpPr>
            <p:cNvPr id="20" name="sec-row-2"/>
            <p:cNvGrpSpPr/>
            <p:nvPr/>
          </p:nvGrpSpPr>
          <p:grpSpPr>
            <a:xfrm>
              <a:off x="1193292" y="3740468"/>
              <a:ext cx="5577606" cy="264033"/>
              <a:chOff x="1193292" y="3740468"/>
              <a:chExt cx="5577606" cy="26403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193292" y="3740468"/>
                <a:ext cx="26618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35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X-Content-Type-Options: nosniff</a:t>
                </a: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5270406" y="3746406"/>
                <a:ext cx="146236" cy="146236"/>
              </a:xfrm>
              <a:custGeom>
                <a:avLst/>
                <a:gdLst/>
                <a:ahLst/>
                <a:cxnLst/>
                <a:rect l="l" t="t" r="r" b="b"/>
                <a:pathLst>
                  <a:path w="146236" h="146236">
                    <a:moveTo>
                      <a:pt x="18501" y="3911"/>
                    </a:moveTo>
                    <a:lnTo>
                      <a:pt x="73118" y="58517"/>
                    </a:lnTo>
                    <a:lnTo>
                      <a:pt x="127735" y="3911"/>
                    </a:lnTo>
                    <a:cubicBezTo>
                      <a:pt x="131784" y="0"/>
                      <a:pt x="138220" y="56"/>
                      <a:pt x="142200" y="4036"/>
                    </a:cubicBezTo>
                    <a:cubicBezTo>
                      <a:pt x="146180" y="8016"/>
                      <a:pt x="146236" y="14452"/>
                      <a:pt x="142326" y="18501"/>
                    </a:cubicBezTo>
                    <a:lnTo>
                      <a:pt x="87719" y="73118"/>
                    </a:lnTo>
                    <a:lnTo>
                      <a:pt x="142326" y="127735"/>
                    </a:lnTo>
                    <a:cubicBezTo>
                      <a:pt x="146236" y="131784"/>
                      <a:pt x="146180" y="138220"/>
                      <a:pt x="142200" y="142200"/>
                    </a:cubicBezTo>
                    <a:cubicBezTo>
                      <a:pt x="138220" y="146180"/>
                      <a:pt x="131784" y="146236"/>
                      <a:pt x="127735" y="142326"/>
                    </a:cubicBezTo>
                    <a:lnTo>
                      <a:pt x="73118" y="87719"/>
                    </a:lnTo>
                    <a:lnTo>
                      <a:pt x="18501" y="142326"/>
                    </a:lnTo>
                    <a:cubicBezTo>
                      <a:pt x="15910" y="145008"/>
                      <a:pt x="12074" y="146084"/>
                      <a:pt x="8466" y="145140"/>
                    </a:cubicBezTo>
                    <a:cubicBezTo>
                      <a:pt x="4858" y="144195"/>
                      <a:pt x="2041" y="141378"/>
                      <a:pt x="1097" y="137770"/>
                    </a:cubicBezTo>
                    <a:cubicBezTo>
                      <a:pt x="152" y="134162"/>
                      <a:pt x="1228" y="130326"/>
                      <a:pt x="3911" y="127735"/>
                    </a:cubicBezTo>
                    <a:lnTo>
                      <a:pt x="58517" y="73118"/>
                    </a:lnTo>
                    <a:lnTo>
                      <a:pt x="3911" y="18501"/>
                    </a:lnTo>
                    <a:cubicBezTo>
                      <a:pt x="0" y="14452"/>
                      <a:pt x="56" y="8016"/>
                      <a:pt x="4036" y="4036"/>
                    </a:cubicBezTo>
                    <a:cubicBezTo>
                      <a:pt x="8016" y="56"/>
                      <a:pt x="14452" y="0"/>
                      <a:pt x="18501" y="3911"/>
                    </a:cubicBezTo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93588" y="3756607"/>
                <a:ext cx="177310" cy="125834"/>
              </a:xfrm>
              <a:custGeom>
                <a:avLst/>
                <a:gdLst/>
                <a:ahLst/>
                <a:cxnLst/>
                <a:rect l="l" t="t" r="r" b="b"/>
                <a:pathLst>
                  <a:path w="177310" h="125834">
                    <a:moveTo>
                      <a:pt x="173282" y="4028"/>
                    </a:moveTo>
                    <a:cubicBezTo>
                      <a:pt x="177310" y="8058"/>
                      <a:pt x="177310" y="14589"/>
                      <a:pt x="173282" y="18619"/>
                    </a:cubicBezTo>
                    <a:lnTo>
                      <a:pt x="70095" y="121806"/>
                    </a:lnTo>
                    <a:cubicBezTo>
                      <a:pt x="66065" y="125834"/>
                      <a:pt x="59534" y="125834"/>
                      <a:pt x="55504" y="121806"/>
                    </a:cubicBezTo>
                    <a:lnTo>
                      <a:pt x="3911" y="70213"/>
                    </a:lnTo>
                    <a:cubicBezTo>
                      <a:pt x="0" y="66164"/>
                      <a:pt x="56" y="59728"/>
                      <a:pt x="4036" y="55748"/>
                    </a:cubicBezTo>
                    <a:cubicBezTo>
                      <a:pt x="8016" y="51767"/>
                      <a:pt x="14452" y="51711"/>
                      <a:pt x="18501" y="55622"/>
                    </a:cubicBezTo>
                    <a:lnTo>
                      <a:pt x="62799" y="99920"/>
                    </a:lnTo>
                    <a:lnTo>
                      <a:pt x="158691" y="4028"/>
                    </a:lnTo>
                    <a:cubicBezTo>
                      <a:pt x="162721" y="0"/>
                      <a:pt x="169252" y="0"/>
                      <a:pt x="173282" y="4028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grpSp>
          <p:nvGrpSpPr>
            <p:cNvPr id="24" name="sec-row-3"/>
            <p:cNvGrpSpPr/>
            <p:nvPr/>
          </p:nvGrpSpPr>
          <p:grpSpPr>
            <a:xfrm>
              <a:off x="1193292" y="4235768"/>
              <a:ext cx="5577606" cy="264033"/>
              <a:chOff x="1193292" y="4235768"/>
              <a:chExt cx="5577606" cy="26403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193292" y="4235768"/>
                <a:ext cx="26406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35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X-Frame-Options: SAMEORIGIN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5270406" y="4241706"/>
                <a:ext cx="146236" cy="146236"/>
              </a:xfrm>
              <a:custGeom>
                <a:avLst/>
                <a:gdLst/>
                <a:ahLst/>
                <a:cxnLst/>
                <a:rect l="l" t="t" r="r" b="b"/>
                <a:pathLst>
                  <a:path w="146236" h="146236">
                    <a:moveTo>
                      <a:pt x="18501" y="3911"/>
                    </a:moveTo>
                    <a:lnTo>
                      <a:pt x="73118" y="58517"/>
                    </a:lnTo>
                    <a:lnTo>
                      <a:pt x="127735" y="3911"/>
                    </a:lnTo>
                    <a:cubicBezTo>
                      <a:pt x="131784" y="0"/>
                      <a:pt x="138220" y="56"/>
                      <a:pt x="142200" y="4036"/>
                    </a:cubicBezTo>
                    <a:cubicBezTo>
                      <a:pt x="146180" y="8016"/>
                      <a:pt x="146236" y="14452"/>
                      <a:pt x="142326" y="18501"/>
                    </a:cubicBezTo>
                    <a:lnTo>
                      <a:pt x="87719" y="73118"/>
                    </a:lnTo>
                    <a:lnTo>
                      <a:pt x="142326" y="127735"/>
                    </a:lnTo>
                    <a:cubicBezTo>
                      <a:pt x="146236" y="131784"/>
                      <a:pt x="146180" y="138220"/>
                      <a:pt x="142200" y="142200"/>
                    </a:cubicBezTo>
                    <a:cubicBezTo>
                      <a:pt x="138220" y="146180"/>
                      <a:pt x="131784" y="146236"/>
                      <a:pt x="127735" y="142326"/>
                    </a:cubicBezTo>
                    <a:lnTo>
                      <a:pt x="73118" y="87719"/>
                    </a:lnTo>
                    <a:lnTo>
                      <a:pt x="18501" y="142326"/>
                    </a:lnTo>
                    <a:cubicBezTo>
                      <a:pt x="15910" y="145008"/>
                      <a:pt x="12074" y="146084"/>
                      <a:pt x="8466" y="145140"/>
                    </a:cubicBezTo>
                    <a:cubicBezTo>
                      <a:pt x="4858" y="144195"/>
                      <a:pt x="2041" y="141378"/>
                      <a:pt x="1097" y="137770"/>
                    </a:cubicBezTo>
                    <a:cubicBezTo>
                      <a:pt x="152" y="134162"/>
                      <a:pt x="1228" y="130326"/>
                      <a:pt x="3911" y="127735"/>
                    </a:cubicBezTo>
                    <a:lnTo>
                      <a:pt x="58517" y="73118"/>
                    </a:lnTo>
                    <a:lnTo>
                      <a:pt x="3911" y="18501"/>
                    </a:lnTo>
                    <a:cubicBezTo>
                      <a:pt x="0" y="14452"/>
                      <a:pt x="56" y="8016"/>
                      <a:pt x="4036" y="4036"/>
                    </a:cubicBezTo>
                    <a:cubicBezTo>
                      <a:pt x="8016" y="56"/>
                      <a:pt x="14452" y="0"/>
                      <a:pt x="18501" y="3911"/>
                    </a:cubicBezTo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93588" y="4251907"/>
                <a:ext cx="177310" cy="125834"/>
              </a:xfrm>
              <a:custGeom>
                <a:avLst/>
                <a:gdLst/>
                <a:ahLst/>
                <a:cxnLst/>
                <a:rect l="l" t="t" r="r" b="b"/>
                <a:pathLst>
                  <a:path w="177310" h="125834">
                    <a:moveTo>
                      <a:pt x="173282" y="4028"/>
                    </a:moveTo>
                    <a:cubicBezTo>
                      <a:pt x="177310" y="8058"/>
                      <a:pt x="177310" y="14589"/>
                      <a:pt x="173282" y="18619"/>
                    </a:cubicBezTo>
                    <a:lnTo>
                      <a:pt x="70095" y="121806"/>
                    </a:lnTo>
                    <a:cubicBezTo>
                      <a:pt x="66065" y="125834"/>
                      <a:pt x="59534" y="125834"/>
                      <a:pt x="55504" y="121806"/>
                    </a:cubicBezTo>
                    <a:lnTo>
                      <a:pt x="3911" y="70213"/>
                    </a:lnTo>
                    <a:cubicBezTo>
                      <a:pt x="0" y="66164"/>
                      <a:pt x="56" y="59728"/>
                      <a:pt x="4036" y="55748"/>
                    </a:cubicBezTo>
                    <a:cubicBezTo>
                      <a:pt x="8016" y="51767"/>
                      <a:pt x="14452" y="51711"/>
                      <a:pt x="18501" y="55622"/>
                    </a:cubicBezTo>
                    <a:lnTo>
                      <a:pt x="62799" y="99920"/>
                    </a:lnTo>
                    <a:lnTo>
                      <a:pt x="158691" y="4028"/>
                    </a:lnTo>
                    <a:cubicBezTo>
                      <a:pt x="162721" y="0"/>
                      <a:pt x="169252" y="0"/>
                      <a:pt x="173282" y="4028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grpSp>
          <p:nvGrpSpPr>
            <p:cNvPr id="28" name="sec-row-4"/>
            <p:cNvGrpSpPr/>
            <p:nvPr/>
          </p:nvGrpSpPr>
          <p:grpSpPr>
            <a:xfrm>
              <a:off x="1193292" y="4731068"/>
              <a:ext cx="5577606" cy="264033"/>
              <a:chOff x="1193292" y="4731068"/>
              <a:chExt cx="5577606" cy="26403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1193292" y="4731068"/>
                <a:ext cx="12044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35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Referrer-Policy</a:t>
                </a: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5270406" y="4737006"/>
                <a:ext cx="146236" cy="146236"/>
              </a:xfrm>
              <a:custGeom>
                <a:avLst/>
                <a:gdLst/>
                <a:ahLst/>
                <a:cxnLst/>
                <a:rect l="l" t="t" r="r" b="b"/>
                <a:pathLst>
                  <a:path w="146236" h="146236">
                    <a:moveTo>
                      <a:pt x="18501" y="3911"/>
                    </a:moveTo>
                    <a:lnTo>
                      <a:pt x="73118" y="58517"/>
                    </a:lnTo>
                    <a:lnTo>
                      <a:pt x="127735" y="3911"/>
                    </a:lnTo>
                    <a:cubicBezTo>
                      <a:pt x="131784" y="0"/>
                      <a:pt x="138220" y="56"/>
                      <a:pt x="142200" y="4036"/>
                    </a:cubicBezTo>
                    <a:cubicBezTo>
                      <a:pt x="146180" y="8016"/>
                      <a:pt x="146236" y="14452"/>
                      <a:pt x="142326" y="18501"/>
                    </a:cubicBezTo>
                    <a:lnTo>
                      <a:pt x="87719" y="73118"/>
                    </a:lnTo>
                    <a:lnTo>
                      <a:pt x="142326" y="127735"/>
                    </a:lnTo>
                    <a:cubicBezTo>
                      <a:pt x="146236" y="131784"/>
                      <a:pt x="146180" y="138220"/>
                      <a:pt x="142200" y="142200"/>
                    </a:cubicBezTo>
                    <a:cubicBezTo>
                      <a:pt x="138220" y="146180"/>
                      <a:pt x="131784" y="146236"/>
                      <a:pt x="127735" y="142326"/>
                    </a:cubicBezTo>
                    <a:lnTo>
                      <a:pt x="73118" y="87719"/>
                    </a:lnTo>
                    <a:lnTo>
                      <a:pt x="18501" y="142326"/>
                    </a:lnTo>
                    <a:cubicBezTo>
                      <a:pt x="15910" y="145008"/>
                      <a:pt x="12074" y="146084"/>
                      <a:pt x="8466" y="145140"/>
                    </a:cubicBezTo>
                    <a:cubicBezTo>
                      <a:pt x="4858" y="144195"/>
                      <a:pt x="2041" y="141378"/>
                      <a:pt x="1097" y="137770"/>
                    </a:cubicBezTo>
                    <a:cubicBezTo>
                      <a:pt x="152" y="134162"/>
                      <a:pt x="1228" y="130326"/>
                      <a:pt x="3911" y="127735"/>
                    </a:cubicBezTo>
                    <a:lnTo>
                      <a:pt x="58517" y="73118"/>
                    </a:lnTo>
                    <a:lnTo>
                      <a:pt x="3911" y="18501"/>
                    </a:lnTo>
                    <a:cubicBezTo>
                      <a:pt x="0" y="14452"/>
                      <a:pt x="56" y="8016"/>
                      <a:pt x="4036" y="4036"/>
                    </a:cubicBezTo>
                    <a:cubicBezTo>
                      <a:pt x="8016" y="56"/>
                      <a:pt x="14452" y="0"/>
                      <a:pt x="18501" y="3911"/>
                    </a:cubicBezTo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93588" y="4747207"/>
                <a:ext cx="177310" cy="125834"/>
              </a:xfrm>
              <a:custGeom>
                <a:avLst/>
                <a:gdLst/>
                <a:ahLst/>
                <a:cxnLst/>
                <a:rect l="l" t="t" r="r" b="b"/>
                <a:pathLst>
                  <a:path w="177310" h="125834">
                    <a:moveTo>
                      <a:pt x="173282" y="4028"/>
                    </a:moveTo>
                    <a:cubicBezTo>
                      <a:pt x="177310" y="8058"/>
                      <a:pt x="177310" y="14589"/>
                      <a:pt x="173282" y="18619"/>
                    </a:cubicBezTo>
                    <a:lnTo>
                      <a:pt x="70095" y="121806"/>
                    </a:lnTo>
                    <a:cubicBezTo>
                      <a:pt x="66065" y="125834"/>
                      <a:pt x="59534" y="125834"/>
                      <a:pt x="55504" y="121806"/>
                    </a:cubicBezTo>
                    <a:lnTo>
                      <a:pt x="3911" y="70213"/>
                    </a:lnTo>
                    <a:cubicBezTo>
                      <a:pt x="0" y="66164"/>
                      <a:pt x="56" y="59728"/>
                      <a:pt x="4036" y="55748"/>
                    </a:cubicBezTo>
                    <a:cubicBezTo>
                      <a:pt x="8016" y="51767"/>
                      <a:pt x="14452" y="51711"/>
                      <a:pt x="18501" y="55622"/>
                    </a:cubicBezTo>
                    <a:lnTo>
                      <a:pt x="62799" y="99920"/>
                    </a:lnTo>
                    <a:lnTo>
                      <a:pt x="158691" y="4028"/>
                    </a:lnTo>
                    <a:cubicBezTo>
                      <a:pt x="162721" y="0"/>
                      <a:pt x="169252" y="0"/>
                      <a:pt x="173282" y="4028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grpSp>
          <p:nvGrpSpPr>
            <p:cNvPr id="32" name="sec-row-5"/>
            <p:cNvGrpSpPr/>
            <p:nvPr/>
          </p:nvGrpSpPr>
          <p:grpSpPr>
            <a:xfrm>
              <a:off x="1193292" y="5226368"/>
              <a:ext cx="5577606" cy="264033"/>
              <a:chOff x="1193292" y="5226368"/>
              <a:chExt cx="5577606" cy="264033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1193292" y="5226368"/>
                <a:ext cx="3076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350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Permissions-Policy (kamera, mikrofon)</a:t>
                </a:r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5270406" y="5232306"/>
                <a:ext cx="146236" cy="146236"/>
              </a:xfrm>
              <a:custGeom>
                <a:avLst/>
                <a:gdLst/>
                <a:ahLst/>
                <a:cxnLst/>
                <a:rect l="l" t="t" r="r" b="b"/>
                <a:pathLst>
                  <a:path w="146236" h="146236">
                    <a:moveTo>
                      <a:pt x="18501" y="3911"/>
                    </a:moveTo>
                    <a:lnTo>
                      <a:pt x="73118" y="58517"/>
                    </a:lnTo>
                    <a:lnTo>
                      <a:pt x="127735" y="3911"/>
                    </a:lnTo>
                    <a:cubicBezTo>
                      <a:pt x="131784" y="0"/>
                      <a:pt x="138220" y="56"/>
                      <a:pt x="142200" y="4036"/>
                    </a:cubicBezTo>
                    <a:cubicBezTo>
                      <a:pt x="146180" y="8016"/>
                      <a:pt x="146236" y="14452"/>
                      <a:pt x="142326" y="18501"/>
                    </a:cubicBezTo>
                    <a:lnTo>
                      <a:pt x="87719" y="73118"/>
                    </a:lnTo>
                    <a:lnTo>
                      <a:pt x="142326" y="127735"/>
                    </a:lnTo>
                    <a:cubicBezTo>
                      <a:pt x="146236" y="131784"/>
                      <a:pt x="146180" y="138220"/>
                      <a:pt x="142200" y="142200"/>
                    </a:cubicBezTo>
                    <a:cubicBezTo>
                      <a:pt x="138220" y="146180"/>
                      <a:pt x="131784" y="146236"/>
                      <a:pt x="127735" y="142326"/>
                    </a:cubicBezTo>
                    <a:lnTo>
                      <a:pt x="73118" y="87719"/>
                    </a:lnTo>
                    <a:lnTo>
                      <a:pt x="18501" y="142326"/>
                    </a:lnTo>
                    <a:cubicBezTo>
                      <a:pt x="15910" y="145008"/>
                      <a:pt x="12074" y="146084"/>
                      <a:pt x="8466" y="145140"/>
                    </a:cubicBezTo>
                    <a:cubicBezTo>
                      <a:pt x="4858" y="144195"/>
                      <a:pt x="2041" y="141378"/>
                      <a:pt x="1097" y="137770"/>
                    </a:cubicBezTo>
                    <a:cubicBezTo>
                      <a:pt x="152" y="134162"/>
                      <a:pt x="1228" y="130326"/>
                      <a:pt x="3911" y="127735"/>
                    </a:cubicBezTo>
                    <a:lnTo>
                      <a:pt x="58517" y="73118"/>
                    </a:lnTo>
                    <a:lnTo>
                      <a:pt x="3911" y="18501"/>
                    </a:lnTo>
                    <a:cubicBezTo>
                      <a:pt x="0" y="14452"/>
                      <a:pt x="56" y="8016"/>
                      <a:pt x="4036" y="4036"/>
                    </a:cubicBezTo>
                    <a:cubicBezTo>
                      <a:pt x="8016" y="56"/>
                      <a:pt x="14452" y="0"/>
                      <a:pt x="18501" y="3911"/>
                    </a:cubicBezTo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93588" y="5242507"/>
                <a:ext cx="177310" cy="125834"/>
              </a:xfrm>
              <a:custGeom>
                <a:avLst/>
                <a:gdLst/>
                <a:ahLst/>
                <a:cxnLst/>
                <a:rect l="l" t="t" r="r" b="b"/>
                <a:pathLst>
                  <a:path w="177310" h="125834">
                    <a:moveTo>
                      <a:pt x="173282" y="4028"/>
                    </a:moveTo>
                    <a:cubicBezTo>
                      <a:pt x="177310" y="8058"/>
                      <a:pt x="177310" y="14589"/>
                      <a:pt x="173282" y="18619"/>
                    </a:cubicBezTo>
                    <a:lnTo>
                      <a:pt x="70095" y="121806"/>
                    </a:lnTo>
                    <a:cubicBezTo>
                      <a:pt x="66065" y="125834"/>
                      <a:pt x="59534" y="125834"/>
                      <a:pt x="55504" y="121806"/>
                    </a:cubicBezTo>
                    <a:lnTo>
                      <a:pt x="3911" y="70213"/>
                    </a:lnTo>
                    <a:cubicBezTo>
                      <a:pt x="0" y="66164"/>
                      <a:pt x="56" y="59728"/>
                      <a:pt x="4036" y="55748"/>
                    </a:cubicBezTo>
                    <a:cubicBezTo>
                      <a:pt x="8016" y="51767"/>
                      <a:pt x="14452" y="51711"/>
                      <a:pt x="18501" y="55622"/>
                    </a:cubicBezTo>
                    <a:lnTo>
                      <a:pt x="62799" y="99920"/>
                    </a:lnTo>
                    <a:lnTo>
                      <a:pt x="158691" y="4028"/>
                    </a:lnTo>
                    <a:cubicBezTo>
                      <a:pt x="162721" y="0"/>
                      <a:pt x="169252" y="0"/>
                      <a:pt x="173282" y="4028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33" name="Line 33"/>
            <p:cNvSpPr/>
            <p:nvPr/>
          </p:nvSpPr>
          <p:spPr>
            <a:xfrm>
              <a:off x="1028700" y="5638800"/>
              <a:ext cx="6248400" cy="9525"/>
            </a:xfrm>
            <a:custGeom>
              <a:avLst/>
              <a:gdLst/>
              <a:ahLst/>
              <a:cxnLst/>
              <a:rect l="l" t="t" r="r" b="b"/>
              <a:pathLst>
                <a:path w="6248400" h="9525">
                  <a:moveTo>
                    <a:pt x="0" y="0"/>
                  </a:moveTo>
                  <a:lnTo>
                    <a:pt x="62484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93292" y="5778818"/>
              <a:ext cx="2567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35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Total header keamanan terukur: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68305" y="5762625"/>
              <a:ext cx="131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50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1805" y="5762625"/>
              <a:ext cx="131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53" name="a11y-panel"/>
          <p:cNvGrpSpPr/>
          <p:nvPr/>
        </p:nvGrpSpPr>
        <p:grpSpPr>
          <a:xfrm>
            <a:off x="7848600" y="1771650"/>
            <a:ext cx="3581400" cy="4267200"/>
            <a:chOff x="7848600" y="1771650"/>
            <a:chExt cx="3581400" cy="4267200"/>
          </a:xfrm>
        </p:grpSpPr>
        <p:sp>
          <p:nvSpPr>
            <p:cNvPr id="38" name="Rectangle 38"/>
            <p:cNvSpPr/>
            <p:nvPr/>
          </p:nvSpPr>
          <p:spPr>
            <a:xfrm>
              <a:off x="7848600" y="1771650"/>
              <a:ext cx="3581400" cy="4267200"/>
            </a:xfrm>
            <a:prstGeom prst="roundRect">
              <a:avLst>
                <a:gd name="adj" fmla="val 4255"/>
              </a:avLst>
            </a:prstGeom>
            <a:solidFill>
              <a:srgbClr val="22D3EE">
                <a:alpha val="6000"/>
              </a:srgbClr>
            </a:solidFill>
            <a:ln w="14288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143875" y="204147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9296" y="123329"/>
                  </a:moveTo>
                  <a:cubicBezTo>
                    <a:pt x="197006" y="116454"/>
                    <a:pt x="189932" y="112383"/>
                    <a:pt x="182837" y="113856"/>
                  </a:cubicBezTo>
                  <a:lnTo>
                    <a:pt x="181223" y="114285"/>
                  </a:lnTo>
                  <a:lnTo>
                    <a:pt x="142875" y="127072"/>
                  </a:lnTo>
                  <a:lnTo>
                    <a:pt x="104527" y="114285"/>
                  </a:lnTo>
                  <a:lnTo>
                    <a:pt x="102913" y="113856"/>
                  </a:lnTo>
                  <a:cubicBezTo>
                    <a:pt x="95825" y="112398"/>
                    <a:pt x="88767" y="116468"/>
                    <a:pt x="86478" y="123332"/>
                  </a:cubicBezTo>
                  <a:cubicBezTo>
                    <a:pt x="84190" y="130197"/>
                    <a:pt x="87395" y="137688"/>
                    <a:pt x="93940" y="140774"/>
                  </a:cubicBezTo>
                  <a:lnTo>
                    <a:pt x="95498" y="141403"/>
                  </a:lnTo>
                  <a:lnTo>
                    <a:pt x="128588" y="152418"/>
                  </a:lnTo>
                  <a:lnTo>
                    <a:pt x="128588" y="166363"/>
                  </a:lnTo>
                  <a:lnTo>
                    <a:pt x="102413" y="205653"/>
                  </a:lnTo>
                  <a:lnTo>
                    <a:pt x="101556" y="207082"/>
                  </a:lnTo>
                  <a:cubicBezTo>
                    <a:pt x="98575" y="212938"/>
                    <a:pt x="99972" y="220072"/>
                    <a:pt x="104942" y="224370"/>
                  </a:cubicBezTo>
                  <a:lnTo>
                    <a:pt x="106370" y="225456"/>
                  </a:lnTo>
                  <a:lnTo>
                    <a:pt x="107813" y="226313"/>
                  </a:lnTo>
                  <a:cubicBezTo>
                    <a:pt x="113669" y="229294"/>
                    <a:pt x="120803" y="227897"/>
                    <a:pt x="125101" y="222927"/>
                  </a:cubicBezTo>
                  <a:lnTo>
                    <a:pt x="126187" y="221498"/>
                  </a:lnTo>
                  <a:lnTo>
                    <a:pt x="142875" y="196467"/>
                  </a:lnTo>
                  <a:lnTo>
                    <a:pt x="159563" y="221498"/>
                  </a:lnTo>
                  <a:lnTo>
                    <a:pt x="160563" y="222827"/>
                  </a:lnTo>
                  <a:cubicBezTo>
                    <a:pt x="165255" y="228358"/>
                    <a:pt x="173348" y="229495"/>
                    <a:pt x="179383" y="225472"/>
                  </a:cubicBezTo>
                  <a:cubicBezTo>
                    <a:pt x="185418" y="221448"/>
                    <a:pt x="187481" y="213541"/>
                    <a:pt x="184180" y="207082"/>
                  </a:cubicBezTo>
                  <a:lnTo>
                    <a:pt x="183337" y="205653"/>
                  </a:lnTo>
                  <a:lnTo>
                    <a:pt x="157162" y="166363"/>
                  </a:lnTo>
                  <a:lnTo>
                    <a:pt x="157162" y="152404"/>
                  </a:lnTo>
                  <a:lnTo>
                    <a:pt x="190252" y="141388"/>
                  </a:lnTo>
                  <a:lnTo>
                    <a:pt x="191810" y="140760"/>
                  </a:lnTo>
                  <a:cubicBezTo>
                    <a:pt x="198366" y="137683"/>
                    <a:pt x="201583" y="130187"/>
                    <a:pt x="199296" y="123315"/>
                  </a:cubicBezTo>
                  <a:close/>
                  <a:moveTo>
                    <a:pt x="142875" y="63550"/>
                  </a:moveTo>
                  <a:cubicBezTo>
                    <a:pt x="135218" y="63550"/>
                    <a:pt x="128143" y="67635"/>
                    <a:pt x="124315" y="74266"/>
                  </a:cubicBezTo>
                  <a:cubicBezTo>
                    <a:pt x="120487" y="80896"/>
                    <a:pt x="120487" y="89066"/>
                    <a:pt x="124315" y="95697"/>
                  </a:cubicBezTo>
                  <a:cubicBezTo>
                    <a:pt x="128143" y="102328"/>
                    <a:pt x="135218" y="106412"/>
                    <a:pt x="142875" y="106412"/>
                  </a:cubicBezTo>
                  <a:cubicBezTo>
                    <a:pt x="154711" y="106412"/>
                    <a:pt x="164306" y="96817"/>
                    <a:pt x="164306" y="84981"/>
                  </a:cubicBezTo>
                  <a:cubicBezTo>
                    <a:pt x="164306" y="73145"/>
                    <a:pt x="154711" y="63550"/>
                    <a:pt x="142875" y="63550"/>
                  </a:cubicBezTo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06156" y="2529840"/>
              <a:ext cx="1431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Aksesibilitas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09585" y="2850356"/>
              <a:ext cx="1785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kontras WCAG AA (≥4,5:1)</a:t>
              </a:r>
            </a:p>
          </p:txBody>
        </p:sp>
        <p:grpSp>
          <p:nvGrpSpPr>
            <p:cNvPr id="44" name="a11y-1"/>
            <p:cNvGrpSpPr/>
            <p:nvPr/>
          </p:nvGrpSpPr>
          <p:grpSpPr>
            <a:xfrm>
              <a:off x="8100060" y="3162300"/>
              <a:ext cx="1739243" cy="695706"/>
              <a:chOff x="8100060" y="3162300"/>
              <a:chExt cx="1739243" cy="695706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8100060" y="3162300"/>
                <a:ext cx="780610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30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8×2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09204" y="3623310"/>
                <a:ext cx="17300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halaman × mode diukur</a:t>
                </a: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8115300" y="40386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22D3EE">
                  <a:alpha val="20000"/>
                </a:srgbClr>
              </a:solidFill>
            </a:ln>
          </p:spPr>
        </p:sp>
        <p:grpSp>
          <p:nvGrpSpPr>
            <p:cNvPr id="48" name="a11y-2"/>
            <p:cNvGrpSpPr/>
            <p:nvPr/>
          </p:nvGrpSpPr>
          <p:grpSpPr>
            <a:xfrm>
              <a:off x="8100060" y="4076700"/>
              <a:ext cx="1992066" cy="905256"/>
              <a:chOff x="8100060" y="4076700"/>
              <a:chExt cx="1992066" cy="90525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8100060" y="4076700"/>
                <a:ext cx="262780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30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109204" y="4537710"/>
                <a:ext cx="198292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bug kontras nyata ditemukan</a:t>
                </a:r>
                <a:br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dan diperbaiki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8115300" y="50673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22D3EE">
                  <a:alpha val="20000"/>
                </a:srgbClr>
              </a:solidFill>
            </a:ln>
          </p:spPr>
        </p:sp>
        <p:grpSp>
          <p:nvGrpSpPr>
            <p:cNvPr id="52" name="a11y-3"/>
            <p:cNvGrpSpPr/>
            <p:nvPr/>
          </p:nvGrpSpPr>
          <p:grpSpPr>
            <a:xfrm>
              <a:off x="8100060" y="5105400"/>
              <a:ext cx="1770111" cy="905256"/>
              <a:chOff x="8100060" y="5105400"/>
              <a:chExt cx="1770111" cy="905256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8100060" y="5105400"/>
                <a:ext cx="262780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30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109204" y="5566410"/>
                <a:ext cx="1760967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kegagalan kontras setelah</a:t>
                </a:r>
                <a:br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perbaikan</a:t>
                </a:r>
              </a:p>
            </p:txBody>
          </p:sp>
        </p:grpSp>
      </p:grpSp>
      <p:grpSp>
        <p:nvGrpSpPr>
          <p:cNvPr id="57" name="footer"/>
          <p:cNvGrpSpPr/>
          <p:nvPr/>
        </p:nvGrpSpPr>
        <p:grpSpPr>
          <a:xfrm>
            <a:off x="756285" y="6210300"/>
            <a:ext cx="10679430" cy="384334"/>
            <a:chOff x="756285" y="6210300"/>
            <a:chExt cx="10679430" cy="384334"/>
          </a:xfrm>
        </p:grpSpPr>
        <p:sp>
          <p:nvSpPr>
            <p:cNvPr id="54" name="Line 54"/>
            <p:cNvSpPr/>
            <p:nvPr/>
          </p:nvSpPr>
          <p:spPr>
            <a:xfrm>
              <a:off x="762000" y="6210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6285" y="6374606"/>
              <a:ext cx="547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Sumber: respons header HTTP + audit kontras via browser (resolusi warna kanvas)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61720" y="637460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8951435" cy="944023"/>
            <a:chOff x="745236" y="602456"/>
            <a:chExt cx="8951435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1079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FITUR BARU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895143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Kemampuan yang Belum Ada Sebelumnya</a:t>
              </a:r>
            </a:p>
          </p:txBody>
        </p:sp>
      </p:grpSp>
      <p:grpSp>
        <p:nvGrpSpPr>
          <p:cNvPr id="9" name="feat-1"/>
          <p:cNvGrpSpPr/>
          <p:nvPr/>
        </p:nvGrpSpPr>
        <p:grpSpPr>
          <a:xfrm>
            <a:off x="762000" y="1809750"/>
            <a:ext cx="2419350" cy="1162050"/>
            <a:chOff x="762000" y="1809750"/>
            <a:chExt cx="2419350" cy="1162050"/>
          </a:xfrm>
        </p:grpSpPr>
        <p:sp>
          <p:nvSpPr>
            <p:cNvPr id="5" name="Rectangle 5"/>
            <p:cNvSpPr/>
            <p:nvPr/>
          </p:nvSpPr>
          <p:spPr>
            <a:xfrm>
              <a:off x="762000" y="1809750"/>
              <a:ext cx="2419350" cy="1162050"/>
            </a:xfrm>
            <a:prstGeom prst="roundRect">
              <a:avLst>
                <a:gd name="adj" fmla="val 11475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984250" y="2065502"/>
              <a:ext cx="279399" cy="195148"/>
            </a:xfrm>
            <a:custGeom>
              <a:avLst/>
              <a:gdLst/>
              <a:ahLst/>
              <a:cxnLst/>
              <a:rect l="l" t="t" r="r" b="b"/>
              <a:pathLst>
                <a:path w="279399" h="195148">
                  <a:moveTo>
                    <a:pt x="114808" y="8471"/>
                  </a:moveTo>
                  <a:cubicBezTo>
                    <a:pt x="142684" y="0"/>
                    <a:pt x="173418" y="5626"/>
                    <a:pt x="195580" y="23406"/>
                  </a:cubicBezTo>
                  <a:cubicBezTo>
                    <a:pt x="213182" y="37478"/>
                    <a:pt x="223367" y="57518"/>
                    <a:pt x="224180" y="78524"/>
                  </a:cubicBezTo>
                  <a:lnTo>
                    <a:pt x="224218" y="81216"/>
                  </a:lnTo>
                  <a:lnTo>
                    <a:pt x="225374" y="81254"/>
                  </a:lnTo>
                  <a:cubicBezTo>
                    <a:pt x="254584" y="82613"/>
                    <a:pt x="277990" y="106159"/>
                    <a:pt x="279349" y="135483"/>
                  </a:cubicBezTo>
                  <a:lnTo>
                    <a:pt x="279399" y="138163"/>
                  </a:lnTo>
                  <a:cubicBezTo>
                    <a:pt x="279399" y="168732"/>
                    <a:pt x="255460" y="193687"/>
                    <a:pt x="225361" y="195084"/>
                  </a:cubicBezTo>
                  <a:lnTo>
                    <a:pt x="222694" y="195148"/>
                  </a:lnTo>
                  <a:lnTo>
                    <a:pt x="71844" y="195148"/>
                  </a:lnTo>
                  <a:lnTo>
                    <a:pt x="69024" y="195046"/>
                  </a:lnTo>
                  <a:cubicBezTo>
                    <a:pt x="31686" y="193649"/>
                    <a:pt x="1499" y="164579"/>
                    <a:pt x="63" y="128206"/>
                  </a:cubicBezTo>
                  <a:lnTo>
                    <a:pt x="0" y="125463"/>
                  </a:lnTo>
                  <a:cubicBezTo>
                    <a:pt x="0" y="90576"/>
                    <a:pt x="26416" y="61836"/>
                    <a:pt x="60757" y="56667"/>
                  </a:cubicBezTo>
                  <a:lnTo>
                    <a:pt x="62204" y="56464"/>
                  </a:lnTo>
                  <a:lnTo>
                    <a:pt x="63093" y="54165"/>
                  </a:lnTo>
                  <a:cubicBezTo>
                    <a:pt x="71514" y="33591"/>
                    <a:pt x="89205" y="17259"/>
                    <a:pt x="111722" y="9487"/>
                  </a:cubicBezTo>
                  <a:lnTo>
                    <a:pt x="114820" y="8471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64311" y="2417921"/>
              <a:ext cx="12012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Cuaca BMKG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65835" y="2678906"/>
              <a:ext cx="20446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prakiraan 3 hari, tanpa API key</a:t>
              </a:r>
            </a:p>
          </p:txBody>
        </p:sp>
      </p:grpSp>
      <p:grpSp>
        <p:nvGrpSpPr>
          <p:cNvPr id="14" name="feat-2"/>
          <p:cNvGrpSpPr/>
          <p:nvPr/>
        </p:nvGrpSpPr>
        <p:grpSpPr>
          <a:xfrm>
            <a:off x="3486150" y="1809750"/>
            <a:ext cx="2419350" cy="1162050"/>
            <a:chOff x="3486150" y="1809750"/>
            <a:chExt cx="2419350" cy="1162050"/>
          </a:xfrm>
        </p:grpSpPr>
        <p:sp>
          <p:nvSpPr>
            <p:cNvPr id="10" name="Rectangle 10"/>
            <p:cNvSpPr/>
            <p:nvPr/>
          </p:nvSpPr>
          <p:spPr>
            <a:xfrm>
              <a:off x="3486150" y="1809750"/>
              <a:ext cx="2419350" cy="1162050"/>
            </a:xfrm>
            <a:prstGeom prst="roundRect">
              <a:avLst>
                <a:gd name="adj" fmla="val 11475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10984" y="2032779"/>
              <a:ext cx="265207" cy="267012"/>
            </a:xfrm>
            <a:custGeom>
              <a:avLst/>
              <a:gdLst/>
              <a:ahLst/>
              <a:cxnLst/>
              <a:rect l="l" t="t" r="r" b="b"/>
              <a:pathLst>
                <a:path w="265207" h="267012">
                  <a:moveTo>
                    <a:pt x="162515" y="25536"/>
                  </a:moveTo>
                  <a:cubicBezTo>
                    <a:pt x="187942" y="40213"/>
                    <a:pt x="205776" y="65171"/>
                    <a:pt x="211424" y="93981"/>
                  </a:cubicBezTo>
                  <a:cubicBezTo>
                    <a:pt x="217072" y="122791"/>
                    <a:pt x="209982" y="152636"/>
                    <a:pt x="191979" y="175827"/>
                  </a:cubicBezTo>
                  <a:lnTo>
                    <a:pt x="260394" y="244242"/>
                  </a:lnTo>
                  <a:cubicBezTo>
                    <a:pt x="265207" y="249225"/>
                    <a:pt x="265138" y="257146"/>
                    <a:pt x="260239" y="262045"/>
                  </a:cubicBezTo>
                  <a:cubicBezTo>
                    <a:pt x="255341" y="266944"/>
                    <a:pt x="247419" y="267012"/>
                    <a:pt x="242436" y="262199"/>
                  </a:cubicBezTo>
                  <a:lnTo>
                    <a:pt x="174009" y="193785"/>
                  </a:lnTo>
                  <a:cubicBezTo>
                    <a:pt x="133673" y="225083"/>
                    <a:pt x="76376" y="221588"/>
                    <a:pt x="40144" y="185618"/>
                  </a:cubicBezTo>
                  <a:cubicBezTo>
                    <a:pt x="3912" y="149649"/>
                    <a:pt x="0" y="92378"/>
                    <a:pt x="31004" y="51816"/>
                  </a:cubicBezTo>
                  <a:cubicBezTo>
                    <a:pt x="62009" y="11254"/>
                    <a:pt x="118299" y="0"/>
                    <a:pt x="162515" y="25523"/>
                  </a:cubicBezTo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88461" y="2417921"/>
              <a:ext cx="1365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Pencarian situs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89985" y="2678906"/>
              <a:ext cx="19103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lintas konten, berbasis token</a:t>
              </a:r>
            </a:p>
          </p:txBody>
        </p:sp>
      </p:grpSp>
      <p:grpSp>
        <p:nvGrpSpPr>
          <p:cNvPr id="19" name="feat-3"/>
          <p:cNvGrpSpPr/>
          <p:nvPr/>
        </p:nvGrpSpPr>
        <p:grpSpPr>
          <a:xfrm>
            <a:off x="6210300" y="1809750"/>
            <a:ext cx="2419350" cy="1162050"/>
            <a:chOff x="6210300" y="1809750"/>
            <a:chExt cx="2419350" cy="1162050"/>
          </a:xfrm>
        </p:grpSpPr>
        <p:sp>
          <p:nvSpPr>
            <p:cNvPr id="15" name="Rectangle 15"/>
            <p:cNvSpPr/>
            <p:nvPr/>
          </p:nvSpPr>
          <p:spPr>
            <a:xfrm>
              <a:off x="6210300" y="1809750"/>
              <a:ext cx="2419350" cy="1162050"/>
            </a:xfrm>
            <a:prstGeom prst="roundRect">
              <a:avLst>
                <a:gd name="adj" fmla="val 11475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434538" y="2056813"/>
              <a:ext cx="275422" cy="229186"/>
            </a:xfrm>
            <a:custGeom>
              <a:avLst/>
              <a:gdLst/>
              <a:ahLst/>
              <a:cxnLst/>
              <a:rect l="l" t="t" r="r" b="b"/>
              <a:pathLst>
                <a:path w="275422" h="229186">
                  <a:moveTo>
                    <a:pt x="137711" y="3"/>
                  </a:moveTo>
                  <a:cubicBezTo>
                    <a:pt x="191724" y="0"/>
                    <a:pt x="239829" y="34161"/>
                    <a:pt x="257626" y="85157"/>
                  </a:cubicBezTo>
                  <a:cubicBezTo>
                    <a:pt x="275422" y="136153"/>
                    <a:pt x="259017" y="192827"/>
                    <a:pt x="216730" y="226431"/>
                  </a:cubicBezTo>
                  <a:cubicBezTo>
                    <a:pt x="214484" y="228215"/>
                    <a:pt x="211700" y="229186"/>
                    <a:pt x="208831" y="229186"/>
                  </a:cubicBezTo>
                  <a:lnTo>
                    <a:pt x="66591" y="229186"/>
                  </a:lnTo>
                  <a:cubicBezTo>
                    <a:pt x="63723" y="229186"/>
                    <a:pt x="60938" y="228215"/>
                    <a:pt x="58692" y="226431"/>
                  </a:cubicBezTo>
                  <a:cubicBezTo>
                    <a:pt x="16406" y="192827"/>
                    <a:pt x="0" y="136153"/>
                    <a:pt x="17797" y="85157"/>
                  </a:cubicBezTo>
                  <a:cubicBezTo>
                    <a:pt x="35594" y="34161"/>
                    <a:pt x="83699" y="0"/>
                    <a:pt x="137711" y="3"/>
                  </a:cubicBezTo>
                  <a:moveTo>
                    <a:pt x="191140" y="74158"/>
                  </a:moveTo>
                  <a:cubicBezTo>
                    <a:pt x="186181" y="69200"/>
                    <a:pt x="178142" y="69200"/>
                    <a:pt x="173182" y="74158"/>
                  </a:cubicBezTo>
                  <a:lnTo>
                    <a:pt x="144277" y="103038"/>
                  </a:lnTo>
                  <a:cubicBezTo>
                    <a:pt x="136903" y="101077"/>
                    <a:pt x="129038" y="102530"/>
                    <a:pt x="122851" y="106997"/>
                  </a:cubicBezTo>
                  <a:cubicBezTo>
                    <a:pt x="116664" y="111464"/>
                    <a:pt x="112809" y="118471"/>
                    <a:pt x="112349" y="126088"/>
                  </a:cubicBezTo>
                  <a:lnTo>
                    <a:pt x="112311" y="127587"/>
                  </a:lnTo>
                  <a:cubicBezTo>
                    <a:pt x="112329" y="137445"/>
                    <a:pt x="118051" y="146403"/>
                    <a:pt x="126988" y="150565"/>
                  </a:cubicBezTo>
                  <a:cubicBezTo>
                    <a:pt x="135925" y="154727"/>
                    <a:pt x="146463" y="153342"/>
                    <a:pt x="154021" y="147012"/>
                  </a:cubicBezTo>
                  <a:cubicBezTo>
                    <a:pt x="161579" y="140681"/>
                    <a:pt x="164791" y="130549"/>
                    <a:pt x="162260" y="121021"/>
                  </a:cubicBezTo>
                  <a:lnTo>
                    <a:pt x="191140" y="92116"/>
                  </a:lnTo>
                  <a:cubicBezTo>
                    <a:pt x="196098" y="87156"/>
                    <a:pt x="196098" y="79117"/>
                    <a:pt x="191140" y="74158"/>
                  </a:cubicBezTo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611" y="2417921"/>
              <a:ext cx="11335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Panel admin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4135" y="2678906"/>
              <a:ext cx="12261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terproteksi Auth.js</a:t>
              </a:r>
            </a:p>
          </p:txBody>
        </p:sp>
      </p:grpSp>
      <p:grpSp>
        <p:nvGrpSpPr>
          <p:cNvPr id="26" name="feat-4"/>
          <p:cNvGrpSpPr/>
          <p:nvPr/>
        </p:nvGrpSpPr>
        <p:grpSpPr>
          <a:xfrm>
            <a:off x="8934450" y="1809750"/>
            <a:ext cx="2419350" cy="1162050"/>
            <a:chOff x="8934450" y="1809750"/>
            <a:chExt cx="2419350" cy="1162050"/>
          </a:xfrm>
        </p:grpSpPr>
        <p:sp>
          <p:nvSpPr>
            <p:cNvPr id="20" name="Rectangle 20"/>
            <p:cNvSpPr/>
            <p:nvPr/>
          </p:nvSpPr>
          <p:spPr>
            <a:xfrm>
              <a:off x="8934450" y="1809750"/>
              <a:ext cx="2419350" cy="1162050"/>
            </a:xfrm>
            <a:prstGeom prst="roundRect">
              <a:avLst>
                <a:gd name="adj" fmla="val 11475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180597" y="2055867"/>
              <a:ext cx="231341" cy="217433"/>
              <a:chOff x="9180597" y="2055867"/>
              <a:chExt cx="231341" cy="21743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9182100" y="2132019"/>
                <a:ext cx="228599" cy="141281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41281">
                    <a:moveTo>
                      <a:pt x="155194" y="6344"/>
                    </a:moveTo>
                    <a:cubicBezTo>
                      <a:pt x="159530" y="933"/>
                      <a:pt x="167404" y="0"/>
                      <a:pt x="172885" y="4248"/>
                    </a:cubicBezTo>
                    <a:lnTo>
                      <a:pt x="174078" y="5302"/>
                    </a:lnTo>
                    <a:lnTo>
                      <a:pt x="224878" y="56102"/>
                    </a:lnTo>
                    <a:cubicBezTo>
                      <a:pt x="226852" y="58078"/>
                      <a:pt x="228120" y="60649"/>
                      <a:pt x="228485" y="63417"/>
                    </a:cubicBezTo>
                    <a:lnTo>
                      <a:pt x="228599" y="65081"/>
                    </a:lnTo>
                    <a:lnTo>
                      <a:pt x="228599" y="128581"/>
                    </a:lnTo>
                    <a:cubicBezTo>
                      <a:pt x="228599" y="135019"/>
                      <a:pt x="223780" y="140439"/>
                      <a:pt x="217385" y="141192"/>
                    </a:cubicBezTo>
                    <a:lnTo>
                      <a:pt x="215899" y="141281"/>
                    </a:lnTo>
                    <a:lnTo>
                      <a:pt x="12421" y="141281"/>
                    </a:lnTo>
                    <a:lnTo>
                      <a:pt x="11024" y="141166"/>
                    </a:lnTo>
                    <a:lnTo>
                      <a:pt x="9627" y="140912"/>
                    </a:lnTo>
                    <a:lnTo>
                      <a:pt x="8268" y="140481"/>
                    </a:lnTo>
                    <a:lnTo>
                      <a:pt x="6934" y="139896"/>
                    </a:lnTo>
                    <a:lnTo>
                      <a:pt x="5664" y="139147"/>
                    </a:lnTo>
                    <a:lnTo>
                      <a:pt x="4470" y="138258"/>
                    </a:lnTo>
                    <a:lnTo>
                      <a:pt x="3708" y="137560"/>
                    </a:lnTo>
                    <a:lnTo>
                      <a:pt x="2794" y="136518"/>
                    </a:lnTo>
                    <a:lnTo>
                      <a:pt x="1981" y="135388"/>
                    </a:lnTo>
                    <a:lnTo>
                      <a:pt x="1295" y="134169"/>
                    </a:lnTo>
                    <a:lnTo>
                      <a:pt x="1092" y="133724"/>
                    </a:lnTo>
                    <a:lnTo>
                      <a:pt x="584" y="132416"/>
                    </a:lnTo>
                    <a:lnTo>
                      <a:pt x="241" y="131070"/>
                    </a:lnTo>
                    <a:lnTo>
                      <a:pt x="51" y="129698"/>
                    </a:lnTo>
                    <a:lnTo>
                      <a:pt x="0" y="128301"/>
                    </a:lnTo>
                    <a:lnTo>
                      <a:pt x="114" y="126904"/>
                    </a:lnTo>
                    <a:lnTo>
                      <a:pt x="356" y="125571"/>
                    </a:lnTo>
                    <a:cubicBezTo>
                      <a:pt x="483" y="125063"/>
                      <a:pt x="635" y="124593"/>
                      <a:pt x="800" y="124149"/>
                    </a:cubicBezTo>
                    <a:lnTo>
                      <a:pt x="1384" y="122815"/>
                    </a:lnTo>
                    <a:lnTo>
                      <a:pt x="2134" y="121545"/>
                    </a:lnTo>
                    <a:lnTo>
                      <a:pt x="52933" y="45345"/>
                    </a:lnTo>
                    <a:cubicBezTo>
                      <a:pt x="56150" y="40502"/>
                      <a:pt x="62245" y="38462"/>
                      <a:pt x="67729" y="40392"/>
                    </a:cubicBezTo>
                    <a:lnTo>
                      <a:pt x="69177" y="41027"/>
                    </a:lnTo>
                    <a:lnTo>
                      <a:pt x="110795" y="61830"/>
                    </a:lnTo>
                    <a:lnTo>
                      <a:pt x="155181" y="6344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180597" y="2055867"/>
                <a:ext cx="231341" cy="130036"/>
              </a:xfrm>
              <a:custGeom>
                <a:avLst/>
                <a:gdLst/>
                <a:ahLst/>
                <a:cxnLst/>
                <a:rect l="l" t="t" r="r" b="b"/>
                <a:pathLst>
                  <a:path w="231341" h="130036">
                    <a:moveTo>
                      <a:pt x="156849" y="6105"/>
                    </a:moveTo>
                    <a:cubicBezTo>
                      <a:pt x="161230" y="843"/>
                      <a:pt x="168993" y="0"/>
                      <a:pt x="174401" y="4200"/>
                    </a:cubicBezTo>
                    <a:lnTo>
                      <a:pt x="175582" y="5254"/>
                    </a:lnTo>
                    <a:lnTo>
                      <a:pt x="226382" y="56054"/>
                    </a:lnTo>
                    <a:cubicBezTo>
                      <a:pt x="231109" y="60797"/>
                      <a:pt x="231341" y="68396"/>
                      <a:pt x="226912" y="73418"/>
                    </a:cubicBezTo>
                    <a:cubicBezTo>
                      <a:pt x="222483" y="78441"/>
                      <a:pt x="214915" y="79162"/>
                      <a:pt x="209618" y="75066"/>
                    </a:cubicBezTo>
                    <a:lnTo>
                      <a:pt x="208424" y="74012"/>
                    </a:lnTo>
                    <a:lnTo>
                      <a:pt x="167454" y="33054"/>
                    </a:lnTo>
                    <a:lnTo>
                      <a:pt x="112857" y="98561"/>
                    </a:lnTo>
                    <a:cubicBezTo>
                      <a:pt x="109460" y="102635"/>
                      <a:pt x="103890" y="104169"/>
                      <a:pt x="98887" y="102409"/>
                    </a:cubicBezTo>
                    <a:lnTo>
                      <a:pt x="97426" y="101787"/>
                    </a:lnTo>
                    <a:lnTo>
                      <a:pt x="56100" y="81136"/>
                    </a:lnTo>
                    <a:lnTo>
                      <a:pt x="24363" y="123453"/>
                    </a:lnTo>
                    <a:cubicBezTo>
                      <a:pt x="20525" y="128572"/>
                      <a:pt x="13477" y="130036"/>
                      <a:pt x="7917" y="126869"/>
                    </a:cubicBezTo>
                    <a:lnTo>
                      <a:pt x="6583" y="125993"/>
                    </a:lnTo>
                    <a:cubicBezTo>
                      <a:pt x="1464" y="122154"/>
                      <a:pt x="0" y="115106"/>
                      <a:pt x="3167" y="109546"/>
                    </a:cubicBezTo>
                    <a:lnTo>
                      <a:pt x="4043" y="108213"/>
                    </a:lnTo>
                    <a:lnTo>
                      <a:pt x="42143" y="57413"/>
                    </a:lnTo>
                    <a:cubicBezTo>
                      <a:pt x="45487" y="52960"/>
                      <a:pt x="51341" y="51204"/>
                      <a:pt x="56583" y="53082"/>
                    </a:cubicBezTo>
                    <a:lnTo>
                      <a:pt x="57980" y="53679"/>
                    </a:lnTo>
                    <a:lnTo>
                      <a:pt x="99776" y="74571"/>
                    </a:lnTo>
                    <a:lnTo>
                      <a:pt x="156849" y="6105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136761" y="2417921"/>
              <a:ext cx="1730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Analitik kunjungan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38285" y="2678906"/>
              <a:ext cx="2071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statistik pengunjung tersimpan</a:t>
              </a:r>
            </a:p>
          </p:txBody>
        </p:sp>
      </p:grpSp>
      <p:grpSp>
        <p:nvGrpSpPr>
          <p:cNvPr id="34" name="feat-5"/>
          <p:cNvGrpSpPr/>
          <p:nvPr/>
        </p:nvGrpSpPr>
        <p:grpSpPr>
          <a:xfrm>
            <a:off x="762000" y="3238500"/>
            <a:ext cx="2419350" cy="1162050"/>
            <a:chOff x="762000" y="3238500"/>
            <a:chExt cx="2419350" cy="1162050"/>
          </a:xfrm>
        </p:grpSpPr>
        <p:sp>
          <p:nvSpPr>
            <p:cNvPr id="27" name="Rectangle 27"/>
            <p:cNvSpPr/>
            <p:nvPr/>
          </p:nvSpPr>
          <p:spPr>
            <a:xfrm>
              <a:off x="762000" y="3238500"/>
              <a:ext cx="2419350" cy="1162050"/>
            </a:xfrm>
            <a:prstGeom prst="roundRect">
              <a:avLst>
                <a:gd name="adj" fmla="val 11475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984576" y="3464770"/>
              <a:ext cx="278733" cy="263734"/>
              <a:chOff x="984576" y="3464770"/>
              <a:chExt cx="278733" cy="26373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72732" y="3575045"/>
                <a:ext cx="102803" cy="153459"/>
              </a:xfrm>
              <a:custGeom>
                <a:avLst/>
                <a:gdLst/>
                <a:ahLst/>
                <a:cxnLst/>
                <a:rect l="l" t="t" r="r" b="b"/>
                <a:pathLst>
                  <a:path w="102803" h="153459">
                    <a:moveTo>
                      <a:pt x="51217" y="4"/>
                    </a:moveTo>
                    <a:cubicBezTo>
                      <a:pt x="61216" y="1"/>
                      <a:pt x="70286" y="5864"/>
                      <a:pt x="74389" y="14982"/>
                    </a:cubicBezTo>
                    <a:cubicBezTo>
                      <a:pt x="78491" y="24100"/>
                      <a:pt x="76863" y="34776"/>
                      <a:pt x="70229" y="42257"/>
                    </a:cubicBezTo>
                    <a:lnTo>
                      <a:pt x="101370" y="135691"/>
                    </a:lnTo>
                    <a:cubicBezTo>
                      <a:pt x="102803" y="139997"/>
                      <a:pt x="101831" y="144740"/>
                      <a:pt x="98819" y="148135"/>
                    </a:cubicBezTo>
                    <a:cubicBezTo>
                      <a:pt x="95807" y="151529"/>
                      <a:pt x="91213" y="153059"/>
                      <a:pt x="86767" y="152148"/>
                    </a:cubicBezTo>
                    <a:cubicBezTo>
                      <a:pt x="82321" y="151237"/>
                      <a:pt x="78699" y="148023"/>
                      <a:pt x="77265" y="143717"/>
                    </a:cubicBezTo>
                    <a:lnTo>
                      <a:pt x="71677" y="127004"/>
                    </a:lnTo>
                    <a:lnTo>
                      <a:pt x="30732" y="127004"/>
                    </a:lnTo>
                    <a:lnTo>
                      <a:pt x="25170" y="143730"/>
                    </a:lnTo>
                    <a:cubicBezTo>
                      <a:pt x="23134" y="149840"/>
                      <a:pt x="16846" y="153459"/>
                      <a:pt x="10539" y="152150"/>
                    </a:cubicBezTo>
                    <a:lnTo>
                      <a:pt x="9104" y="151769"/>
                    </a:lnTo>
                    <a:cubicBezTo>
                      <a:pt x="5907" y="150705"/>
                      <a:pt x="3264" y="148415"/>
                      <a:pt x="1756" y="145402"/>
                    </a:cubicBezTo>
                    <a:cubicBezTo>
                      <a:pt x="249" y="142389"/>
                      <a:pt x="0" y="138900"/>
                      <a:pt x="1065" y="135703"/>
                    </a:cubicBezTo>
                    <a:lnTo>
                      <a:pt x="32205" y="42270"/>
                    </a:lnTo>
                    <a:cubicBezTo>
                      <a:pt x="28085" y="37619"/>
                      <a:pt x="25812" y="31618"/>
                      <a:pt x="25817" y="25404"/>
                    </a:cubicBezTo>
                    <a:lnTo>
                      <a:pt x="25881" y="23499"/>
                    </a:lnTo>
                    <a:cubicBezTo>
                      <a:pt x="26878" y="10244"/>
                      <a:pt x="37925" y="0"/>
                      <a:pt x="51217" y="4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84576" y="3464770"/>
                <a:ext cx="278733" cy="194158"/>
              </a:xfrm>
              <a:custGeom>
                <a:avLst/>
                <a:gdLst/>
                <a:ahLst/>
                <a:cxnLst/>
                <a:rect l="l" t="t" r="r" b="b"/>
                <a:pathLst>
                  <a:path w="278733" h="194158">
                    <a:moveTo>
                      <a:pt x="216754" y="35070"/>
                    </a:moveTo>
                    <a:cubicBezTo>
                      <a:pt x="262385" y="70137"/>
                      <a:pt x="278733" y="131505"/>
                      <a:pt x="256594" y="184625"/>
                    </a:cubicBezTo>
                    <a:cubicBezTo>
                      <a:pt x="253894" y="191099"/>
                      <a:pt x="246457" y="194158"/>
                      <a:pt x="239983" y="191458"/>
                    </a:cubicBezTo>
                    <a:cubicBezTo>
                      <a:pt x="233509" y="188757"/>
                      <a:pt x="230450" y="181320"/>
                      <a:pt x="233150" y="174846"/>
                    </a:cubicBezTo>
                    <a:cubicBezTo>
                      <a:pt x="250859" y="132350"/>
                      <a:pt x="237779" y="83257"/>
                      <a:pt x="201274" y="55205"/>
                    </a:cubicBezTo>
                    <a:cubicBezTo>
                      <a:pt x="164770" y="27153"/>
                      <a:pt x="113965" y="27153"/>
                      <a:pt x="77460" y="55205"/>
                    </a:cubicBezTo>
                    <a:cubicBezTo>
                      <a:pt x="40955" y="83257"/>
                      <a:pt x="27876" y="132350"/>
                      <a:pt x="45584" y="174846"/>
                    </a:cubicBezTo>
                    <a:cubicBezTo>
                      <a:pt x="48285" y="181320"/>
                      <a:pt x="45226" y="188757"/>
                      <a:pt x="38752" y="191458"/>
                    </a:cubicBezTo>
                    <a:cubicBezTo>
                      <a:pt x="32278" y="194158"/>
                      <a:pt x="24840" y="191099"/>
                      <a:pt x="22140" y="184625"/>
                    </a:cubicBezTo>
                    <a:cubicBezTo>
                      <a:pt x="0" y="131504"/>
                      <a:pt x="16348" y="70134"/>
                      <a:pt x="61981" y="35067"/>
                    </a:cubicBezTo>
                    <a:cubicBezTo>
                      <a:pt x="107614" y="0"/>
                      <a:pt x="171123" y="1"/>
                      <a:pt x="216754" y="35070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40345" y="3518997"/>
                <a:ext cx="167236" cy="120310"/>
              </a:xfrm>
              <a:custGeom>
                <a:avLst/>
                <a:gdLst/>
                <a:ahLst/>
                <a:cxnLst/>
                <a:rect l="l" t="t" r="r" b="b"/>
                <a:pathLst>
                  <a:path w="167236" h="120310">
                    <a:moveTo>
                      <a:pt x="130048" y="21039"/>
                    </a:moveTo>
                    <a:cubicBezTo>
                      <a:pt x="157428" y="42081"/>
                      <a:pt x="167236" y="78904"/>
                      <a:pt x="153949" y="110777"/>
                    </a:cubicBezTo>
                    <a:cubicBezTo>
                      <a:pt x="151249" y="117251"/>
                      <a:pt x="143812" y="120310"/>
                      <a:pt x="137338" y="117610"/>
                    </a:cubicBezTo>
                    <a:cubicBezTo>
                      <a:pt x="130864" y="114909"/>
                      <a:pt x="127805" y="107472"/>
                      <a:pt x="130505" y="100998"/>
                    </a:cubicBezTo>
                    <a:cubicBezTo>
                      <a:pt x="139364" y="79749"/>
                      <a:pt x="132826" y="55200"/>
                      <a:pt x="114573" y="41172"/>
                    </a:cubicBezTo>
                    <a:cubicBezTo>
                      <a:pt x="96320" y="27143"/>
                      <a:pt x="70914" y="27143"/>
                      <a:pt x="52661" y="41172"/>
                    </a:cubicBezTo>
                    <a:cubicBezTo>
                      <a:pt x="34408" y="55200"/>
                      <a:pt x="27870" y="79749"/>
                      <a:pt x="36729" y="100998"/>
                    </a:cubicBezTo>
                    <a:cubicBezTo>
                      <a:pt x="39429" y="107472"/>
                      <a:pt x="36370" y="114909"/>
                      <a:pt x="29896" y="117610"/>
                    </a:cubicBezTo>
                    <a:cubicBezTo>
                      <a:pt x="23422" y="120310"/>
                      <a:pt x="15985" y="117251"/>
                      <a:pt x="13285" y="110777"/>
                    </a:cubicBezTo>
                    <a:cubicBezTo>
                      <a:pt x="0" y="78905"/>
                      <a:pt x="9807" y="42084"/>
                      <a:pt x="37185" y="21043"/>
                    </a:cubicBezTo>
                    <a:cubicBezTo>
                      <a:pt x="64563" y="2"/>
                      <a:pt x="102668" y="0"/>
                      <a:pt x="130048" y="21039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64311" y="3846671"/>
              <a:ext cx="1531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Langganan radio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5835" y="4107656"/>
              <a:ext cx="1566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pendaftaran pelanggan</a:t>
              </a:r>
            </a:p>
          </p:txBody>
        </p:sp>
      </p:grpSp>
      <p:grpSp>
        <p:nvGrpSpPr>
          <p:cNvPr id="39" name="feat-6"/>
          <p:cNvGrpSpPr/>
          <p:nvPr/>
        </p:nvGrpSpPr>
        <p:grpSpPr>
          <a:xfrm>
            <a:off x="3486150" y="3238500"/>
            <a:ext cx="2419350" cy="1162050"/>
            <a:chOff x="3486150" y="3238500"/>
            <a:chExt cx="2419350" cy="1162050"/>
          </a:xfrm>
        </p:grpSpPr>
        <p:sp>
          <p:nvSpPr>
            <p:cNvPr id="35" name="Rectangle 35"/>
            <p:cNvSpPr/>
            <p:nvPr/>
          </p:nvSpPr>
          <p:spPr>
            <a:xfrm>
              <a:off x="3486150" y="3238500"/>
              <a:ext cx="2419350" cy="1162050"/>
            </a:xfrm>
            <a:prstGeom prst="roundRect">
              <a:avLst>
                <a:gd name="adj" fmla="val 11475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746497" y="3473450"/>
              <a:ext cx="203205" cy="253999"/>
            </a:xfrm>
            <a:custGeom>
              <a:avLst/>
              <a:gdLst/>
              <a:ahLst/>
              <a:cxnLst/>
              <a:rect l="l" t="t" r="r" b="b"/>
              <a:pathLst>
                <a:path w="203205" h="253999">
                  <a:moveTo>
                    <a:pt x="177764" y="27559"/>
                  </a:moveTo>
                  <a:cubicBezTo>
                    <a:pt x="193009" y="32931"/>
                    <a:pt x="203205" y="47337"/>
                    <a:pt x="203202" y="63500"/>
                  </a:cubicBezTo>
                  <a:lnTo>
                    <a:pt x="203202" y="215899"/>
                  </a:lnTo>
                  <a:cubicBezTo>
                    <a:pt x="203202" y="236941"/>
                    <a:pt x="186144" y="253999"/>
                    <a:pt x="165102" y="253999"/>
                  </a:cubicBezTo>
                  <a:lnTo>
                    <a:pt x="38103" y="253999"/>
                  </a:lnTo>
                  <a:cubicBezTo>
                    <a:pt x="17061" y="253999"/>
                    <a:pt x="3" y="236941"/>
                    <a:pt x="3" y="215899"/>
                  </a:cubicBezTo>
                  <a:lnTo>
                    <a:pt x="3" y="63500"/>
                  </a:lnTo>
                  <a:cubicBezTo>
                    <a:pt x="0" y="47337"/>
                    <a:pt x="10196" y="32931"/>
                    <a:pt x="25441" y="27559"/>
                  </a:cubicBezTo>
                  <a:cubicBezTo>
                    <a:pt x="26598" y="54754"/>
                    <a:pt x="48983" y="76204"/>
                    <a:pt x="76203" y="76200"/>
                  </a:cubicBezTo>
                  <a:lnTo>
                    <a:pt x="127002" y="76200"/>
                  </a:lnTo>
                  <a:cubicBezTo>
                    <a:pt x="153078" y="76202"/>
                    <a:pt x="174921" y="56461"/>
                    <a:pt x="177548" y="30518"/>
                  </a:cubicBezTo>
                  <a:close/>
                  <a:moveTo>
                    <a:pt x="130724" y="118021"/>
                  </a:moveTo>
                  <a:lnTo>
                    <a:pt x="88903" y="159829"/>
                  </a:lnTo>
                  <a:lnTo>
                    <a:pt x="72481" y="143421"/>
                  </a:lnTo>
                  <a:cubicBezTo>
                    <a:pt x="69293" y="140119"/>
                    <a:pt x="64571" y="138795"/>
                    <a:pt x="60131" y="139957"/>
                  </a:cubicBezTo>
                  <a:cubicBezTo>
                    <a:pt x="55690" y="141120"/>
                    <a:pt x="52223" y="144587"/>
                    <a:pt x="51060" y="149028"/>
                  </a:cubicBezTo>
                  <a:cubicBezTo>
                    <a:pt x="49898" y="153468"/>
                    <a:pt x="51222" y="158190"/>
                    <a:pt x="54524" y="161378"/>
                  </a:cubicBezTo>
                  <a:lnTo>
                    <a:pt x="79924" y="186778"/>
                  </a:lnTo>
                  <a:cubicBezTo>
                    <a:pt x="84883" y="191736"/>
                    <a:pt x="92922" y="191736"/>
                    <a:pt x="97881" y="186778"/>
                  </a:cubicBezTo>
                  <a:lnTo>
                    <a:pt x="148681" y="135979"/>
                  </a:lnTo>
                  <a:cubicBezTo>
                    <a:pt x="153494" y="130995"/>
                    <a:pt x="153425" y="123074"/>
                    <a:pt x="148527" y="118176"/>
                  </a:cubicBezTo>
                  <a:cubicBezTo>
                    <a:pt x="143628" y="113277"/>
                    <a:pt x="135707" y="113208"/>
                    <a:pt x="130724" y="118021"/>
                  </a:cubicBezTo>
                  <a:moveTo>
                    <a:pt x="127002" y="0"/>
                  </a:moveTo>
                  <a:cubicBezTo>
                    <a:pt x="141030" y="0"/>
                    <a:pt x="152402" y="11372"/>
                    <a:pt x="152402" y="25400"/>
                  </a:cubicBezTo>
                  <a:cubicBezTo>
                    <a:pt x="152402" y="39428"/>
                    <a:pt x="141030" y="50800"/>
                    <a:pt x="127002" y="50800"/>
                  </a:cubicBezTo>
                  <a:lnTo>
                    <a:pt x="76203" y="50800"/>
                  </a:lnTo>
                  <a:cubicBezTo>
                    <a:pt x="62175" y="50800"/>
                    <a:pt x="50803" y="39428"/>
                    <a:pt x="50803" y="25400"/>
                  </a:cubicBezTo>
                  <a:cubicBezTo>
                    <a:pt x="50803" y="11372"/>
                    <a:pt x="62175" y="0"/>
                    <a:pt x="76203" y="0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688461" y="3846671"/>
              <a:ext cx="10196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Survei IKM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89985" y="4107656"/>
              <a:ext cx="21779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kuesioner kepuasan + basis data</a:t>
              </a:r>
            </a:p>
          </p:txBody>
        </p:sp>
      </p:grpSp>
      <p:grpSp>
        <p:nvGrpSpPr>
          <p:cNvPr id="44" name="feat-7"/>
          <p:cNvGrpSpPr/>
          <p:nvPr/>
        </p:nvGrpSpPr>
        <p:grpSpPr>
          <a:xfrm>
            <a:off x="6210300" y="3238500"/>
            <a:ext cx="2419350" cy="1162050"/>
            <a:chOff x="6210300" y="3238500"/>
            <a:chExt cx="2419350" cy="1162050"/>
          </a:xfrm>
        </p:grpSpPr>
        <p:sp>
          <p:nvSpPr>
            <p:cNvPr id="40" name="Rectangle 40"/>
            <p:cNvSpPr/>
            <p:nvPr/>
          </p:nvSpPr>
          <p:spPr>
            <a:xfrm>
              <a:off x="6210300" y="3238500"/>
              <a:ext cx="2419350" cy="1162050"/>
            </a:xfrm>
            <a:prstGeom prst="roundRect">
              <a:avLst>
                <a:gd name="adj" fmla="val 11475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430750" y="3469259"/>
              <a:ext cx="282851" cy="245440"/>
            </a:xfrm>
            <a:custGeom>
              <a:avLst/>
              <a:gdLst/>
              <a:ahLst/>
              <a:cxnLst/>
              <a:rect l="l" t="t" r="r" b="b"/>
              <a:pathLst>
                <a:path w="282851" h="245440">
                  <a:moveTo>
                    <a:pt x="141499" y="0"/>
                  </a:moveTo>
                  <a:cubicBezTo>
                    <a:pt x="153628" y="0"/>
                    <a:pt x="164931" y="5931"/>
                    <a:pt x="171852" y="15837"/>
                  </a:cubicBezTo>
                  <a:lnTo>
                    <a:pt x="173186" y="17869"/>
                  </a:lnTo>
                  <a:lnTo>
                    <a:pt x="276233" y="189928"/>
                  </a:lnTo>
                  <a:cubicBezTo>
                    <a:pt x="282599" y="200953"/>
                    <a:pt x="282851" y="214477"/>
                    <a:pt x="276900" y="225732"/>
                  </a:cubicBezTo>
                  <a:cubicBezTo>
                    <a:pt x="270949" y="236986"/>
                    <a:pt x="259630" y="244392"/>
                    <a:pt x="246934" y="245338"/>
                  </a:cubicBezTo>
                  <a:lnTo>
                    <a:pt x="244458" y="245440"/>
                  </a:lnTo>
                  <a:lnTo>
                    <a:pt x="38401" y="245440"/>
                  </a:lnTo>
                  <a:cubicBezTo>
                    <a:pt x="25693" y="245297"/>
                    <a:pt x="13947" y="238642"/>
                    <a:pt x="7291" y="227816"/>
                  </a:cubicBezTo>
                  <a:cubicBezTo>
                    <a:pt x="635" y="216989"/>
                    <a:pt x="0" y="203504"/>
                    <a:pt x="5610" y="192100"/>
                  </a:cubicBezTo>
                  <a:lnTo>
                    <a:pt x="6867" y="189750"/>
                  </a:lnTo>
                  <a:lnTo>
                    <a:pt x="109864" y="17818"/>
                  </a:lnTo>
                  <a:cubicBezTo>
                    <a:pt x="116570" y="6758"/>
                    <a:pt x="128565" y="3"/>
                    <a:pt x="141499" y="0"/>
                  </a:cubicBezTo>
                  <a:close/>
                  <a:moveTo>
                    <a:pt x="141626" y="169291"/>
                  </a:moveTo>
                  <a:lnTo>
                    <a:pt x="140013" y="169379"/>
                  </a:lnTo>
                  <a:cubicBezTo>
                    <a:pt x="133625" y="170139"/>
                    <a:pt x="128813" y="175557"/>
                    <a:pt x="128813" y="181991"/>
                  </a:cubicBezTo>
                  <a:cubicBezTo>
                    <a:pt x="128813" y="188424"/>
                    <a:pt x="133625" y="193842"/>
                    <a:pt x="140013" y="194602"/>
                  </a:cubicBezTo>
                  <a:lnTo>
                    <a:pt x="141499" y="194691"/>
                  </a:lnTo>
                  <a:lnTo>
                    <a:pt x="143112" y="194602"/>
                  </a:lnTo>
                  <a:cubicBezTo>
                    <a:pt x="149501" y="193842"/>
                    <a:pt x="154312" y="188424"/>
                    <a:pt x="154312" y="181991"/>
                  </a:cubicBezTo>
                  <a:cubicBezTo>
                    <a:pt x="154312" y="175557"/>
                    <a:pt x="149501" y="170139"/>
                    <a:pt x="143112" y="169379"/>
                  </a:cubicBezTo>
                  <a:lnTo>
                    <a:pt x="141626" y="169291"/>
                  </a:lnTo>
                  <a:close/>
                  <a:moveTo>
                    <a:pt x="141499" y="80391"/>
                  </a:moveTo>
                  <a:cubicBezTo>
                    <a:pt x="135061" y="80392"/>
                    <a:pt x="129641" y="85211"/>
                    <a:pt x="128888" y="91605"/>
                  </a:cubicBezTo>
                  <a:lnTo>
                    <a:pt x="128799" y="93091"/>
                  </a:lnTo>
                  <a:lnTo>
                    <a:pt x="128799" y="143891"/>
                  </a:lnTo>
                  <a:lnTo>
                    <a:pt x="128888" y="145377"/>
                  </a:lnTo>
                  <a:cubicBezTo>
                    <a:pt x="129648" y="151765"/>
                    <a:pt x="135065" y="156576"/>
                    <a:pt x="141499" y="156576"/>
                  </a:cubicBezTo>
                  <a:cubicBezTo>
                    <a:pt x="147933" y="156576"/>
                    <a:pt x="153350" y="151765"/>
                    <a:pt x="154110" y="145377"/>
                  </a:cubicBezTo>
                  <a:lnTo>
                    <a:pt x="154199" y="143891"/>
                  </a:lnTo>
                  <a:lnTo>
                    <a:pt x="154199" y="93091"/>
                  </a:lnTo>
                  <a:lnTo>
                    <a:pt x="154110" y="91605"/>
                  </a:lnTo>
                  <a:cubicBezTo>
                    <a:pt x="153357" y="85211"/>
                    <a:pt x="147938" y="80392"/>
                    <a:pt x="141499" y="80391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2611" y="3846671"/>
              <a:ext cx="14855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Klarifikasi hoaks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14135" y="4107656"/>
              <a:ext cx="1347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halaman terdedikasi</a:t>
              </a:r>
            </a:p>
          </p:txBody>
        </p:sp>
      </p:grpSp>
      <p:grpSp>
        <p:nvGrpSpPr>
          <p:cNvPr id="49" name="feat-8"/>
          <p:cNvGrpSpPr/>
          <p:nvPr/>
        </p:nvGrpSpPr>
        <p:grpSpPr>
          <a:xfrm>
            <a:off x="8934450" y="3238500"/>
            <a:ext cx="2419350" cy="1162050"/>
            <a:chOff x="8934450" y="3238500"/>
            <a:chExt cx="2419350" cy="1162050"/>
          </a:xfrm>
        </p:grpSpPr>
        <p:sp>
          <p:nvSpPr>
            <p:cNvPr id="45" name="Rectangle 45"/>
            <p:cNvSpPr/>
            <p:nvPr/>
          </p:nvSpPr>
          <p:spPr>
            <a:xfrm>
              <a:off x="8934450" y="3238500"/>
              <a:ext cx="2419350" cy="1162050"/>
            </a:xfrm>
            <a:prstGeom prst="roundRect">
              <a:avLst>
                <a:gd name="adj" fmla="val 11475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194800" y="3473450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01600" y="0"/>
                  </a:moveTo>
                  <a:cubicBezTo>
                    <a:pt x="136670" y="0"/>
                    <a:pt x="165100" y="28430"/>
                    <a:pt x="165100" y="63500"/>
                  </a:cubicBezTo>
                  <a:lnTo>
                    <a:pt x="165100" y="101600"/>
                  </a:lnTo>
                  <a:cubicBezTo>
                    <a:pt x="186142" y="101600"/>
                    <a:pt x="203199" y="118658"/>
                    <a:pt x="203199" y="1397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139700"/>
                  </a:lnTo>
                  <a:cubicBezTo>
                    <a:pt x="0" y="118658"/>
                    <a:pt x="17058" y="101600"/>
                    <a:pt x="38100" y="101600"/>
                  </a:cubicBezTo>
                  <a:lnTo>
                    <a:pt x="38100" y="63500"/>
                  </a:lnTo>
                  <a:cubicBezTo>
                    <a:pt x="38100" y="28430"/>
                    <a:pt x="66530" y="0"/>
                    <a:pt x="101600" y="0"/>
                  </a:cubicBezTo>
                  <a:moveTo>
                    <a:pt x="101600" y="152400"/>
                  </a:moveTo>
                  <a:cubicBezTo>
                    <a:pt x="88308" y="152395"/>
                    <a:pt x="77260" y="162640"/>
                    <a:pt x="76263" y="175895"/>
                  </a:cubicBezTo>
                  <a:lnTo>
                    <a:pt x="76200" y="177800"/>
                  </a:lnTo>
                  <a:cubicBezTo>
                    <a:pt x="76200" y="191828"/>
                    <a:pt x="87572" y="203199"/>
                    <a:pt x="101600" y="203199"/>
                  </a:cubicBezTo>
                  <a:cubicBezTo>
                    <a:pt x="115628" y="203199"/>
                    <a:pt x="127000" y="191828"/>
                    <a:pt x="127000" y="177800"/>
                  </a:cubicBezTo>
                  <a:cubicBezTo>
                    <a:pt x="127000" y="163772"/>
                    <a:pt x="115628" y="152400"/>
                    <a:pt x="101600" y="152400"/>
                  </a:cubicBezTo>
                  <a:moveTo>
                    <a:pt x="101600" y="25400"/>
                  </a:moveTo>
                  <a:cubicBezTo>
                    <a:pt x="80558" y="25400"/>
                    <a:pt x="63500" y="42458"/>
                    <a:pt x="63500" y="63500"/>
                  </a:cubicBezTo>
                  <a:lnTo>
                    <a:pt x="63500" y="101600"/>
                  </a:lnTo>
                  <a:lnTo>
                    <a:pt x="139700" y="101600"/>
                  </a:lnTo>
                  <a:lnTo>
                    <a:pt x="139700" y="63500"/>
                  </a:lnTo>
                  <a:cubicBezTo>
                    <a:pt x="139700" y="42458"/>
                    <a:pt x="122642" y="25400"/>
                    <a:pt x="101600" y="25400"/>
                  </a:cubicBezTo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36761" y="3846671"/>
              <a:ext cx="11789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Rate limiting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38285" y="4107656"/>
              <a:ext cx="1820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proteksi endpoint API lokal</a:t>
              </a:r>
            </a:p>
          </p:txBody>
        </p:sp>
      </p:grpSp>
      <p:grpSp>
        <p:nvGrpSpPr>
          <p:cNvPr id="54" name="feat-arch"/>
          <p:cNvGrpSpPr/>
          <p:nvPr/>
        </p:nvGrpSpPr>
        <p:grpSpPr>
          <a:xfrm>
            <a:off x="762000" y="4667250"/>
            <a:ext cx="5105400" cy="1295400"/>
            <a:chOff x="762000" y="4667250"/>
            <a:chExt cx="5105400" cy="1295400"/>
          </a:xfrm>
        </p:grpSpPr>
        <p:sp>
          <p:nvSpPr>
            <p:cNvPr id="50" name="Rectangle 50"/>
            <p:cNvSpPr/>
            <p:nvPr/>
          </p:nvSpPr>
          <p:spPr>
            <a:xfrm>
              <a:off x="762000" y="4667250"/>
              <a:ext cx="5105400" cy="1295400"/>
            </a:xfrm>
            <a:prstGeom prst="roundRect">
              <a:avLst>
                <a:gd name="adj" fmla="val 10294"/>
              </a:avLst>
            </a:prstGeom>
            <a:solidFill>
              <a:srgbClr val="22D3EE">
                <a:alpha val="6000"/>
              </a:srgbClr>
            </a:solidFill>
            <a:ln w="14288">
              <a:solidFill>
                <a:srgbClr val="22D3EE">
                  <a:alpha val="32000"/>
                </a:srgbClr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36636" y="4916793"/>
              <a:ext cx="284137" cy="285245"/>
            </a:xfrm>
            <a:custGeom>
              <a:avLst/>
              <a:gdLst/>
              <a:ahLst/>
              <a:cxnLst/>
              <a:rect l="l" t="t" r="r" b="b"/>
              <a:pathLst>
                <a:path w="284137" h="285245">
                  <a:moveTo>
                    <a:pt x="202408" y="24126"/>
                  </a:moveTo>
                  <a:cubicBezTo>
                    <a:pt x="259120" y="56869"/>
                    <a:pt x="284137" y="125603"/>
                    <a:pt x="261739" y="187138"/>
                  </a:cubicBezTo>
                  <a:cubicBezTo>
                    <a:pt x="239341" y="248674"/>
                    <a:pt x="175995" y="285245"/>
                    <a:pt x="111506" y="273873"/>
                  </a:cubicBezTo>
                  <a:cubicBezTo>
                    <a:pt x="47016" y="262501"/>
                    <a:pt x="0" y="206467"/>
                    <a:pt x="2" y="140982"/>
                  </a:cubicBezTo>
                  <a:lnTo>
                    <a:pt x="69" y="136610"/>
                  </a:lnTo>
                  <a:cubicBezTo>
                    <a:pt x="1606" y="89206"/>
                    <a:pt x="27918" y="46090"/>
                    <a:pt x="69372" y="23045"/>
                  </a:cubicBezTo>
                  <a:cubicBezTo>
                    <a:pt x="110826" y="0"/>
                    <a:pt x="161335" y="410"/>
                    <a:pt x="202408" y="24126"/>
                  </a:cubicBezTo>
                  <a:moveTo>
                    <a:pt x="117492" y="104455"/>
                  </a:moveTo>
                  <a:cubicBezTo>
                    <a:pt x="112223" y="99187"/>
                    <a:pt x="103681" y="99187"/>
                    <a:pt x="98412" y="104455"/>
                  </a:cubicBezTo>
                  <a:lnTo>
                    <a:pt x="71424" y="131442"/>
                  </a:lnTo>
                  <a:cubicBezTo>
                    <a:pt x="66157" y="136711"/>
                    <a:pt x="66157" y="145253"/>
                    <a:pt x="71424" y="150522"/>
                  </a:cubicBezTo>
                  <a:lnTo>
                    <a:pt x="98412" y="177510"/>
                  </a:lnTo>
                  <a:cubicBezTo>
                    <a:pt x="103681" y="182778"/>
                    <a:pt x="112223" y="182778"/>
                    <a:pt x="117492" y="177510"/>
                  </a:cubicBezTo>
                  <a:lnTo>
                    <a:pt x="118612" y="176241"/>
                  </a:lnTo>
                  <a:cubicBezTo>
                    <a:pt x="122779" y="170870"/>
                    <a:pt x="122299" y="163237"/>
                    <a:pt x="117492" y="158430"/>
                  </a:cubicBezTo>
                  <a:lnTo>
                    <a:pt x="100058" y="140982"/>
                  </a:lnTo>
                  <a:lnTo>
                    <a:pt x="117492" y="123535"/>
                  </a:lnTo>
                  <a:cubicBezTo>
                    <a:pt x="122760" y="118265"/>
                    <a:pt x="122760" y="109724"/>
                    <a:pt x="117492" y="104455"/>
                  </a:cubicBezTo>
                  <a:moveTo>
                    <a:pt x="171467" y="104455"/>
                  </a:moveTo>
                  <a:cubicBezTo>
                    <a:pt x="166198" y="99187"/>
                    <a:pt x="157656" y="99187"/>
                    <a:pt x="152387" y="104455"/>
                  </a:cubicBezTo>
                  <a:lnTo>
                    <a:pt x="151267" y="105723"/>
                  </a:lnTo>
                  <a:cubicBezTo>
                    <a:pt x="147100" y="111095"/>
                    <a:pt x="147580" y="118727"/>
                    <a:pt x="152387" y="123535"/>
                  </a:cubicBezTo>
                  <a:lnTo>
                    <a:pt x="169821" y="140982"/>
                  </a:lnTo>
                  <a:lnTo>
                    <a:pt x="152387" y="158430"/>
                  </a:lnTo>
                  <a:cubicBezTo>
                    <a:pt x="147273" y="163724"/>
                    <a:pt x="147346" y="172140"/>
                    <a:pt x="152551" y="177346"/>
                  </a:cubicBezTo>
                  <a:cubicBezTo>
                    <a:pt x="157756" y="182551"/>
                    <a:pt x="166172" y="182624"/>
                    <a:pt x="171467" y="177510"/>
                  </a:cubicBezTo>
                  <a:lnTo>
                    <a:pt x="198455" y="150522"/>
                  </a:lnTo>
                  <a:cubicBezTo>
                    <a:pt x="203722" y="145253"/>
                    <a:pt x="203722" y="136711"/>
                    <a:pt x="198455" y="131442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478280" y="4886325"/>
              <a:ext cx="2668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Arsitektur adapter terisolasi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3554" y="5223510"/>
              <a:ext cx="3564621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-ID" sz="120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Hanya 3 berkas memanggil API upstream. Setiap</a:t>
              </a:r>
              <a:br/>
              <a:r>
                <a:rPr lang="id-ID" sz="120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respons divalidasi Zod; kegagalan tidak menjatuhkan</a:t>
              </a:r>
              <a:br/>
              <a:r>
                <a:rPr lang="id-ID" sz="120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halaman (fallback + cache).</a:t>
              </a:r>
            </a:p>
          </p:txBody>
        </p:sp>
      </p:grpSp>
      <p:grpSp>
        <p:nvGrpSpPr>
          <p:cNvPr id="63" name="feat-content"/>
          <p:cNvGrpSpPr/>
          <p:nvPr/>
        </p:nvGrpSpPr>
        <p:grpSpPr>
          <a:xfrm>
            <a:off x="6324600" y="4667250"/>
            <a:ext cx="5105400" cy="1295400"/>
            <a:chOff x="6324600" y="4667250"/>
            <a:chExt cx="5105400" cy="1295400"/>
          </a:xfrm>
        </p:grpSpPr>
        <p:sp>
          <p:nvSpPr>
            <p:cNvPr id="55" name="Rectangle 55"/>
            <p:cNvSpPr/>
            <p:nvPr/>
          </p:nvSpPr>
          <p:spPr>
            <a:xfrm>
              <a:off x="6324600" y="4667250"/>
              <a:ext cx="5105400" cy="1295400"/>
            </a:xfrm>
            <a:prstGeom prst="roundRect">
              <a:avLst>
                <a:gd name="adj" fmla="val 10294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34763" y="4907428"/>
              <a:ext cx="210298" cy="285666"/>
              <a:chOff x="6634763" y="4907428"/>
              <a:chExt cx="210298" cy="28566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53213" y="4949823"/>
                <a:ext cx="135470" cy="135980"/>
              </a:xfrm>
              <a:custGeom>
                <a:avLst/>
                <a:gdLst/>
                <a:ahLst/>
                <a:cxnLst/>
                <a:rect l="l" t="t" r="r" b="b"/>
                <a:pathLst>
                  <a:path w="135470" h="135980">
                    <a:moveTo>
                      <a:pt x="67469" y="2"/>
                    </a:moveTo>
                    <a:cubicBezTo>
                      <a:pt x="104351" y="0"/>
                      <a:pt x="134399" y="29614"/>
                      <a:pt x="134935" y="66492"/>
                    </a:cubicBezTo>
                    <a:cubicBezTo>
                      <a:pt x="135470" y="103370"/>
                      <a:pt x="106293" y="133844"/>
                      <a:pt x="69427" y="134912"/>
                    </a:cubicBezTo>
                    <a:cubicBezTo>
                      <a:pt x="32560" y="135980"/>
                      <a:pt x="1668" y="107246"/>
                      <a:pt x="67" y="70399"/>
                    </a:cubicBezTo>
                    <a:lnTo>
                      <a:pt x="0" y="67471"/>
                    </a:lnTo>
                    <a:lnTo>
                      <a:pt x="67" y="64543"/>
                    </a:lnTo>
                    <a:cubicBezTo>
                      <a:pt x="1635" y="28455"/>
                      <a:pt x="31347" y="4"/>
                      <a:pt x="67469" y="2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634763" y="4907428"/>
                <a:ext cx="210298" cy="239258"/>
              </a:xfrm>
              <a:custGeom>
                <a:avLst/>
                <a:gdLst/>
                <a:ahLst/>
                <a:cxnLst/>
                <a:rect l="l" t="t" r="r" b="b"/>
                <a:pathLst>
                  <a:path w="210298" h="239258">
                    <a:moveTo>
                      <a:pt x="128195" y="8689"/>
                    </a:moveTo>
                    <a:cubicBezTo>
                      <a:pt x="131907" y="2229"/>
                      <a:pt x="140153" y="0"/>
                      <a:pt x="146614" y="3710"/>
                    </a:cubicBezTo>
                    <a:cubicBezTo>
                      <a:pt x="186735" y="26770"/>
                      <a:pt x="210298" y="70598"/>
                      <a:pt x="207404" y="116783"/>
                    </a:cubicBezTo>
                    <a:cubicBezTo>
                      <a:pt x="204511" y="162969"/>
                      <a:pt x="175663" y="203513"/>
                      <a:pt x="132977" y="221385"/>
                    </a:cubicBezTo>
                    <a:cubicBezTo>
                      <a:pt x="90291" y="239258"/>
                      <a:pt x="41162" y="231362"/>
                      <a:pt x="6225" y="201016"/>
                    </a:cubicBezTo>
                    <a:cubicBezTo>
                      <a:pt x="598" y="196127"/>
                      <a:pt x="0" y="187603"/>
                      <a:pt x="4889" y="181976"/>
                    </a:cubicBezTo>
                    <a:cubicBezTo>
                      <a:pt x="9778" y="176350"/>
                      <a:pt x="18302" y="175752"/>
                      <a:pt x="23929" y="180641"/>
                    </a:cubicBezTo>
                    <a:cubicBezTo>
                      <a:pt x="51115" y="204254"/>
                      <a:pt x="89344" y="210397"/>
                      <a:pt x="122559" y="196490"/>
                    </a:cubicBezTo>
                    <a:cubicBezTo>
                      <a:pt x="155775" y="182583"/>
                      <a:pt x="178223" y="151035"/>
                      <a:pt x="180475" y="115096"/>
                    </a:cubicBezTo>
                    <a:cubicBezTo>
                      <a:pt x="182727" y="79157"/>
                      <a:pt x="164394" y="45053"/>
                      <a:pt x="133174" y="27108"/>
                    </a:cubicBezTo>
                    <a:cubicBezTo>
                      <a:pt x="126714" y="23396"/>
                      <a:pt x="124485" y="15151"/>
                      <a:pt x="128195" y="8689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07188" y="5111751"/>
                <a:ext cx="26988" cy="81343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81343">
                    <a:moveTo>
                      <a:pt x="13494" y="0"/>
                    </a:moveTo>
                    <a:cubicBezTo>
                      <a:pt x="20335" y="1"/>
                      <a:pt x="26093" y="5121"/>
                      <a:pt x="26893" y="11915"/>
                    </a:cubicBezTo>
                    <a:lnTo>
                      <a:pt x="26988" y="13494"/>
                    </a:lnTo>
                    <a:lnTo>
                      <a:pt x="26988" y="67469"/>
                    </a:lnTo>
                    <a:cubicBezTo>
                      <a:pt x="26980" y="74608"/>
                      <a:pt x="21412" y="80506"/>
                      <a:pt x="14285" y="80925"/>
                    </a:cubicBezTo>
                    <a:cubicBezTo>
                      <a:pt x="7157" y="81343"/>
                      <a:pt x="938" y="76137"/>
                      <a:pt x="94" y="69048"/>
                    </a:cubicBezTo>
                    <a:lnTo>
                      <a:pt x="0" y="67469"/>
                    </a:ln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652832" y="5165726"/>
                <a:ext cx="13569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35698" h="26988">
                    <a:moveTo>
                      <a:pt x="121824" y="0"/>
                    </a:moveTo>
                    <a:cubicBezTo>
                      <a:pt x="128964" y="8"/>
                      <a:pt x="134861" y="5576"/>
                      <a:pt x="135280" y="12703"/>
                    </a:cubicBezTo>
                    <a:cubicBezTo>
                      <a:pt x="135698" y="19830"/>
                      <a:pt x="130493" y="26050"/>
                      <a:pt x="123403" y="26893"/>
                    </a:cubicBezTo>
                    <a:lnTo>
                      <a:pt x="121824" y="26988"/>
                    </a:lnTo>
                    <a:lnTo>
                      <a:pt x="13874" y="26988"/>
                    </a:lnTo>
                    <a:cubicBezTo>
                      <a:pt x="6735" y="26980"/>
                      <a:pt x="837" y="21412"/>
                      <a:pt x="418" y="14285"/>
                    </a:cubicBezTo>
                    <a:cubicBezTo>
                      <a:pt x="0" y="7157"/>
                      <a:pt x="5206" y="938"/>
                      <a:pt x="12295" y="94"/>
                    </a:cubicBezTo>
                    <a:lnTo>
                      <a:pt x="13874" y="0"/>
                    </a:lnTo>
                    <a:lnTo>
                      <a:pt x="121824" y="0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040880" y="4886325"/>
              <a:ext cx="2462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Konten dari API eksternal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66154" y="5223510"/>
              <a:ext cx="347772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-ID" sz="120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Berita &amp; pengumuman dari Media Center HST, data</a:t>
              </a:r>
              <a:br/>
              <a:r>
                <a:rPr lang="id-ID" sz="120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terbuka dari portal HST — tanpa CMS lokal yang</a:t>
              </a:r>
              <a:br/>
              <a:r>
                <a:rPr lang="id-ID" sz="120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harus dirawat terpisah.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756285" y="6134100"/>
            <a:ext cx="10679430" cy="403384"/>
            <a:chOff x="756285" y="6134100"/>
            <a:chExt cx="10679430" cy="403384"/>
          </a:xfrm>
        </p:grpSpPr>
        <p:sp>
          <p:nvSpPr>
            <p:cNvPr id="64" name="Line 64"/>
            <p:cNvSpPr/>
            <p:nvPr/>
          </p:nvSpPr>
          <p:spPr>
            <a:xfrm>
              <a:off x="762000" y="61341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6285" y="6317456"/>
              <a:ext cx="3925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10 kemampuan baru terverifikasi dari kode sumber aplikasi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61720" y="631745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7961177" cy="944023"/>
            <a:chOff x="745236" y="602456"/>
            <a:chExt cx="7961177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1624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TAMPILAN MOBILE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796117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Keduanya Responsif — Ini Fakta Jujur</a:t>
              </a:r>
            </a:p>
          </p:txBody>
        </p:sp>
      </p:grpSp>
      <p:grpSp>
        <p:nvGrpSpPr>
          <p:cNvPr id="12" name="phone-lama"/>
          <p:cNvGrpSpPr/>
          <p:nvPr/>
        </p:nvGrpSpPr>
        <p:grpSpPr>
          <a:xfrm>
            <a:off x="1390650" y="1771650"/>
            <a:ext cx="1790700" cy="4308634"/>
            <a:chOff x="1390650" y="1771650"/>
            <a:chExt cx="1790700" cy="4308634"/>
          </a:xfrm>
        </p:grpSpPr>
        <p:sp>
          <p:nvSpPr>
            <p:cNvPr id="5" name="Rectangle 5"/>
            <p:cNvSpPr/>
            <p:nvPr/>
          </p:nvSpPr>
          <p:spPr>
            <a:xfrm>
              <a:off x="1390650" y="1771650"/>
              <a:ext cx="1790700" cy="323850"/>
            </a:xfrm>
            <a:prstGeom prst="roundRect">
              <a:avLst>
                <a:gd name="adj" fmla="val 23529"/>
              </a:avLst>
            </a:prstGeom>
            <a:solidFill>
              <a:srgbClr val="64748B">
                <a:alpha val="18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74048" y="1869281"/>
              <a:ext cx="823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b="1" spc="112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WEB LAMA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428750" y="2476500"/>
              <a:ext cx="1714500" cy="3009900"/>
            </a:xfrm>
            <a:prstGeom prst="roundRect">
              <a:avLst>
                <a:gd name="adj" fmla="val 11111"/>
              </a:avLst>
            </a:prstGeom>
            <a:solidFill>
              <a:srgbClr val="121E31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9439" r="0" b="9439"/>
            <a:stretch>
              <a:fillRect/>
            </a:stretch>
          </p:blipFill>
          <p:spPr>
            <a:xfrm>
              <a:off x="1428750" y="2476500"/>
              <a:ext cx="1714500" cy="3009900"/>
            </a:xfrm>
            <a:prstGeom prst="roundRect">
              <a:avLst>
                <a:gd name="adj" fmla="val 11111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1428750" y="2476500"/>
              <a:ext cx="1714500" cy="3009900"/>
            </a:xfrm>
            <a:prstGeom prst="roundRect">
              <a:avLst>
                <a:gd name="adj" fmla="val 11111"/>
              </a:avLst>
            </a:prstGeom>
            <a:noFill/>
            <a:ln w="14288">
              <a:solidFill>
                <a:srgbClr val="64748B">
                  <a:alpha val="55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65002" y="5623560"/>
              <a:ext cx="841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20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Bootstrap 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2518" y="5860256"/>
              <a:ext cx="1126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111 media query</a:t>
              </a:r>
            </a:p>
          </p:txBody>
        </p:sp>
      </p:grpSp>
      <p:grpSp>
        <p:nvGrpSpPr>
          <p:cNvPr id="20" name="phone-baru"/>
          <p:cNvGrpSpPr/>
          <p:nvPr/>
        </p:nvGrpSpPr>
        <p:grpSpPr>
          <a:xfrm>
            <a:off x="9010650" y="1771650"/>
            <a:ext cx="1790700" cy="4308634"/>
            <a:chOff x="9010650" y="1771650"/>
            <a:chExt cx="1790700" cy="4308634"/>
          </a:xfrm>
        </p:grpSpPr>
        <p:sp>
          <p:nvSpPr>
            <p:cNvPr id="13" name="Rectangle 13"/>
            <p:cNvSpPr/>
            <p:nvPr/>
          </p:nvSpPr>
          <p:spPr>
            <a:xfrm>
              <a:off x="9010650" y="1771650"/>
              <a:ext cx="1790700" cy="323850"/>
            </a:xfrm>
            <a:prstGeom prst="roundRect">
              <a:avLst>
                <a:gd name="adj" fmla="val 23529"/>
              </a:avLst>
            </a:prstGeom>
            <a:solidFill>
              <a:srgbClr val="22D3EE">
                <a:alpha val="14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94048" y="1869281"/>
              <a:ext cx="823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b="1" spc="112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WEB BARU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048750" y="2476500"/>
              <a:ext cx="1714500" cy="3009900"/>
            </a:xfrm>
            <a:prstGeom prst="roundRect">
              <a:avLst>
                <a:gd name="adj" fmla="val 11111"/>
              </a:avLst>
            </a:prstGeom>
            <a:solidFill>
              <a:srgbClr val="121E31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rcRect l="0" t="9439" r="0" b="9439"/>
            <a:stretch>
              <a:fillRect/>
            </a:stretch>
          </p:blipFill>
          <p:spPr>
            <a:xfrm>
              <a:off x="9048750" y="2476500"/>
              <a:ext cx="1714500" cy="3009900"/>
            </a:xfrm>
            <a:prstGeom prst="roundRect">
              <a:avLst>
                <a:gd name="adj" fmla="val 11111"/>
              </a:avLst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9048750" y="2476500"/>
              <a:ext cx="1714500" cy="3009900"/>
            </a:xfrm>
            <a:prstGeom prst="roundRect">
              <a:avLst>
                <a:gd name="adj" fmla="val 11111"/>
              </a:avLst>
            </a:prstGeom>
            <a:noFill/>
            <a:ln w="14288">
              <a:solidFill>
                <a:srgbClr val="22D3EE">
                  <a:alpha val="6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99291" y="5623560"/>
              <a:ext cx="813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20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Tailwind v4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5642" y="5860256"/>
              <a:ext cx="12607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utilitas mobile-first</a:t>
              </a:r>
            </a:p>
          </p:txBody>
        </p:sp>
      </p:grpSp>
      <p:grpSp>
        <p:nvGrpSpPr>
          <p:cNvPr id="28" name="mid-verdict"/>
          <p:cNvGrpSpPr/>
          <p:nvPr/>
        </p:nvGrpSpPr>
        <p:grpSpPr>
          <a:xfrm>
            <a:off x="4000500" y="2163828"/>
            <a:ext cx="4191000" cy="3827778"/>
            <a:chOff x="4000500" y="2163828"/>
            <a:chExt cx="4191000" cy="3827778"/>
          </a:xfrm>
        </p:grpSpPr>
        <p:sp>
          <p:nvSpPr>
            <p:cNvPr id="21" name="Freeform 21"/>
            <p:cNvSpPr/>
            <p:nvPr/>
          </p:nvSpPr>
          <p:spPr>
            <a:xfrm>
              <a:off x="5778500" y="2163828"/>
              <a:ext cx="667703" cy="668796"/>
            </a:xfrm>
            <a:custGeom>
              <a:avLst/>
              <a:gdLst/>
              <a:ahLst/>
              <a:cxnLst/>
              <a:rect l="l" t="t" r="r" b="b"/>
              <a:pathLst>
                <a:path w="667703" h="668796">
                  <a:moveTo>
                    <a:pt x="476250" y="56767"/>
                  </a:moveTo>
                  <a:cubicBezTo>
                    <a:pt x="608564" y="133164"/>
                    <a:pt x="667703" y="292967"/>
                    <a:pt x="616997" y="437094"/>
                  </a:cubicBezTo>
                  <a:cubicBezTo>
                    <a:pt x="566292" y="581222"/>
                    <a:pt x="420124" y="668796"/>
                    <a:pt x="269121" y="645519"/>
                  </a:cubicBezTo>
                  <a:cubicBezTo>
                    <a:pt x="118118" y="622242"/>
                    <a:pt x="5107" y="494715"/>
                    <a:pt x="159" y="342009"/>
                  </a:cubicBezTo>
                  <a:lnTo>
                    <a:pt x="0" y="331722"/>
                  </a:lnTo>
                  <a:lnTo>
                    <a:pt x="159" y="321435"/>
                  </a:lnTo>
                  <a:cubicBezTo>
                    <a:pt x="3776" y="209897"/>
                    <a:pt x="65685" y="108447"/>
                    <a:pt x="163223" y="54223"/>
                  </a:cubicBezTo>
                  <a:cubicBezTo>
                    <a:pt x="260761" y="0"/>
                    <a:pt x="379605" y="966"/>
                    <a:pt x="476250" y="56767"/>
                  </a:cubicBezTo>
                  <a:close/>
                  <a:moveTo>
                    <a:pt x="435197" y="245775"/>
                  </a:moveTo>
                  <a:cubicBezTo>
                    <a:pt x="423885" y="234464"/>
                    <a:pt x="405926" y="233335"/>
                    <a:pt x="393287" y="243139"/>
                  </a:cubicBezTo>
                  <a:lnTo>
                    <a:pt x="390302" y="245775"/>
                  </a:lnTo>
                  <a:lnTo>
                    <a:pt x="285750" y="350295"/>
                  </a:lnTo>
                  <a:lnTo>
                    <a:pt x="244697" y="309275"/>
                  </a:lnTo>
                  <a:lnTo>
                    <a:pt x="241713" y="306639"/>
                  </a:lnTo>
                  <a:cubicBezTo>
                    <a:pt x="229073" y="296842"/>
                    <a:pt x="211119" y="297975"/>
                    <a:pt x="199811" y="309283"/>
                  </a:cubicBezTo>
                  <a:cubicBezTo>
                    <a:pt x="188503" y="320591"/>
                    <a:pt x="187370" y="338545"/>
                    <a:pt x="197167" y="351184"/>
                  </a:cubicBezTo>
                  <a:lnTo>
                    <a:pt x="199803" y="354169"/>
                  </a:lnTo>
                  <a:lnTo>
                    <a:pt x="263302" y="417669"/>
                  </a:lnTo>
                  <a:lnTo>
                    <a:pt x="266287" y="420304"/>
                  </a:lnTo>
                  <a:cubicBezTo>
                    <a:pt x="277741" y="429191"/>
                    <a:pt x="293759" y="429191"/>
                    <a:pt x="305212" y="420304"/>
                  </a:cubicBezTo>
                  <a:lnTo>
                    <a:pt x="308197" y="417669"/>
                  </a:lnTo>
                  <a:lnTo>
                    <a:pt x="435197" y="290669"/>
                  </a:lnTo>
                  <a:lnTo>
                    <a:pt x="437832" y="287685"/>
                  </a:lnTo>
                  <a:cubicBezTo>
                    <a:pt x="447637" y="275045"/>
                    <a:pt x="446507" y="257086"/>
                    <a:pt x="435197" y="245775"/>
                  </a:cubicBez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77903" y="3109912"/>
              <a:ext cx="14361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22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Keduanya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29908" y="3490912"/>
              <a:ext cx="13321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225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responsif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10350" y="4015264"/>
              <a:ext cx="1771300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Hamburger menu ada di</a:t>
              </a:r>
              <a:br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keduanya. Tidak ada</a:t>
              </a:r>
              <a:br/>
              <a:r>
                <a:rPr lang="id-ID" sz="128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overflow pada 390 px.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00500" y="4876800"/>
              <a:ext cx="4191000" cy="1028700"/>
            </a:xfrm>
            <a:prstGeom prst="roundRect">
              <a:avLst>
                <a:gd name="adj" fmla="val 12963"/>
              </a:avLst>
            </a:prstGeom>
            <a:solidFill>
              <a:srgbClr val="F59E0B">
                <a:alpha val="8000"/>
              </a:srgbClr>
            </a:solidFill>
            <a:ln w="14288">
              <a:solidFill>
                <a:srgbClr val="F59E0B">
                  <a:alpha val="40000"/>
                </a:srgb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239319" y="5125283"/>
              <a:ext cx="265173" cy="230100"/>
            </a:xfrm>
            <a:custGeom>
              <a:avLst/>
              <a:gdLst/>
              <a:ahLst/>
              <a:cxnLst/>
              <a:rect l="l" t="t" r="r" b="b"/>
              <a:pathLst>
                <a:path w="265173" h="230100">
                  <a:moveTo>
                    <a:pt x="132656" y="0"/>
                  </a:moveTo>
                  <a:cubicBezTo>
                    <a:pt x="144026" y="0"/>
                    <a:pt x="154623" y="5560"/>
                    <a:pt x="161112" y="14847"/>
                  </a:cubicBezTo>
                  <a:lnTo>
                    <a:pt x="162362" y="16752"/>
                  </a:lnTo>
                  <a:lnTo>
                    <a:pt x="258969" y="178058"/>
                  </a:lnTo>
                  <a:cubicBezTo>
                    <a:pt x="264937" y="188394"/>
                    <a:pt x="265173" y="201073"/>
                    <a:pt x="259594" y="211624"/>
                  </a:cubicBezTo>
                  <a:cubicBezTo>
                    <a:pt x="254015" y="222175"/>
                    <a:pt x="243404" y="229118"/>
                    <a:pt x="231502" y="230005"/>
                  </a:cubicBezTo>
                  <a:lnTo>
                    <a:pt x="229180" y="230100"/>
                  </a:lnTo>
                  <a:lnTo>
                    <a:pt x="36001" y="230100"/>
                  </a:lnTo>
                  <a:cubicBezTo>
                    <a:pt x="24087" y="229966"/>
                    <a:pt x="13075" y="223728"/>
                    <a:pt x="6835" y="213578"/>
                  </a:cubicBezTo>
                  <a:cubicBezTo>
                    <a:pt x="595" y="203427"/>
                    <a:pt x="0" y="190785"/>
                    <a:pt x="5259" y="180094"/>
                  </a:cubicBezTo>
                  <a:lnTo>
                    <a:pt x="6438" y="177891"/>
                  </a:lnTo>
                  <a:lnTo>
                    <a:pt x="102997" y="16704"/>
                  </a:lnTo>
                  <a:cubicBezTo>
                    <a:pt x="109285" y="6336"/>
                    <a:pt x="120530" y="3"/>
                    <a:pt x="132656" y="0"/>
                  </a:cubicBezTo>
                  <a:close/>
                  <a:moveTo>
                    <a:pt x="132775" y="158710"/>
                  </a:moveTo>
                  <a:lnTo>
                    <a:pt x="131263" y="158794"/>
                  </a:lnTo>
                  <a:cubicBezTo>
                    <a:pt x="125273" y="159506"/>
                    <a:pt x="120763" y="164585"/>
                    <a:pt x="120763" y="170617"/>
                  </a:cubicBezTo>
                  <a:cubicBezTo>
                    <a:pt x="120763" y="176648"/>
                    <a:pt x="125273" y="181727"/>
                    <a:pt x="131263" y="182439"/>
                  </a:cubicBezTo>
                  <a:lnTo>
                    <a:pt x="132656" y="182523"/>
                  </a:lnTo>
                  <a:lnTo>
                    <a:pt x="134168" y="182439"/>
                  </a:lnTo>
                  <a:cubicBezTo>
                    <a:pt x="140157" y="181727"/>
                    <a:pt x="144668" y="176648"/>
                    <a:pt x="144668" y="170617"/>
                  </a:cubicBezTo>
                  <a:cubicBezTo>
                    <a:pt x="144668" y="164585"/>
                    <a:pt x="140157" y="159506"/>
                    <a:pt x="134168" y="158794"/>
                  </a:cubicBezTo>
                  <a:lnTo>
                    <a:pt x="132775" y="158710"/>
                  </a:lnTo>
                  <a:close/>
                  <a:moveTo>
                    <a:pt x="132656" y="75367"/>
                  </a:moveTo>
                  <a:cubicBezTo>
                    <a:pt x="126620" y="75367"/>
                    <a:pt x="121539" y="79885"/>
                    <a:pt x="120833" y="85880"/>
                  </a:cubicBezTo>
                  <a:lnTo>
                    <a:pt x="120750" y="87273"/>
                  </a:lnTo>
                  <a:lnTo>
                    <a:pt x="120750" y="134898"/>
                  </a:lnTo>
                  <a:lnTo>
                    <a:pt x="120833" y="136291"/>
                  </a:lnTo>
                  <a:cubicBezTo>
                    <a:pt x="121545" y="142280"/>
                    <a:pt x="126624" y="146791"/>
                    <a:pt x="132656" y="146791"/>
                  </a:cubicBezTo>
                  <a:cubicBezTo>
                    <a:pt x="138688" y="146791"/>
                    <a:pt x="143766" y="142280"/>
                    <a:pt x="144479" y="136291"/>
                  </a:cubicBezTo>
                  <a:lnTo>
                    <a:pt x="144562" y="134898"/>
                  </a:lnTo>
                  <a:lnTo>
                    <a:pt x="144562" y="87273"/>
                  </a:lnTo>
                  <a:lnTo>
                    <a:pt x="144479" y="85880"/>
                  </a:lnTo>
                  <a:cubicBezTo>
                    <a:pt x="143773" y="79885"/>
                    <a:pt x="138692" y="75367"/>
                    <a:pt x="132656" y="75367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23004" y="5528310"/>
              <a:ext cx="2632588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-ID" sz="12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Klaim "web lama tidak mobile-friendly"</a:t>
              </a:r>
              <a:br/>
              <a:r>
                <a:rPr lang="id-ID" sz="12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adalah mitos — dan tidak kami pakai.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756285" y="6210300"/>
            <a:ext cx="10679430" cy="384334"/>
            <a:chOff x="756285" y="6210300"/>
            <a:chExt cx="10679430" cy="384334"/>
          </a:xfrm>
        </p:grpSpPr>
        <p:sp>
          <p:nvSpPr>
            <p:cNvPr id="29" name="Line 29"/>
            <p:cNvSpPr/>
            <p:nvPr/>
          </p:nvSpPr>
          <p:spPr>
            <a:xfrm>
              <a:off x="762000" y="6210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285" y="6374606"/>
              <a:ext cx="654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Tangkapan layar viewport 390×844 px · HTML identik desktop/mobile (md5 sama) pada web lama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61720" y="637460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5498695" cy="944023"/>
            <a:chOff x="745236" y="602456"/>
            <a:chExt cx="5498695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1624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STRUKTUR KONTEN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549869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Peta Navigasi Kedua Situs</a:t>
              </a:r>
            </a:p>
          </p:txBody>
        </p:sp>
      </p:grpSp>
      <p:grpSp>
        <p:nvGrpSpPr>
          <p:cNvPr id="30" name="nav-lama"/>
          <p:cNvGrpSpPr/>
          <p:nvPr/>
        </p:nvGrpSpPr>
        <p:grpSpPr>
          <a:xfrm>
            <a:off x="762000" y="1771650"/>
            <a:ext cx="5109363" cy="4267200"/>
            <a:chOff x="762000" y="1771650"/>
            <a:chExt cx="5109363" cy="4267200"/>
          </a:xfrm>
        </p:grpSpPr>
        <p:sp>
          <p:nvSpPr>
            <p:cNvPr id="5" name="Rectangle 5"/>
            <p:cNvSpPr/>
            <p:nvPr/>
          </p:nvSpPr>
          <p:spPr>
            <a:xfrm>
              <a:off x="762000" y="1771650"/>
              <a:ext cx="5105400" cy="4267200"/>
            </a:xfrm>
            <a:prstGeom prst="roundRect">
              <a:avLst>
                <a:gd name="adj" fmla="val 3571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90600" y="2000250"/>
              <a:ext cx="1905000" cy="304800"/>
            </a:xfrm>
            <a:prstGeom prst="roundRect">
              <a:avLst>
                <a:gd name="adj" fmla="val 25000"/>
              </a:avLst>
            </a:prstGeom>
            <a:solidFill>
              <a:srgbClr val="64748B">
                <a:alpha val="18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6335" y="2097881"/>
              <a:ext cx="1755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WEB LAMA · 8 MENU</a:t>
              </a:r>
            </a:p>
          </p:txBody>
        </p:sp>
        <p:grpSp>
          <p:nvGrpSpPr>
            <p:cNvPr id="10" name="lama-menu-1"/>
            <p:cNvGrpSpPr/>
            <p:nvPr/>
          </p:nvGrpSpPr>
          <p:grpSpPr>
            <a:xfrm>
              <a:off x="1155573" y="2586514"/>
              <a:ext cx="4715790" cy="249364"/>
              <a:chOff x="1155573" y="2586514"/>
              <a:chExt cx="4715790" cy="24936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155573" y="2586514"/>
                <a:ext cx="46090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Profil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184654" y="2594610"/>
                <a:ext cx="36867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Visi &amp; Misi, Tugas &amp; Fungsi, Struktur, Data Pegawai</a:t>
                </a:r>
              </a:p>
            </p:txBody>
          </p:sp>
        </p:grpSp>
        <p:grpSp>
          <p:nvGrpSpPr>
            <p:cNvPr id="13" name="lama-menu-2"/>
            <p:cNvGrpSpPr/>
            <p:nvPr/>
          </p:nvGrpSpPr>
          <p:grpSpPr>
            <a:xfrm>
              <a:off x="1155573" y="3043714"/>
              <a:ext cx="3351907" cy="249364"/>
              <a:chOff x="1155573" y="3043714"/>
              <a:chExt cx="3351907" cy="24936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155573" y="3043714"/>
                <a:ext cx="49852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Berita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184654" y="3051810"/>
                <a:ext cx="23228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Berita Mediacenter, Berita Video</a:t>
                </a:r>
              </a:p>
            </p:txBody>
          </p:sp>
        </p:grpSp>
        <p:grpSp>
          <p:nvGrpSpPr>
            <p:cNvPr id="16" name="lama-menu-3"/>
            <p:cNvGrpSpPr/>
            <p:nvPr/>
          </p:nvGrpSpPr>
          <p:grpSpPr>
            <a:xfrm>
              <a:off x="1155573" y="3500914"/>
              <a:ext cx="3580405" cy="249364"/>
              <a:chOff x="1155573" y="3500914"/>
              <a:chExt cx="3580405" cy="24936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155573" y="3500914"/>
                <a:ext cx="68582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Layanan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184654" y="3509010"/>
                <a:ext cx="25513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Daftar, Reservasi, Survei, Cek Status</a:t>
                </a:r>
              </a:p>
            </p:txBody>
          </p:sp>
        </p:grpSp>
        <p:grpSp>
          <p:nvGrpSpPr>
            <p:cNvPr id="19" name="lama-menu-4"/>
            <p:cNvGrpSpPr/>
            <p:nvPr/>
          </p:nvGrpSpPr>
          <p:grpSpPr>
            <a:xfrm>
              <a:off x="1155573" y="3958114"/>
              <a:ext cx="3694344" cy="249364"/>
              <a:chOff x="1155573" y="3958114"/>
              <a:chExt cx="3694344" cy="24936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155573" y="3958114"/>
                <a:ext cx="39788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Data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184654" y="3966210"/>
                <a:ext cx="26652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Dokumen, Titik Internet, Indeks SPBE</a:t>
                </a:r>
              </a:p>
            </p:txBody>
          </p:sp>
        </p:grpSp>
        <p:grpSp>
          <p:nvGrpSpPr>
            <p:cNvPr id="22" name="lama-menu-5"/>
            <p:cNvGrpSpPr/>
            <p:nvPr/>
          </p:nvGrpSpPr>
          <p:grpSpPr>
            <a:xfrm>
              <a:off x="1155573" y="4415314"/>
              <a:ext cx="3011497" cy="249364"/>
              <a:chOff x="1155573" y="4415314"/>
              <a:chExt cx="3011497" cy="249364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1155573" y="4415314"/>
                <a:ext cx="79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Informasi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184654" y="4423410"/>
                <a:ext cx="19824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Opendata, PPID, Rantaimas</a:t>
                </a:r>
              </a:p>
            </p:txBody>
          </p:sp>
        </p:grpSp>
        <p:grpSp>
          <p:nvGrpSpPr>
            <p:cNvPr id="25" name="lama-menu-6"/>
            <p:cNvGrpSpPr/>
            <p:nvPr/>
          </p:nvGrpSpPr>
          <p:grpSpPr>
            <a:xfrm>
              <a:off x="1155573" y="4872514"/>
              <a:ext cx="2597289" cy="249364"/>
              <a:chOff x="1155573" y="4872514"/>
              <a:chExt cx="2597289" cy="24936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155573" y="4872514"/>
                <a:ext cx="49240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CBD5E1"/>
                    </a:solidFill>
                    <a:latin typeface="+mn-lt"/>
                    <a:ea typeface="+mn-ea"/>
                    <a:cs typeface="+mn-cs"/>
                  </a:rPr>
                  <a:t>Galeri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184654" y="4880610"/>
                <a:ext cx="15682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Album, Pengumuman</a:t>
                </a: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990600" y="531495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99457" y="5465532"/>
              <a:ext cx="229816" cy="199420"/>
            </a:xfrm>
            <a:custGeom>
              <a:avLst/>
              <a:gdLst/>
              <a:ahLst/>
              <a:cxnLst/>
              <a:rect l="l" t="t" r="r" b="b"/>
              <a:pathLst>
                <a:path w="229816" h="199420">
                  <a:moveTo>
                    <a:pt x="114968" y="0"/>
                  </a:moveTo>
                  <a:cubicBezTo>
                    <a:pt x="124822" y="0"/>
                    <a:pt x="134006" y="4819"/>
                    <a:pt x="139630" y="12867"/>
                  </a:cubicBezTo>
                  <a:lnTo>
                    <a:pt x="140713" y="14518"/>
                  </a:lnTo>
                  <a:lnTo>
                    <a:pt x="224439" y="154316"/>
                  </a:lnTo>
                  <a:cubicBezTo>
                    <a:pt x="229612" y="163275"/>
                    <a:pt x="229816" y="174262"/>
                    <a:pt x="224981" y="183407"/>
                  </a:cubicBezTo>
                  <a:cubicBezTo>
                    <a:pt x="220146" y="192551"/>
                    <a:pt x="210950" y="198568"/>
                    <a:pt x="200634" y="199337"/>
                  </a:cubicBezTo>
                  <a:lnTo>
                    <a:pt x="198622" y="199420"/>
                  </a:lnTo>
                  <a:lnTo>
                    <a:pt x="31201" y="199420"/>
                  </a:lnTo>
                  <a:cubicBezTo>
                    <a:pt x="20875" y="199303"/>
                    <a:pt x="11332" y="193897"/>
                    <a:pt x="5924" y="185100"/>
                  </a:cubicBezTo>
                  <a:cubicBezTo>
                    <a:pt x="516" y="176303"/>
                    <a:pt x="0" y="165347"/>
                    <a:pt x="4558" y="156081"/>
                  </a:cubicBezTo>
                  <a:lnTo>
                    <a:pt x="5579" y="154172"/>
                  </a:lnTo>
                  <a:lnTo>
                    <a:pt x="89264" y="14477"/>
                  </a:lnTo>
                  <a:cubicBezTo>
                    <a:pt x="94713" y="5491"/>
                    <a:pt x="104459" y="2"/>
                    <a:pt x="114968" y="0"/>
                  </a:cubicBezTo>
                  <a:close/>
                  <a:moveTo>
                    <a:pt x="115071" y="137549"/>
                  </a:moveTo>
                  <a:lnTo>
                    <a:pt x="113761" y="137621"/>
                  </a:lnTo>
                  <a:cubicBezTo>
                    <a:pt x="108570" y="138238"/>
                    <a:pt x="104661" y="142640"/>
                    <a:pt x="104661" y="147867"/>
                  </a:cubicBezTo>
                  <a:cubicBezTo>
                    <a:pt x="104661" y="153095"/>
                    <a:pt x="108570" y="157496"/>
                    <a:pt x="113761" y="158114"/>
                  </a:cubicBezTo>
                  <a:lnTo>
                    <a:pt x="114968" y="158186"/>
                  </a:lnTo>
                  <a:lnTo>
                    <a:pt x="116279" y="158114"/>
                  </a:lnTo>
                  <a:cubicBezTo>
                    <a:pt x="121469" y="157496"/>
                    <a:pt x="125378" y="153095"/>
                    <a:pt x="125378" y="147867"/>
                  </a:cubicBezTo>
                  <a:cubicBezTo>
                    <a:pt x="125378" y="142640"/>
                    <a:pt x="121469" y="138238"/>
                    <a:pt x="116279" y="137621"/>
                  </a:cubicBezTo>
                  <a:lnTo>
                    <a:pt x="115071" y="137549"/>
                  </a:lnTo>
                  <a:close/>
                  <a:moveTo>
                    <a:pt x="114968" y="65317"/>
                  </a:moveTo>
                  <a:cubicBezTo>
                    <a:pt x="109737" y="65318"/>
                    <a:pt x="105334" y="69234"/>
                    <a:pt x="104722" y="74429"/>
                  </a:cubicBezTo>
                  <a:lnTo>
                    <a:pt x="104649" y="75636"/>
                  </a:lnTo>
                  <a:lnTo>
                    <a:pt x="104649" y="116911"/>
                  </a:lnTo>
                  <a:lnTo>
                    <a:pt x="104722" y="118118"/>
                  </a:lnTo>
                  <a:cubicBezTo>
                    <a:pt x="105339" y="123309"/>
                    <a:pt x="109741" y="127218"/>
                    <a:pt x="114968" y="127218"/>
                  </a:cubicBezTo>
                  <a:cubicBezTo>
                    <a:pt x="120195" y="127218"/>
                    <a:pt x="124597" y="123309"/>
                    <a:pt x="125215" y="118118"/>
                  </a:cubicBezTo>
                  <a:lnTo>
                    <a:pt x="125287" y="116911"/>
                  </a:lnTo>
                  <a:lnTo>
                    <a:pt x="125287" y="75636"/>
                  </a:lnTo>
                  <a:lnTo>
                    <a:pt x="125215" y="74429"/>
                  </a:lnTo>
                  <a:cubicBezTo>
                    <a:pt x="124602" y="69234"/>
                    <a:pt x="120199" y="65318"/>
                    <a:pt x="114968" y="65317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46454" y="5509260"/>
              <a:ext cx="2627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F59E0B"/>
                  </a:solidFill>
                  <a:latin typeface="+mn-lt"/>
                  <a:ea typeface="+mn-ea"/>
                  <a:cs typeface="+mn-cs"/>
                </a:rPr>
                <a:t>2 halaman berisi placeholder kosong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4885" y="5765006"/>
              <a:ext cx="4654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/profil/struktur-organisasi &amp; /profil/tugas-fungsi: "Ini adalah isi tugas"</a:t>
              </a:r>
            </a:p>
          </p:txBody>
        </p:sp>
      </p:grpSp>
      <p:grpSp>
        <p:nvGrpSpPr>
          <p:cNvPr id="56" name="nav-baru"/>
          <p:cNvGrpSpPr/>
          <p:nvPr/>
        </p:nvGrpSpPr>
        <p:grpSpPr>
          <a:xfrm>
            <a:off x="6324600" y="1771650"/>
            <a:ext cx="5105400" cy="4267200"/>
            <a:chOff x="6324600" y="1771650"/>
            <a:chExt cx="5105400" cy="4267200"/>
          </a:xfrm>
        </p:grpSpPr>
        <p:sp>
          <p:nvSpPr>
            <p:cNvPr id="31" name="Rectangle 31"/>
            <p:cNvSpPr/>
            <p:nvPr/>
          </p:nvSpPr>
          <p:spPr>
            <a:xfrm>
              <a:off x="6324600" y="1771650"/>
              <a:ext cx="5105400" cy="4267200"/>
            </a:xfrm>
            <a:prstGeom prst="roundRect">
              <a:avLst>
                <a:gd name="adj" fmla="val 3571"/>
              </a:avLst>
            </a:prstGeom>
            <a:solidFill>
              <a:srgbClr val="121E31"/>
            </a:solidFill>
            <a:ln w="14288">
              <a:solidFill>
                <a:srgbClr val="22D3EE">
                  <a:alpha val="40000"/>
                </a:srgbClr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553200" y="2000250"/>
              <a:ext cx="1905000" cy="304800"/>
            </a:xfrm>
            <a:prstGeom prst="roundRect">
              <a:avLst>
                <a:gd name="adj" fmla="val 25000"/>
              </a:avLst>
            </a:prstGeom>
            <a:solidFill>
              <a:srgbClr val="22D3EE">
                <a:alpha val="14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8935" y="2097881"/>
              <a:ext cx="1755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WEB BARU · 6 MENU</a:t>
              </a:r>
            </a:p>
          </p:txBody>
        </p:sp>
        <p:grpSp>
          <p:nvGrpSpPr>
            <p:cNvPr id="36" name="baru-menu-1"/>
            <p:cNvGrpSpPr/>
            <p:nvPr/>
          </p:nvGrpSpPr>
          <p:grpSpPr>
            <a:xfrm>
              <a:off x="6718173" y="2586514"/>
              <a:ext cx="4180361" cy="249364"/>
              <a:chOff x="6718173" y="2586514"/>
              <a:chExt cx="4180361" cy="249364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718173" y="2586514"/>
                <a:ext cx="46090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Profil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18654" y="2594610"/>
                <a:ext cx="33798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Visi &amp; Misi, Tugas &amp; Fungsi, Maklumat, Sejarah</a:t>
                </a:r>
              </a:p>
            </p:txBody>
          </p:sp>
        </p:grpSp>
        <p:grpSp>
          <p:nvGrpSpPr>
            <p:cNvPr id="39" name="baru-menu-2"/>
            <p:cNvGrpSpPr/>
            <p:nvPr/>
          </p:nvGrpSpPr>
          <p:grpSpPr>
            <a:xfrm>
              <a:off x="6718173" y="3043714"/>
              <a:ext cx="4157901" cy="249364"/>
              <a:chOff x="6718173" y="3043714"/>
              <a:chExt cx="4157901" cy="249364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6718173" y="3043714"/>
                <a:ext cx="49852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Berita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518654" y="3051810"/>
                <a:ext cx="33574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Berita + Pengumuman (dari API Media Center)</a:t>
                </a:r>
              </a:p>
            </p:txBody>
          </p:sp>
        </p:grpSp>
        <p:grpSp>
          <p:nvGrpSpPr>
            <p:cNvPr id="42" name="baru-menu-3"/>
            <p:cNvGrpSpPr/>
            <p:nvPr/>
          </p:nvGrpSpPr>
          <p:grpSpPr>
            <a:xfrm>
              <a:off x="6718173" y="3500914"/>
              <a:ext cx="2383003" cy="249364"/>
              <a:chOff x="6718173" y="3500914"/>
              <a:chExt cx="2383003" cy="249364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6718173" y="3500914"/>
                <a:ext cx="68582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Layanan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18654" y="3509010"/>
                <a:ext cx="15825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Layanan + Survei IKM</a:t>
                </a:r>
              </a:p>
            </p:txBody>
          </p:sp>
        </p:grpSp>
        <p:grpSp>
          <p:nvGrpSpPr>
            <p:cNvPr id="45" name="baru-menu-4"/>
            <p:cNvGrpSpPr/>
            <p:nvPr/>
          </p:nvGrpSpPr>
          <p:grpSpPr>
            <a:xfrm>
              <a:off x="6718173" y="3958114"/>
              <a:ext cx="3890012" cy="249364"/>
              <a:chOff x="6718173" y="3958114"/>
              <a:chExt cx="3890012" cy="249364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6718173" y="3958114"/>
                <a:ext cx="39788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Data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518654" y="3966210"/>
                <a:ext cx="30895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Data Terbuka (terintegrasi Open Data HST)</a:t>
                </a:r>
              </a:p>
            </p:txBody>
          </p:sp>
        </p:grpSp>
        <p:grpSp>
          <p:nvGrpSpPr>
            <p:cNvPr id="48" name="baru-menu-5"/>
            <p:cNvGrpSpPr/>
            <p:nvPr/>
          </p:nvGrpSpPr>
          <p:grpSpPr>
            <a:xfrm>
              <a:off x="6718173" y="4415314"/>
              <a:ext cx="2914312" cy="249364"/>
              <a:chOff x="6718173" y="4415314"/>
              <a:chExt cx="2914312" cy="249364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718173" y="4415314"/>
                <a:ext cx="484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Radio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518654" y="4423410"/>
                <a:ext cx="21138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Swara Murakata + langganan</a:t>
                </a:r>
              </a:p>
            </p:txBody>
          </p:sp>
        </p:grpSp>
        <p:grpSp>
          <p:nvGrpSpPr>
            <p:cNvPr id="51" name="baru-menu-6"/>
            <p:cNvGrpSpPr/>
            <p:nvPr/>
          </p:nvGrpSpPr>
          <p:grpSpPr>
            <a:xfrm>
              <a:off x="6718173" y="4872514"/>
              <a:ext cx="2274489" cy="249364"/>
              <a:chOff x="6718173" y="4872514"/>
              <a:chExt cx="2274489" cy="249364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6718173" y="4872514"/>
                <a:ext cx="59592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80" b="1" dirty="0">
                    <a:solidFill>
                      <a:srgbClr val="E2E8F0"/>
                    </a:solidFill>
                    <a:latin typeface="+mn-lt"/>
                    <a:ea typeface="+mn-ea"/>
                    <a:cs typeface="+mn-cs"/>
                  </a:rPr>
                  <a:t>Kontak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518654" y="4880610"/>
                <a:ext cx="14740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20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Peta + cuaca + form</a:t>
                </a:r>
              </a:p>
            </p:txBody>
          </p:sp>
        </p:grpSp>
        <p:sp>
          <p:nvSpPr>
            <p:cNvPr id="52" name="Line 52"/>
            <p:cNvSpPr/>
            <p:nvPr/>
          </p:nvSpPr>
          <p:spPr>
            <a:xfrm>
              <a:off x="6553200" y="531495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593588" y="5509207"/>
              <a:ext cx="177310" cy="125834"/>
            </a:xfrm>
            <a:custGeom>
              <a:avLst/>
              <a:gdLst/>
              <a:ahLst/>
              <a:cxnLst/>
              <a:rect l="l" t="t" r="r" b="b"/>
              <a:pathLst>
                <a:path w="177310" h="125834">
                  <a:moveTo>
                    <a:pt x="173282" y="4028"/>
                  </a:moveTo>
                  <a:cubicBezTo>
                    <a:pt x="177310" y="8058"/>
                    <a:pt x="177310" y="14589"/>
                    <a:pt x="173282" y="18619"/>
                  </a:cubicBezTo>
                  <a:lnTo>
                    <a:pt x="70095" y="121806"/>
                  </a:lnTo>
                  <a:cubicBezTo>
                    <a:pt x="66065" y="125834"/>
                    <a:pt x="59534" y="125834"/>
                    <a:pt x="55504" y="121806"/>
                  </a:cubicBezTo>
                  <a:lnTo>
                    <a:pt x="3911" y="70213"/>
                  </a:lnTo>
                  <a:cubicBezTo>
                    <a:pt x="0" y="66164"/>
                    <a:pt x="56" y="59728"/>
                    <a:pt x="4036" y="55748"/>
                  </a:cubicBezTo>
                  <a:cubicBezTo>
                    <a:pt x="8016" y="51767"/>
                    <a:pt x="14452" y="51711"/>
                    <a:pt x="18501" y="55622"/>
                  </a:cubicBezTo>
                  <a:lnTo>
                    <a:pt x="62799" y="99920"/>
                  </a:lnTo>
                  <a:lnTo>
                    <a:pt x="158691" y="4028"/>
                  </a:lnTo>
                  <a:cubicBezTo>
                    <a:pt x="162721" y="0"/>
                    <a:pt x="169252" y="0"/>
                    <a:pt x="173282" y="4028"/>
                  </a:cubicBezTo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09054" y="5509260"/>
              <a:ext cx="2803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Tidak ada halaman placeholder kosong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47485" y="5765006"/>
              <a:ext cx="3811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Halaman galeri dihapus; hoaks &amp; pencarian ditambahkan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756285" y="6210300"/>
            <a:ext cx="10679430" cy="384334"/>
            <a:chOff x="756285" y="6210300"/>
            <a:chExt cx="10679430" cy="384334"/>
          </a:xfrm>
        </p:grpSpPr>
        <p:sp>
          <p:nvSpPr>
            <p:cNvPr id="57" name="Line 57"/>
            <p:cNvSpPr/>
            <p:nvPr/>
          </p:nvSpPr>
          <p:spPr>
            <a:xfrm>
              <a:off x="762000" y="6210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6285" y="6374606"/>
              <a:ext cx="4614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Dipetakan dari menu navbar web lama dan struktur rute aplikasi baru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61720" y="637460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0D17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5236" y="602456"/>
            <a:ext cx="8272185" cy="944023"/>
            <a:chOff x="745236" y="602456"/>
            <a:chExt cx="8272185" cy="944023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602456"/>
              <a:ext cx="3040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KELEBIHAN YANG DIPERTAHANKAN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901065"/>
              <a:ext cx="827218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Bukan Menghapus — Tapi Meneruskan</a:t>
              </a:r>
            </a:p>
          </p:txBody>
        </p:sp>
      </p:grpSp>
      <p:grpSp>
        <p:nvGrpSpPr>
          <p:cNvPr id="18" name="keep-1"/>
          <p:cNvGrpSpPr/>
          <p:nvPr/>
        </p:nvGrpSpPr>
        <p:grpSpPr>
          <a:xfrm>
            <a:off x="762000" y="1809750"/>
            <a:ext cx="3409950" cy="1181100"/>
            <a:chOff x="762000" y="1809750"/>
            <a:chExt cx="3409950" cy="1181100"/>
          </a:xfrm>
        </p:grpSpPr>
        <p:sp>
          <p:nvSpPr>
            <p:cNvPr id="5" name="Rectangle 5"/>
            <p:cNvSpPr/>
            <p:nvPr/>
          </p:nvSpPr>
          <p:spPr>
            <a:xfrm>
              <a:off x="762000" y="1809750"/>
              <a:ext cx="3409950" cy="1181100"/>
            </a:xfrm>
            <a:prstGeom prst="roundRect">
              <a:avLst>
                <a:gd name="adj" fmla="val 1129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15127" y="2064080"/>
              <a:ext cx="255728" cy="253326"/>
              <a:chOff x="1015127" y="2064080"/>
              <a:chExt cx="255728" cy="25332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52283" y="2241549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5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4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26604" y="2241549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3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23061" y="2241549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15127" y="2165350"/>
                <a:ext cx="77504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4" h="50800">
                    <a:moveTo>
                      <a:pt x="77504" y="0"/>
                    </a:moveTo>
                    <a:cubicBezTo>
                      <a:pt x="75617" y="16881"/>
                      <a:pt x="75617" y="33919"/>
                      <a:pt x="77504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16084" y="2165350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3368" y="2165350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8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26566" y="2064093"/>
                <a:ext cx="107124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4" h="75857">
                    <a:moveTo>
                      <a:pt x="107124" y="0"/>
                    </a:moveTo>
                    <a:cubicBezTo>
                      <a:pt x="103881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23061" y="2090623"/>
                <a:ext cx="39878" cy="49339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39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39"/>
                    </a:cubicBezTo>
                    <a:lnTo>
                      <a:pt x="0" y="49339"/>
                    </a:lnTo>
                    <a:cubicBezTo>
                      <a:pt x="4318" y="32614"/>
                      <a:pt x="10795" y="16319"/>
                      <a:pt x="19431" y="864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52309" y="2064080"/>
                <a:ext cx="107124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4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4" y="75870"/>
                    </a:cubicBezTo>
                    <a:lnTo>
                      <a:pt x="36766" y="75870"/>
                    </a:lnTo>
                    <a:cubicBezTo>
                      <a:pt x="31099" y="51008"/>
                      <a:pt x="21312" y="27270"/>
                      <a:pt x="7810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983361" y="2436971"/>
              <a:ext cx="22460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Identitas &amp; kontak resmi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885" y="2697956"/>
              <a:ext cx="2456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nama instansi, alamat, telepon, email</a:t>
              </a:r>
            </a:p>
          </p:txBody>
        </p:sp>
      </p:grpSp>
      <p:grpSp>
        <p:nvGrpSpPr>
          <p:cNvPr id="26" name="keep-2"/>
          <p:cNvGrpSpPr/>
          <p:nvPr/>
        </p:nvGrpSpPr>
        <p:grpSpPr>
          <a:xfrm>
            <a:off x="4438650" y="1809750"/>
            <a:ext cx="3409950" cy="1181100"/>
            <a:chOff x="4438650" y="1809750"/>
            <a:chExt cx="3409950" cy="1181100"/>
          </a:xfrm>
        </p:grpSpPr>
        <p:sp>
          <p:nvSpPr>
            <p:cNvPr id="19" name="Rectangle 19"/>
            <p:cNvSpPr/>
            <p:nvPr/>
          </p:nvSpPr>
          <p:spPr>
            <a:xfrm>
              <a:off x="4438650" y="1809750"/>
              <a:ext cx="3409950" cy="1181100"/>
            </a:xfrm>
            <a:prstGeom prst="roundRect">
              <a:avLst>
                <a:gd name="adj" fmla="val 1129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680276" y="2055070"/>
              <a:ext cx="278733" cy="263734"/>
              <a:chOff x="4680276" y="2055070"/>
              <a:chExt cx="278733" cy="26373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768432" y="2165345"/>
                <a:ext cx="102803" cy="153459"/>
              </a:xfrm>
              <a:custGeom>
                <a:avLst/>
                <a:gdLst/>
                <a:ahLst/>
                <a:cxnLst/>
                <a:rect l="l" t="t" r="r" b="b"/>
                <a:pathLst>
                  <a:path w="102803" h="153459">
                    <a:moveTo>
                      <a:pt x="51217" y="4"/>
                    </a:moveTo>
                    <a:cubicBezTo>
                      <a:pt x="61216" y="1"/>
                      <a:pt x="70286" y="5864"/>
                      <a:pt x="74389" y="14982"/>
                    </a:cubicBezTo>
                    <a:cubicBezTo>
                      <a:pt x="78491" y="24100"/>
                      <a:pt x="76863" y="34776"/>
                      <a:pt x="70229" y="42257"/>
                    </a:cubicBezTo>
                    <a:lnTo>
                      <a:pt x="101370" y="135691"/>
                    </a:lnTo>
                    <a:cubicBezTo>
                      <a:pt x="102803" y="139997"/>
                      <a:pt x="101831" y="144740"/>
                      <a:pt x="98819" y="148135"/>
                    </a:cubicBezTo>
                    <a:cubicBezTo>
                      <a:pt x="95807" y="151529"/>
                      <a:pt x="91213" y="153059"/>
                      <a:pt x="86767" y="152148"/>
                    </a:cubicBezTo>
                    <a:cubicBezTo>
                      <a:pt x="82321" y="151237"/>
                      <a:pt x="78699" y="148023"/>
                      <a:pt x="77265" y="143717"/>
                    </a:cubicBezTo>
                    <a:lnTo>
                      <a:pt x="71677" y="127004"/>
                    </a:lnTo>
                    <a:lnTo>
                      <a:pt x="30732" y="127004"/>
                    </a:lnTo>
                    <a:lnTo>
                      <a:pt x="25170" y="143730"/>
                    </a:lnTo>
                    <a:cubicBezTo>
                      <a:pt x="23134" y="149840"/>
                      <a:pt x="16846" y="153459"/>
                      <a:pt x="10539" y="152150"/>
                    </a:cubicBezTo>
                    <a:lnTo>
                      <a:pt x="9104" y="151769"/>
                    </a:lnTo>
                    <a:cubicBezTo>
                      <a:pt x="5907" y="150705"/>
                      <a:pt x="3264" y="148415"/>
                      <a:pt x="1756" y="145402"/>
                    </a:cubicBezTo>
                    <a:cubicBezTo>
                      <a:pt x="249" y="142389"/>
                      <a:pt x="0" y="138900"/>
                      <a:pt x="1065" y="135703"/>
                    </a:cubicBezTo>
                    <a:lnTo>
                      <a:pt x="32205" y="42270"/>
                    </a:lnTo>
                    <a:cubicBezTo>
                      <a:pt x="28085" y="37619"/>
                      <a:pt x="25812" y="31618"/>
                      <a:pt x="25817" y="25404"/>
                    </a:cubicBezTo>
                    <a:lnTo>
                      <a:pt x="25881" y="23499"/>
                    </a:lnTo>
                    <a:cubicBezTo>
                      <a:pt x="26878" y="10244"/>
                      <a:pt x="37925" y="0"/>
                      <a:pt x="51217" y="4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680276" y="2055070"/>
                <a:ext cx="278733" cy="194158"/>
              </a:xfrm>
              <a:custGeom>
                <a:avLst/>
                <a:gdLst/>
                <a:ahLst/>
                <a:cxnLst/>
                <a:rect l="l" t="t" r="r" b="b"/>
                <a:pathLst>
                  <a:path w="278733" h="194158">
                    <a:moveTo>
                      <a:pt x="216754" y="35070"/>
                    </a:moveTo>
                    <a:cubicBezTo>
                      <a:pt x="262385" y="70137"/>
                      <a:pt x="278733" y="131505"/>
                      <a:pt x="256594" y="184625"/>
                    </a:cubicBezTo>
                    <a:cubicBezTo>
                      <a:pt x="253894" y="191099"/>
                      <a:pt x="246457" y="194158"/>
                      <a:pt x="239983" y="191458"/>
                    </a:cubicBezTo>
                    <a:cubicBezTo>
                      <a:pt x="233509" y="188757"/>
                      <a:pt x="230450" y="181320"/>
                      <a:pt x="233150" y="174846"/>
                    </a:cubicBezTo>
                    <a:cubicBezTo>
                      <a:pt x="250859" y="132350"/>
                      <a:pt x="237779" y="83257"/>
                      <a:pt x="201274" y="55205"/>
                    </a:cubicBezTo>
                    <a:cubicBezTo>
                      <a:pt x="164770" y="27153"/>
                      <a:pt x="113965" y="27153"/>
                      <a:pt x="77460" y="55205"/>
                    </a:cubicBezTo>
                    <a:cubicBezTo>
                      <a:pt x="40955" y="83257"/>
                      <a:pt x="27876" y="132350"/>
                      <a:pt x="45584" y="174846"/>
                    </a:cubicBezTo>
                    <a:cubicBezTo>
                      <a:pt x="48285" y="181320"/>
                      <a:pt x="45226" y="188757"/>
                      <a:pt x="38752" y="191458"/>
                    </a:cubicBezTo>
                    <a:cubicBezTo>
                      <a:pt x="32278" y="194158"/>
                      <a:pt x="24840" y="191099"/>
                      <a:pt x="22140" y="184625"/>
                    </a:cubicBezTo>
                    <a:cubicBezTo>
                      <a:pt x="0" y="131504"/>
                      <a:pt x="16348" y="70134"/>
                      <a:pt x="61981" y="35067"/>
                    </a:cubicBezTo>
                    <a:cubicBezTo>
                      <a:pt x="107614" y="0"/>
                      <a:pt x="171123" y="1"/>
                      <a:pt x="216754" y="35070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36045" y="2109297"/>
                <a:ext cx="167236" cy="120310"/>
              </a:xfrm>
              <a:custGeom>
                <a:avLst/>
                <a:gdLst/>
                <a:ahLst/>
                <a:cxnLst/>
                <a:rect l="l" t="t" r="r" b="b"/>
                <a:pathLst>
                  <a:path w="167236" h="120310">
                    <a:moveTo>
                      <a:pt x="130048" y="21039"/>
                    </a:moveTo>
                    <a:cubicBezTo>
                      <a:pt x="157428" y="42081"/>
                      <a:pt x="167236" y="78904"/>
                      <a:pt x="153949" y="110777"/>
                    </a:cubicBezTo>
                    <a:cubicBezTo>
                      <a:pt x="151249" y="117251"/>
                      <a:pt x="143812" y="120310"/>
                      <a:pt x="137338" y="117610"/>
                    </a:cubicBezTo>
                    <a:cubicBezTo>
                      <a:pt x="130864" y="114909"/>
                      <a:pt x="127805" y="107472"/>
                      <a:pt x="130505" y="100998"/>
                    </a:cubicBezTo>
                    <a:cubicBezTo>
                      <a:pt x="139364" y="79749"/>
                      <a:pt x="132826" y="55200"/>
                      <a:pt x="114573" y="41172"/>
                    </a:cubicBezTo>
                    <a:cubicBezTo>
                      <a:pt x="96320" y="27143"/>
                      <a:pt x="70914" y="27143"/>
                      <a:pt x="52661" y="41172"/>
                    </a:cubicBezTo>
                    <a:cubicBezTo>
                      <a:pt x="34408" y="55200"/>
                      <a:pt x="27870" y="79749"/>
                      <a:pt x="36729" y="100998"/>
                    </a:cubicBezTo>
                    <a:cubicBezTo>
                      <a:pt x="39429" y="107472"/>
                      <a:pt x="36370" y="114909"/>
                      <a:pt x="29896" y="117610"/>
                    </a:cubicBezTo>
                    <a:cubicBezTo>
                      <a:pt x="23422" y="120310"/>
                      <a:pt x="15985" y="117251"/>
                      <a:pt x="13285" y="110777"/>
                    </a:cubicBezTo>
                    <a:cubicBezTo>
                      <a:pt x="0" y="78905"/>
                      <a:pt x="9807" y="42084"/>
                      <a:pt x="37185" y="21043"/>
                    </a:cubicBezTo>
                    <a:cubicBezTo>
                      <a:pt x="64563" y="2"/>
                      <a:pt x="102668" y="0"/>
                      <a:pt x="130048" y="21039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660011" y="2436971"/>
              <a:ext cx="2062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Radio Swara Murakata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1535" y="2697956"/>
              <a:ext cx="2168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dipertahankan + fitur langganan</a:t>
              </a:r>
            </a:p>
          </p:txBody>
        </p:sp>
      </p:grpSp>
      <p:grpSp>
        <p:nvGrpSpPr>
          <p:cNvPr id="35" name="keep-3"/>
          <p:cNvGrpSpPr/>
          <p:nvPr/>
        </p:nvGrpSpPr>
        <p:grpSpPr>
          <a:xfrm>
            <a:off x="8115300" y="1809750"/>
            <a:ext cx="3409950" cy="1181100"/>
            <a:chOff x="8115300" y="1809750"/>
            <a:chExt cx="3409950" cy="1181100"/>
          </a:xfrm>
        </p:grpSpPr>
        <p:sp>
          <p:nvSpPr>
            <p:cNvPr id="27" name="Rectangle 27"/>
            <p:cNvSpPr/>
            <p:nvPr/>
          </p:nvSpPr>
          <p:spPr>
            <a:xfrm>
              <a:off x="8115300" y="1809750"/>
              <a:ext cx="3409950" cy="1181100"/>
            </a:xfrm>
            <a:prstGeom prst="roundRect">
              <a:avLst>
                <a:gd name="adj" fmla="val 1129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402735" y="2049247"/>
              <a:ext cx="197926" cy="268860"/>
              <a:chOff x="8402735" y="2049247"/>
              <a:chExt cx="197926" cy="2688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420100" y="2089148"/>
                <a:ext cx="127500" cy="127980"/>
              </a:xfrm>
              <a:custGeom>
                <a:avLst/>
                <a:gdLst/>
                <a:ahLst/>
                <a:cxnLst/>
                <a:rect l="l" t="t" r="r" b="b"/>
                <a:pathLst>
                  <a:path w="127500" h="127980">
                    <a:moveTo>
                      <a:pt x="63500" y="2"/>
                    </a:moveTo>
                    <a:cubicBezTo>
                      <a:pt x="98212" y="0"/>
                      <a:pt x="126493" y="27872"/>
                      <a:pt x="126997" y="62581"/>
                    </a:cubicBezTo>
                    <a:cubicBezTo>
                      <a:pt x="127500" y="97289"/>
                      <a:pt x="100040" y="125970"/>
                      <a:pt x="65342" y="126975"/>
                    </a:cubicBezTo>
                    <a:cubicBezTo>
                      <a:pt x="30645" y="127980"/>
                      <a:pt x="1570" y="100937"/>
                      <a:pt x="63" y="66258"/>
                    </a:cubicBezTo>
                    <a:lnTo>
                      <a:pt x="0" y="63502"/>
                    </a:lnTo>
                    <a:lnTo>
                      <a:pt x="63" y="60746"/>
                    </a:lnTo>
                    <a:cubicBezTo>
                      <a:pt x="1539" y="26781"/>
                      <a:pt x="29503" y="4"/>
                      <a:pt x="63500" y="2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402735" y="2049247"/>
                <a:ext cx="197926" cy="225183"/>
              </a:xfrm>
              <a:custGeom>
                <a:avLst/>
                <a:gdLst/>
                <a:ahLst/>
                <a:cxnLst/>
                <a:rect l="l" t="t" r="r" b="b"/>
                <a:pathLst>
                  <a:path w="197926" h="225183">
                    <a:moveTo>
                      <a:pt x="120653" y="8178"/>
                    </a:moveTo>
                    <a:cubicBezTo>
                      <a:pt x="124147" y="2098"/>
                      <a:pt x="131908" y="0"/>
                      <a:pt x="137989" y="3492"/>
                    </a:cubicBezTo>
                    <a:cubicBezTo>
                      <a:pt x="175750" y="25195"/>
                      <a:pt x="197926" y="66444"/>
                      <a:pt x="195203" y="109913"/>
                    </a:cubicBezTo>
                    <a:cubicBezTo>
                      <a:pt x="192480" y="153382"/>
                      <a:pt x="165329" y="191541"/>
                      <a:pt x="125154" y="208362"/>
                    </a:cubicBezTo>
                    <a:cubicBezTo>
                      <a:pt x="84979" y="225183"/>
                      <a:pt x="38740" y="217752"/>
                      <a:pt x="5858" y="189191"/>
                    </a:cubicBezTo>
                    <a:cubicBezTo>
                      <a:pt x="563" y="184590"/>
                      <a:pt x="0" y="176567"/>
                      <a:pt x="4601" y="171271"/>
                    </a:cubicBezTo>
                    <a:cubicBezTo>
                      <a:pt x="9202" y="165976"/>
                      <a:pt x="17225" y="165413"/>
                      <a:pt x="22521" y="170014"/>
                    </a:cubicBezTo>
                    <a:cubicBezTo>
                      <a:pt x="48108" y="192238"/>
                      <a:pt x="84088" y="198020"/>
                      <a:pt x="115349" y="184931"/>
                    </a:cubicBezTo>
                    <a:cubicBezTo>
                      <a:pt x="146611" y="171842"/>
                      <a:pt x="167739" y="142150"/>
                      <a:pt x="169858" y="108325"/>
                    </a:cubicBezTo>
                    <a:cubicBezTo>
                      <a:pt x="171978" y="74501"/>
                      <a:pt x="154723" y="42403"/>
                      <a:pt x="125340" y="25514"/>
                    </a:cubicBezTo>
                    <a:cubicBezTo>
                      <a:pt x="119260" y="22020"/>
                      <a:pt x="117162" y="14259"/>
                      <a:pt x="120653" y="8178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470900" y="2241549"/>
                <a:ext cx="25400" cy="765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765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63500"/>
                    </a:lnTo>
                    <a:cubicBezTo>
                      <a:pt x="25392" y="70219"/>
                      <a:pt x="20152" y="75770"/>
                      <a:pt x="13444" y="76164"/>
                    </a:cubicBezTo>
                    <a:cubicBezTo>
                      <a:pt x="6736" y="76558"/>
                      <a:pt x="883" y="71658"/>
                      <a:pt x="89" y="64986"/>
                    </a:cubicBezTo>
                    <a:lnTo>
                      <a:pt x="0" y="635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19742" y="2292349"/>
                <a:ext cx="12771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27715" h="25400">
                    <a:moveTo>
                      <a:pt x="114658" y="0"/>
                    </a:moveTo>
                    <a:cubicBezTo>
                      <a:pt x="121377" y="7"/>
                      <a:pt x="126928" y="5248"/>
                      <a:pt x="127322" y="11956"/>
                    </a:cubicBezTo>
                    <a:cubicBezTo>
                      <a:pt x="127715" y="18664"/>
                      <a:pt x="122816" y="24517"/>
                      <a:pt x="116143" y="25311"/>
                    </a:cubicBezTo>
                    <a:lnTo>
                      <a:pt x="114658" y="25400"/>
                    </a:lnTo>
                    <a:lnTo>
                      <a:pt x="13058" y="25400"/>
                    </a:lnTo>
                    <a:cubicBezTo>
                      <a:pt x="6338" y="25392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114658" y="0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336661" y="2436971"/>
              <a:ext cx="11647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Kanal terkait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185" y="2697956"/>
              <a:ext cx="2068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PPID, Open Data, SP4N Lapor!</a:t>
              </a:r>
            </a:p>
          </p:txBody>
        </p:sp>
      </p:grpSp>
      <p:grpSp>
        <p:nvGrpSpPr>
          <p:cNvPr id="49" name="keep-4"/>
          <p:cNvGrpSpPr/>
          <p:nvPr/>
        </p:nvGrpSpPr>
        <p:grpSpPr>
          <a:xfrm>
            <a:off x="762000" y="3238500"/>
            <a:ext cx="3409950" cy="1181100"/>
            <a:chOff x="762000" y="3238500"/>
            <a:chExt cx="3409950" cy="1181100"/>
          </a:xfrm>
        </p:grpSpPr>
        <p:sp>
          <p:nvSpPr>
            <p:cNvPr id="36" name="Rectangle 36"/>
            <p:cNvSpPr/>
            <p:nvPr/>
          </p:nvSpPr>
          <p:spPr>
            <a:xfrm>
              <a:off x="762000" y="3238500"/>
              <a:ext cx="3409950" cy="1181100"/>
            </a:xfrm>
            <a:prstGeom prst="roundRect">
              <a:avLst>
                <a:gd name="adj" fmla="val 1129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1015642" y="3492500"/>
              <a:ext cx="254716" cy="254357"/>
              <a:chOff x="1015642" y="3492500"/>
              <a:chExt cx="254716" cy="25435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30300" y="3708399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2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01423" y="3677690"/>
                <a:ext cx="36794" cy="37219"/>
              </a:xfrm>
              <a:custGeom>
                <a:avLst/>
                <a:gdLst/>
                <a:ahLst/>
                <a:cxnLst/>
                <a:rect l="l" t="t" r="r" b="b"/>
                <a:pathLst>
                  <a:path w="36794" h="37219">
                    <a:moveTo>
                      <a:pt x="21751" y="4167"/>
                    </a:moveTo>
                    <a:lnTo>
                      <a:pt x="22945" y="5221"/>
                    </a:lnTo>
                    <a:lnTo>
                      <a:pt x="31835" y="14111"/>
                    </a:lnTo>
                    <a:cubicBezTo>
                      <a:pt x="36562" y="18854"/>
                      <a:pt x="36794" y="26452"/>
                      <a:pt x="32365" y="31475"/>
                    </a:cubicBezTo>
                    <a:cubicBezTo>
                      <a:pt x="27936" y="36498"/>
                      <a:pt x="20368" y="37219"/>
                      <a:pt x="15071" y="33122"/>
                    </a:cubicBezTo>
                    <a:lnTo>
                      <a:pt x="13877" y="32068"/>
                    </a:lnTo>
                    <a:lnTo>
                      <a:pt x="4987" y="23178"/>
                    </a:lnTo>
                    <a:cubicBezTo>
                      <a:pt x="452" y="18651"/>
                      <a:pt x="0" y="11455"/>
                      <a:pt x="3932" y="6396"/>
                    </a:cubicBezTo>
                    <a:cubicBezTo>
                      <a:pt x="7865" y="1337"/>
                      <a:pt x="14950" y="0"/>
                      <a:pt x="20456" y="3278"/>
                    </a:cubicBezTo>
                    <a:lnTo>
                      <a:pt x="21751" y="4167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47591" y="3677953"/>
                <a:ext cx="36974" cy="36765"/>
              </a:xfrm>
              <a:custGeom>
                <a:avLst/>
                <a:gdLst/>
                <a:ahLst/>
                <a:cxnLst/>
                <a:rect l="l" t="t" r="r" b="b"/>
                <a:pathLst>
                  <a:path w="36974" h="36765">
                    <a:moveTo>
                      <a:pt x="31998" y="4958"/>
                    </a:moveTo>
                    <a:cubicBezTo>
                      <a:pt x="36522" y="9482"/>
                      <a:pt x="36974" y="16666"/>
                      <a:pt x="33052" y="21722"/>
                    </a:cubicBezTo>
                    <a:lnTo>
                      <a:pt x="31998" y="22916"/>
                    </a:lnTo>
                    <a:lnTo>
                      <a:pt x="23108" y="31806"/>
                    </a:lnTo>
                    <a:cubicBezTo>
                      <a:pt x="18365" y="36533"/>
                      <a:pt x="10766" y="36765"/>
                      <a:pt x="5744" y="32336"/>
                    </a:cubicBezTo>
                    <a:cubicBezTo>
                      <a:pt x="721" y="27907"/>
                      <a:pt x="0" y="20339"/>
                      <a:pt x="4096" y="15042"/>
                    </a:cubicBezTo>
                    <a:lnTo>
                      <a:pt x="5150" y="13848"/>
                    </a:lnTo>
                    <a:lnTo>
                      <a:pt x="14040" y="4958"/>
                    </a:lnTo>
                    <a:cubicBezTo>
                      <a:pt x="19000" y="0"/>
                      <a:pt x="27039" y="0"/>
                      <a:pt x="31998" y="4958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15642" y="36068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2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31542" y="36068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2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47779" y="3524042"/>
                <a:ext cx="36769" cy="37197"/>
              </a:xfrm>
              <a:custGeom>
                <a:avLst/>
                <a:gdLst/>
                <a:ahLst/>
                <a:cxnLst/>
                <a:rect l="l" t="t" r="r" b="b"/>
                <a:pathLst>
                  <a:path w="36769" h="37197">
                    <a:moveTo>
                      <a:pt x="21726" y="4145"/>
                    </a:moveTo>
                    <a:lnTo>
                      <a:pt x="22920" y="5199"/>
                    </a:lnTo>
                    <a:lnTo>
                      <a:pt x="31810" y="14089"/>
                    </a:lnTo>
                    <a:cubicBezTo>
                      <a:pt x="36537" y="18832"/>
                      <a:pt x="36769" y="26430"/>
                      <a:pt x="32340" y="31453"/>
                    </a:cubicBezTo>
                    <a:cubicBezTo>
                      <a:pt x="27911" y="36476"/>
                      <a:pt x="20344" y="37197"/>
                      <a:pt x="15046" y="33101"/>
                    </a:cubicBezTo>
                    <a:lnTo>
                      <a:pt x="13852" y="32047"/>
                    </a:lnTo>
                    <a:lnTo>
                      <a:pt x="4962" y="23157"/>
                    </a:lnTo>
                    <a:cubicBezTo>
                      <a:pt x="445" y="18629"/>
                      <a:pt x="0" y="11448"/>
                      <a:pt x="3923" y="6397"/>
                    </a:cubicBezTo>
                    <a:cubicBezTo>
                      <a:pt x="7846" y="1346"/>
                      <a:pt x="14913" y="0"/>
                      <a:pt x="20418" y="3256"/>
                    </a:cubicBezTo>
                    <a:lnTo>
                      <a:pt x="21714" y="4145"/>
                    </a:ln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201260" y="3524283"/>
                <a:ext cx="36974" cy="36765"/>
              </a:xfrm>
              <a:custGeom>
                <a:avLst/>
                <a:gdLst/>
                <a:ahLst/>
                <a:cxnLst/>
                <a:rect l="l" t="t" r="r" b="b"/>
                <a:pathLst>
                  <a:path w="36974" h="36765">
                    <a:moveTo>
                      <a:pt x="31998" y="4958"/>
                    </a:moveTo>
                    <a:cubicBezTo>
                      <a:pt x="36522" y="9482"/>
                      <a:pt x="36974" y="16666"/>
                      <a:pt x="33052" y="21722"/>
                    </a:cubicBezTo>
                    <a:lnTo>
                      <a:pt x="31998" y="22916"/>
                    </a:lnTo>
                    <a:lnTo>
                      <a:pt x="23108" y="31806"/>
                    </a:lnTo>
                    <a:cubicBezTo>
                      <a:pt x="18365" y="36533"/>
                      <a:pt x="10766" y="36765"/>
                      <a:pt x="5744" y="32336"/>
                    </a:cubicBezTo>
                    <a:cubicBezTo>
                      <a:pt x="721" y="27907"/>
                      <a:pt x="0" y="20339"/>
                      <a:pt x="4096" y="15042"/>
                    </a:cubicBezTo>
                    <a:lnTo>
                      <a:pt x="5150" y="13848"/>
                    </a:lnTo>
                    <a:lnTo>
                      <a:pt x="14040" y="4958"/>
                    </a:lnTo>
                    <a:cubicBezTo>
                      <a:pt x="19000" y="0"/>
                      <a:pt x="27039" y="0"/>
                      <a:pt x="31998" y="4958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30300" y="34925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2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79500" y="3555998"/>
                <a:ext cx="127500" cy="127980"/>
              </a:xfrm>
              <a:custGeom>
                <a:avLst/>
                <a:gdLst/>
                <a:ahLst/>
                <a:cxnLst/>
                <a:rect l="l" t="t" r="r" b="b"/>
                <a:pathLst>
                  <a:path w="127500" h="127980">
                    <a:moveTo>
                      <a:pt x="63500" y="2"/>
                    </a:moveTo>
                    <a:cubicBezTo>
                      <a:pt x="98212" y="0"/>
                      <a:pt x="126493" y="27872"/>
                      <a:pt x="126997" y="62581"/>
                    </a:cubicBezTo>
                    <a:cubicBezTo>
                      <a:pt x="127500" y="97289"/>
                      <a:pt x="100040" y="125970"/>
                      <a:pt x="65342" y="126975"/>
                    </a:cubicBezTo>
                    <a:cubicBezTo>
                      <a:pt x="30645" y="127980"/>
                      <a:pt x="1570" y="100937"/>
                      <a:pt x="63" y="66258"/>
                    </a:cubicBezTo>
                    <a:lnTo>
                      <a:pt x="0" y="63502"/>
                    </a:lnTo>
                    <a:lnTo>
                      <a:pt x="63" y="60746"/>
                    </a:lnTo>
                    <a:cubicBezTo>
                      <a:pt x="1539" y="26781"/>
                      <a:pt x="29503" y="4"/>
                      <a:pt x="63500" y="2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83361" y="3865721"/>
              <a:ext cx="1952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Mode gelap &amp; terang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4885" y="4126706"/>
              <a:ext cx="2244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sudah ada di web lama, tetap ada</a:t>
              </a:r>
            </a:p>
          </p:txBody>
        </p:sp>
      </p:grpSp>
      <p:grpSp>
        <p:nvGrpSpPr>
          <p:cNvPr id="54" name="keep-5"/>
          <p:cNvGrpSpPr/>
          <p:nvPr/>
        </p:nvGrpSpPr>
        <p:grpSpPr>
          <a:xfrm>
            <a:off x="4438650" y="3238500"/>
            <a:ext cx="3409950" cy="1181100"/>
            <a:chOff x="4438650" y="3238500"/>
            <a:chExt cx="3409950" cy="1181100"/>
          </a:xfrm>
        </p:grpSpPr>
        <p:sp>
          <p:nvSpPr>
            <p:cNvPr id="50" name="Rectangle 50"/>
            <p:cNvSpPr/>
            <p:nvPr/>
          </p:nvSpPr>
          <p:spPr>
            <a:xfrm>
              <a:off x="4438650" y="3238500"/>
              <a:ext cx="3409950" cy="1181100"/>
            </a:xfrm>
            <a:prstGeom prst="roundRect">
              <a:avLst>
                <a:gd name="adj" fmla="val 1129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4730749" y="3492499"/>
              <a:ext cx="177802" cy="254002"/>
            </a:xfrm>
            <a:custGeom>
              <a:avLst/>
              <a:gdLst/>
              <a:ahLst/>
              <a:cxnLst/>
              <a:rect l="l" t="t" r="r" b="b"/>
              <a:pathLst>
                <a:path w="177802" h="254002">
                  <a:moveTo>
                    <a:pt x="139701" y="1"/>
                  </a:moveTo>
                  <a:cubicBezTo>
                    <a:pt x="159875" y="0"/>
                    <a:pt x="176554" y="15726"/>
                    <a:pt x="177737" y="35866"/>
                  </a:cubicBezTo>
                  <a:lnTo>
                    <a:pt x="177801" y="38101"/>
                  </a:lnTo>
                  <a:lnTo>
                    <a:pt x="177801" y="215901"/>
                  </a:lnTo>
                  <a:cubicBezTo>
                    <a:pt x="177802" y="236075"/>
                    <a:pt x="162076" y="252753"/>
                    <a:pt x="141936" y="253937"/>
                  </a:cubicBezTo>
                  <a:lnTo>
                    <a:pt x="139701" y="254000"/>
                  </a:lnTo>
                  <a:lnTo>
                    <a:pt x="38101" y="254000"/>
                  </a:lnTo>
                  <a:cubicBezTo>
                    <a:pt x="17926" y="254002"/>
                    <a:pt x="1248" y="238276"/>
                    <a:pt x="65" y="218136"/>
                  </a:cubicBezTo>
                  <a:lnTo>
                    <a:pt x="1" y="215901"/>
                  </a:lnTo>
                  <a:lnTo>
                    <a:pt x="1" y="38101"/>
                  </a:lnTo>
                  <a:cubicBezTo>
                    <a:pt x="0" y="17926"/>
                    <a:pt x="15726" y="1248"/>
                    <a:pt x="35866" y="65"/>
                  </a:cubicBezTo>
                  <a:lnTo>
                    <a:pt x="38101" y="1"/>
                  </a:lnTo>
                  <a:lnTo>
                    <a:pt x="139701" y="1"/>
                  </a:lnTo>
                  <a:close/>
                  <a:moveTo>
                    <a:pt x="88901" y="177801"/>
                  </a:moveTo>
                  <a:cubicBezTo>
                    <a:pt x="82462" y="177802"/>
                    <a:pt x="77043" y="182620"/>
                    <a:pt x="76290" y="189015"/>
                  </a:cubicBezTo>
                  <a:lnTo>
                    <a:pt x="76201" y="190501"/>
                  </a:lnTo>
                  <a:lnTo>
                    <a:pt x="76290" y="192114"/>
                  </a:lnTo>
                  <a:cubicBezTo>
                    <a:pt x="77050" y="198502"/>
                    <a:pt x="82467" y="203313"/>
                    <a:pt x="88901" y="203313"/>
                  </a:cubicBezTo>
                  <a:cubicBezTo>
                    <a:pt x="95335" y="203313"/>
                    <a:pt x="100752" y="198502"/>
                    <a:pt x="101512" y="192114"/>
                  </a:cubicBezTo>
                  <a:lnTo>
                    <a:pt x="101601" y="190628"/>
                  </a:lnTo>
                  <a:lnTo>
                    <a:pt x="101512" y="189015"/>
                  </a:lnTo>
                  <a:cubicBezTo>
                    <a:pt x="100759" y="182620"/>
                    <a:pt x="95339" y="177802"/>
                    <a:pt x="88901" y="177801"/>
                  </a:cubicBezTo>
                  <a:close/>
                  <a:moveTo>
                    <a:pt x="101601" y="25401"/>
                  </a:moveTo>
                  <a:lnTo>
                    <a:pt x="76201" y="25401"/>
                  </a:lnTo>
                  <a:lnTo>
                    <a:pt x="74715" y="25490"/>
                  </a:lnTo>
                  <a:cubicBezTo>
                    <a:pt x="68326" y="26250"/>
                    <a:pt x="63515" y="31667"/>
                    <a:pt x="63515" y="38101"/>
                  </a:cubicBezTo>
                  <a:cubicBezTo>
                    <a:pt x="63515" y="44535"/>
                    <a:pt x="68326" y="49952"/>
                    <a:pt x="74715" y="50712"/>
                  </a:cubicBezTo>
                  <a:lnTo>
                    <a:pt x="76201" y="50801"/>
                  </a:lnTo>
                  <a:lnTo>
                    <a:pt x="101601" y="50801"/>
                  </a:lnTo>
                  <a:lnTo>
                    <a:pt x="103087" y="50712"/>
                  </a:lnTo>
                  <a:cubicBezTo>
                    <a:pt x="109475" y="49952"/>
                    <a:pt x="114287" y="44535"/>
                    <a:pt x="114287" y="38101"/>
                  </a:cubicBezTo>
                  <a:cubicBezTo>
                    <a:pt x="114287" y="31667"/>
                    <a:pt x="109475" y="26250"/>
                    <a:pt x="103087" y="25490"/>
                  </a:cubicBezTo>
                  <a:lnTo>
                    <a:pt x="101601" y="25401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60011" y="3865721"/>
              <a:ext cx="1500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Desain responsif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61535" y="4126706"/>
              <a:ext cx="2195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dipertahankan &amp; disempurnakan</a:t>
              </a:r>
            </a:p>
          </p:txBody>
        </p:sp>
      </p:grpSp>
      <p:grpSp>
        <p:nvGrpSpPr>
          <p:cNvPr id="63" name="keep-6"/>
          <p:cNvGrpSpPr/>
          <p:nvPr/>
        </p:nvGrpSpPr>
        <p:grpSpPr>
          <a:xfrm>
            <a:off x="8115300" y="3238500"/>
            <a:ext cx="3409950" cy="1181100"/>
            <a:chOff x="8115300" y="3238500"/>
            <a:chExt cx="3409950" cy="1181100"/>
          </a:xfrm>
        </p:grpSpPr>
        <p:sp>
          <p:nvSpPr>
            <p:cNvPr id="55" name="Rectangle 55"/>
            <p:cNvSpPr/>
            <p:nvPr/>
          </p:nvSpPr>
          <p:spPr>
            <a:xfrm>
              <a:off x="8115300" y="3238500"/>
              <a:ext cx="3409950" cy="1181100"/>
            </a:xfrm>
            <a:prstGeom prst="roundRect">
              <a:avLst>
                <a:gd name="adj" fmla="val 11290"/>
              </a:avLst>
            </a:prstGeom>
            <a:solidFill>
              <a:srgbClr val="121E31"/>
            </a:solidFill>
            <a:ln w="14288">
              <a:solidFill>
                <a:srgbClr val="23344F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382000" y="3505200"/>
              <a:ext cx="228600" cy="228600"/>
              <a:chOff x="8382000" y="3505200"/>
              <a:chExt cx="228600" cy="2286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382000" y="35052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76200" y="0"/>
                    </a:move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76200"/>
                    </a:lnTo>
                    <a:cubicBezTo>
                      <a:pt x="101600" y="90228"/>
                      <a:pt x="90228" y="101600"/>
                      <a:pt x="762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509000" y="35052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76200" y="0"/>
                    </a:move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76200"/>
                    </a:lnTo>
                    <a:cubicBezTo>
                      <a:pt x="101600" y="90228"/>
                      <a:pt x="90228" y="101600"/>
                      <a:pt x="762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0" y="36322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76200" y="0"/>
                    </a:move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76200"/>
                    </a:lnTo>
                    <a:cubicBezTo>
                      <a:pt x="101600" y="90228"/>
                      <a:pt x="90228" y="101600"/>
                      <a:pt x="762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509000" y="36322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76200" y="0"/>
                    </a:move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76200"/>
                    </a:lnTo>
                    <a:cubicBezTo>
                      <a:pt x="101600" y="90228"/>
                      <a:pt x="90228" y="101600"/>
                      <a:pt x="762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336661" y="3865721"/>
              <a:ext cx="202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Struktur informasi inti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38185" y="4126706"/>
              <a:ext cx="2376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Profil, Berita, Layanan, Data, Kontak</a:t>
              </a:r>
            </a:p>
          </p:txBody>
        </p:sp>
      </p:grpSp>
      <p:grpSp>
        <p:nvGrpSpPr>
          <p:cNvPr id="71" name="keep-note"/>
          <p:cNvGrpSpPr/>
          <p:nvPr/>
        </p:nvGrpSpPr>
        <p:grpSpPr>
          <a:xfrm>
            <a:off x="762000" y="4667250"/>
            <a:ext cx="10668000" cy="1230439"/>
            <a:chOff x="762000" y="4667250"/>
            <a:chExt cx="10668000" cy="1230439"/>
          </a:xfrm>
        </p:grpSpPr>
        <p:sp>
          <p:nvSpPr>
            <p:cNvPr id="64" name="Rectangle 64"/>
            <p:cNvSpPr/>
            <p:nvPr/>
          </p:nvSpPr>
          <p:spPr>
            <a:xfrm>
              <a:off x="762000" y="4667250"/>
              <a:ext cx="10668000" cy="1181100"/>
            </a:xfrm>
            <a:prstGeom prst="roundRect">
              <a:avLst>
                <a:gd name="adj" fmla="val 11290"/>
              </a:avLst>
            </a:prstGeom>
            <a:solidFill>
              <a:srgbClr val="22D3EE">
                <a:alpha val="6000"/>
              </a:srgbClr>
            </a:solidFill>
            <a:ln w="14288">
              <a:solidFill>
                <a:srgbClr val="22D3EE">
                  <a:alpha val="32000"/>
                </a:srgbClr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52517" y="4953005"/>
              <a:ext cx="280978" cy="266690"/>
              <a:chOff x="1052517" y="4953005"/>
              <a:chExt cx="280978" cy="26669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243012" y="5124455"/>
                <a:ext cx="90483" cy="95240"/>
              </a:xfrm>
              <a:custGeom>
                <a:avLst/>
                <a:gdLst/>
                <a:ahLst/>
                <a:cxnLst/>
                <a:rect l="l" t="t" r="r" b="b"/>
                <a:pathLst>
                  <a:path w="90483" h="95240">
                    <a:moveTo>
                      <a:pt x="14288" y="61908"/>
                    </a:moveTo>
                    <a:cubicBezTo>
                      <a:pt x="6397" y="61908"/>
                      <a:pt x="0" y="55511"/>
                      <a:pt x="0" y="47620"/>
                    </a:cubicBezTo>
                    <a:cubicBezTo>
                      <a:pt x="0" y="39729"/>
                      <a:pt x="6397" y="33333"/>
                      <a:pt x="14288" y="33333"/>
                    </a:cubicBezTo>
                    <a:cubicBezTo>
                      <a:pt x="22178" y="33333"/>
                      <a:pt x="28575" y="26936"/>
                      <a:pt x="28575" y="19045"/>
                    </a:cubicBezTo>
                    <a:cubicBezTo>
                      <a:pt x="28575" y="0"/>
                      <a:pt x="57150" y="0"/>
                      <a:pt x="57150" y="19045"/>
                    </a:cubicBezTo>
                    <a:cubicBezTo>
                      <a:pt x="57150" y="26936"/>
                      <a:pt x="63547" y="33333"/>
                      <a:pt x="71438" y="33333"/>
                    </a:cubicBezTo>
                    <a:cubicBezTo>
                      <a:pt x="90483" y="33333"/>
                      <a:pt x="90483" y="61908"/>
                      <a:pt x="71438" y="61908"/>
                    </a:cubicBezTo>
                    <a:cubicBezTo>
                      <a:pt x="63547" y="61908"/>
                      <a:pt x="57150" y="68304"/>
                      <a:pt x="57150" y="76195"/>
                    </a:cubicBezTo>
                    <a:cubicBezTo>
                      <a:pt x="57150" y="95240"/>
                      <a:pt x="28575" y="95240"/>
                      <a:pt x="28575" y="76195"/>
                    </a:cubicBezTo>
                    <a:cubicBezTo>
                      <a:pt x="28575" y="68304"/>
                      <a:pt x="22178" y="61908"/>
                      <a:pt x="14288" y="61908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052517" y="4981580"/>
                <a:ext cx="209540" cy="204783"/>
              </a:xfrm>
              <a:custGeom>
                <a:avLst/>
                <a:gdLst/>
                <a:ahLst/>
                <a:cxnLst/>
                <a:rect l="l" t="t" r="r" b="b"/>
                <a:pathLst>
                  <a:path w="209540" h="204783">
                    <a:moveTo>
                      <a:pt x="19045" y="90483"/>
                    </a:moveTo>
                    <a:cubicBezTo>
                      <a:pt x="58499" y="90483"/>
                      <a:pt x="90483" y="58499"/>
                      <a:pt x="90483" y="19045"/>
                    </a:cubicBezTo>
                    <a:cubicBezTo>
                      <a:pt x="90483" y="0"/>
                      <a:pt x="119058" y="0"/>
                      <a:pt x="119058" y="19045"/>
                    </a:cubicBezTo>
                    <a:cubicBezTo>
                      <a:pt x="119058" y="58499"/>
                      <a:pt x="151041" y="90483"/>
                      <a:pt x="190495" y="90483"/>
                    </a:cubicBezTo>
                    <a:cubicBezTo>
                      <a:pt x="209540" y="90483"/>
                      <a:pt x="209540" y="119058"/>
                      <a:pt x="190495" y="119058"/>
                    </a:cubicBezTo>
                    <a:cubicBezTo>
                      <a:pt x="151041" y="119058"/>
                      <a:pt x="119058" y="151041"/>
                      <a:pt x="119058" y="190495"/>
                    </a:cubicBezTo>
                    <a:cubicBezTo>
                      <a:pt x="119058" y="198386"/>
                      <a:pt x="112661" y="204783"/>
                      <a:pt x="104770" y="204783"/>
                    </a:cubicBezTo>
                    <a:cubicBezTo>
                      <a:pt x="96879" y="204783"/>
                      <a:pt x="90483" y="198386"/>
                      <a:pt x="90483" y="190495"/>
                    </a:cubicBezTo>
                    <a:cubicBezTo>
                      <a:pt x="90483" y="151041"/>
                      <a:pt x="58499" y="119058"/>
                      <a:pt x="19045" y="119058"/>
                    </a:cubicBezTo>
                    <a:cubicBezTo>
                      <a:pt x="0" y="119058"/>
                      <a:pt x="0" y="90483"/>
                      <a:pt x="19045" y="90483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243012" y="4953005"/>
                <a:ext cx="90483" cy="95240"/>
              </a:xfrm>
              <a:custGeom>
                <a:avLst/>
                <a:gdLst/>
                <a:ahLst/>
                <a:cxnLst/>
                <a:rect l="l" t="t" r="r" b="b"/>
                <a:pathLst>
                  <a:path w="90483" h="95240">
                    <a:moveTo>
                      <a:pt x="14288" y="61908"/>
                    </a:moveTo>
                    <a:cubicBezTo>
                      <a:pt x="6397" y="61908"/>
                      <a:pt x="0" y="55511"/>
                      <a:pt x="0" y="47620"/>
                    </a:cubicBezTo>
                    <a:cubicBezTo>
                      <a:pt x="0" y="39729"/>
                      <a:pt x="6397" y="33333"/>
                      <a:pt x="14288" y="33333"/>
                    </a:cubicBezTo>
                    <a:cubicBezTo>
                      <a:pt x="22178" y="33333"/>
                      <a:pt x="28575" y="26936"/>
                      <a:pt x="28575" y="19045"/>
                    </a:cubicBezTo>
                    <a:cubicBezTo>
                      <a:pt x="28575" y="0"/>
                      <a:pt x="57150" y="0"/>
                      <a:pt x="57150" y="19045"/>
                    </a:cubicBezTo>
                    <a:cubicBezTo>
                      <a:pt x="57150" y="26936"/>
                      <a:pt x="63547" y="33333"/>
                      <a:pt x="71438" y="33333"/>
                    </a:cubicBezTo>
                    <a:cubicBezTo>
                      <a:pt x="90483" y="33333"/>
                      <a:pt x="90483" y="61908"/>
                      <a:pt x="71438" y="61908"/>
                    </a:cubicBezTo>
                    <a:cubicBezTo>
                      <a:pt x="63547" y="61908"/>
                      <a:pt x="57150" y="68304"/>
                      <a:pt x="57150" y="76195"/>
                    </a:cubicBezTo>
                    <a:cubicBezTo>
                      <a:pt x="57150" y="95240"/>
                      <a:pt x="28575" y="95240"/>
                      <a:pt x="28575" y="76195"/>
                    </a:cubicBezTo>
                    <a:cubicBezTo>
                      <a:pt x="28575" y="68304"/>
                      <a:pt x="22178" y="61908"/>
                      <a:pt x="14288" y="61908"/>
                    </a:cubicBezTo>
                  </a:path>
                </a:pathLst>
              </a:custGeom>
              <a:solidFill>
                <a:srgbClr val="22D3EE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6385" y="4964906"/>
              <a:ext cx="1238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spc="112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SIKAP DESAIN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553718" y="5270182"/>
              <a:ext cx="8558441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id-ID" sz="16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Web baru tidak menyalin web lama, dan tidak pula membuang yang sudah baik. Yang sudah</a:t>
              </a:r>
              <a:br/>
              <a:r>
                <a:rPr lang="id-ID" sz="16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bekerja diteruskan; yang lemah diperbaiki dengan dasar yang terukur.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756285" y="6134100"/>
            <a:ext cx="10679430" cy="403384"/>
            <a:chOff x="756285" y="6134100"/>
            <a:chExt cx="10679430" cy="403384"/>
          </a:xfrm>
        </p:grpSpPr>
        <p:sp>
          <p:nvSpPr>
            <p:cNvPr id="72" name="Line 72"/>
            <p:cNvSpPr/>
            <p:nvPr/>
          </p:nvSpPr>
          <p:spPr>
            <a:xfrm>
              <a:off x="762000" y="61341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6285" y="6317456"/>
              <a:ext cx="3193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Unit kerja web baru: 4 — Sekretariat + 3 bidang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261720" y="631745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60000">
              <a:srgbClr val="0E1728"/>
            </a:gs>
            <a:gs pos="100000">
              <a:srgbClr val="101E3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-glow-a"/>
          <p:cNvSpPr/>
          <p:nvPr/>
        </p:nvSpPr>
        <p:spPr>
          <a:xfrm>
            <a:off x="-1333500" y="-1905000"/>
            <a:ext cx="6096000" cy="6096000"/>
          </a:xfrm>
          <a:prstGeom prst="ellipse">
            <a:avLst/>
          </a:prstGeom>
          <a:gradFill>
            <a:gsLst>
              <a:gs pos="0">
                <a:srgbClr val="22D3EE">
                  <a:alpha val="20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p13-glow-b"/>
          <p:cNvSpPr/>
          <p:nvPr/>
        </p:nvSpPr>
        <p:spPr>
          <a:xfrm>
            <a:off x="7429500" y="2667000"/>
            <a:ext cx="6477000" cy="6477000"/>
          </a:xfrm>
          <a:prstGeom prst="ellipse">
            <a:avLst/>
          </a:prstGeom>
          <a:gradFill>
            <a:gsLst>
              <a:gs pos="0">
                <a:srgbClr val="818CF8">
                  <a:alpha val="18000"/>
                </a:srgbClr>
              </a:gs>
              <a:gs pos="100000">
                <a:srgbClr val="818C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6" name="end-title"/>
          <p:cNvGrpSpPr/>
          <p:nvPr/>
        </p:nvGrpSpPr>
        <p:grpSpPr>
          <a:xfrm>
            <a:off x="3042480" y="2050256"/>
            <a:ext cx="6107040" cy="982123"/>
            <a:chOff x="3042480" y="2050256"/>
            <a:chExt cx="6107040" cy="982123"/>
          </a:xfrm>
        </p:grpSpPr>
        <p:sp>
          <p:nvSpPr>
            <p:cNvPr id="4" name="TextBox 4"/>
            <p:cNvSpPr txBox="1"/>
            <p:nvPr/>
          </p:nvSpPr>
          <p:spPr>
            <a:xfrm>
              <a:off x="5719608" y="2050256"/>
              <a:ext cx="7527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120" b="1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PENUTUP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42480" y="2386965"/>
              <a:ext cx="61070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Portal Baru Siap Diluncurkan</a:t>
              </a:r>
            </a:p>
          </p:txBody>
        </p:sp>
      </p:grpSp>
      <p:grpSp>
        <p:nvGrpSpPr>
          <p:cNvPr id="22" name="end-stats"/>
          <p:cNvGrpSpPr/>
          <p:nvPr/>
        </p:nvGrpSpPr>
        <p:grpSpPr>
          <a:xfrm>
            <a:off x="2279726" y="3390900"/>
            <a:ext cx="8120374" cy="968978"/>
            <a:chOff x="2279726" y="3390900"/>
            <a:chExt cx="8120374" cy="968978"/>
          </a:xfrm>
        </p:grpSpPr>
        <p:grpSp>
          <p:nvGrpSpPr>
            <p:cNvPr id="9" name="end-stat-1"/>
            <p:cNvGrpSpPr/>
            <p:nvPr/>
          </p:nvGrpSpPr>
          <p:grpSpPr>
            <a:xfrm>
              <a:off x="2279726" y="3484245"/>
              <a:ext cx="1155548" cy="875633"/>
              <a:chOff x="2279726" y="3484245"/>
              <a:chExt cx="1155548" cy="875633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2279726" y="3484245"/>
                <a:ext cx="1155548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id-ID" sz="39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3,5×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432680" y="4110514"/>
                <a:ext cx="8496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id-ID" sz="128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lebih cepat</a:t>
                </a:r>
              </a:p>
            </p:txBody>
          </p:sp>
        </p:grpSp>
        <p:sp>
          <p:nvSpPr>
            <p:cNvPr id="10" name="Line 10"/>
            <p:cNvSpPr/>
            <p:nvPr/>
          </p:nvSpPr>
          <p:spPr>
            <a:xfrm>
              <a:off x="4000500" y="3390900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grpSp>
          <p:nvGrpSpPr>
            <p:cNvPr id="13" name="end-stat-2"/>
            <p:cNvGrpSpPr/>
            <p:nvPr/>
          </p:nvGrpSpPr>
          <p:grpSpPr>
            <a:xfrm>
              <a:off x="4653703" y="3484245"/>
              <a:ext cx="979594" cy="875633"/>
              <a:chOff x="4653703" y="3484245"/>
              <a:chExt cx="979594" cy="87563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671464" y="3484245"/>
                <a:ext cx="944071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id-ID" sz="39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214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653703" y="4110514"/>
                <a:ext cx="97959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id-ID" sz="128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URL sitemap</a:t>
                </a:r>
              </a:p>
            </p:txBody>
          </p:sp>
        </p:grpSp>
        <p:sp>
          <p:nvSpPr>
            <p:cNvPr id="14" name="Line 14"/>
            <p:cNvSpPr/>
            <p:nvPr/>
          </p:nvSpPr>
          <p:spPr>
            <a:xfrm>
              <a:off x="6286500" y="3390900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grpSp>
          <p:nvGrpSpPr>
            <p:cNvPr id="17" name="end-stat-3"/>
            <p:cNvGrpSpPr/>
            <p:nvPr/>
          </p:nvGrpSpPr>
          <p:grpSpPr>
            <a:xfrm>
              <a:off x="6953787" y="3484245"/>
              <a:ext cx="951426" cy="875633"/>
              <a:chOff x="6953787" y="3484245"/>
              <a:chExt cx="951426" cy="875633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957464" y="3484245"/>
                <a:ext cx="944071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id-ID" sz="39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178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953787" y="4110514"/>
                <a:ext cx="951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id-ID" sz="128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tes otomatis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8572500" y="3390900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grpSp>
          <p:nvGrpSpPr>
            <p:cNvPr id="21" name="end-stat-4"/>
            <p:cNvGrpSpPr/>
            <p:nvPr/>
          </p:nvGrpSpPr>
          <p:grpSpPr>
            <a:xfrm>
              <a:off x="9030900" y="3484245"/>
              <a:ext cx="1369200" cy="875633"/>
              <a:chOff x="9030900" y="3484245"/>
              <a:chExt cx="1369200" cy="875633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9545455" y="3484245"/>
                <a:ext cx="34009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id-ID" sz="39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30900" y="4110514"/>
                <a:ext cx="136920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id-ID" sz="1280" dirty="0">
                    <a:solidFill>
                      <a:srgbClr val="93A4BD"/>
                    </a:solidFill>
                    <a:latin typeface="+mn-lt"/>
                    <a:ea typeface="+mn-ea"/>
                    <a:cs typeface="+mn-cs"/>
                  </a:rPr>
                  <a:t>header keamanan</a:t>
                </a:r>
              </a:p>
            </p:txBody>
          </p:sp>
        </p:grpSp>
      </p:grpSp>
      <p:grpSp>
        <p:nvGrpSpPr>
          <p:cNvPr id="27" name="end-action"/>
          <p:cNvGrpSpPr/>
          <p:nvPr/>
        </p:nvGrpSpPr>
        <p:grpSpPr>
          <a:xfrm>
            <a:off x="762000" y="4724400"/>
            <a:ext cx="10668000" cy="1028700"/>
            <a:chOff x="762000" y="4724400"/>
            <a:chExt cx="10668000" cy="1028700"/>
          </a:xfrm>
        </p:grpSpPr>
        <p:sp>
          <p:nvSpPr>
            <p:cNvPr id="23" name="Rectangle 23"/>
            <p:cNvSpPr/>
            <p:nvPr/>
          </p:nvSpPr>
          <p:spPr>
            <a:xfrm>
              <a:off x="762000" y="4724400"/>
              <a:ext cx="10668000" cy="1028700"/>
            </a:xfrm>
            <a:prstGeom prst="roundRect">
              <a:avLst>
                <a:gd name="adj" fmla="val 12963"/>
              </a:avLst>
            </a:prstGeom>
            <a:solidFill>
              <a:srgbClr val="22D3EE">
                <a:alpha val="8000"/>
              </a:srgbClr>
            </a:solidFill>
            <a:ln w="14288">
              <a:solidFill>
                <a:srgbClr val="22D3EE">
                  <a:alpha val="38000"/>
                </a:srgbClr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98550" y="5099945"/>
              <a:ext cx="314020" cy="277598"/>
            </a:xfrm>
            <a:custGeom>
              <a:avLst/>
              <a:gdLst/>
              <a:ahLst/>
              <a:cxnLst/>
              <a:rect l="l" t="t" r="r" b="b"/>
              <a:pathLst>
                <a:path w="314020" h="277598">
                  <a:moveTo>
                    <a:pt x="160163" y="5995"/>
                  </a:moveTo>
                  <a:cubicBezTo>
                    <a:pt x="149554" y="11423"/>
                    <a:pt x="142878" y="22335"/>
                    <a:pt x="142875" y="34253"/>
                  </a:cubicBezTo>
                  <a:lnTo>
                    <a:pt x="142859" y="75305"/>
                  </a:lnTo>
                  <a:lnTo>
                    <a:pt x="31750" y="75305"/>
                  </a:lnTo>
                  <a:cubicBezTo>
                    <a:pt x="14215" y="75305"/>
                    <a:pt x="0" y="89520"/>
                    <a:pt x="0" y="107055"/>
                  </a:cubicBezTo>
                  <a:lnTo>
                    <a:pt x="0" y="170556"/>
                  </a:lnTo>
                  <a:lnTo>
                    <a:pt x="79" y="172937"/>
                  </a:lnTo>
                  <a:cubicBezTo>
                    <a:pt x="1326" y="189505"/>
                    <a:pt x="15135" y="202311"/>
                    <a:pt x="31750" y="202306"/>
                  </a:cubicBezTo>
                  <a:lnTo>
                    <a:pt x="142859" y="202290"/>
                  </a:lnTo>
                  <a:lnTo>
                    <a:pt x="142875" y="243358"/>
                  </a:lnTo>
                  <a:cubicBezTo>
                    <a:pt x="142878" y="256198"/>
                    <a:pt x="150614" y="267772"/>
                    <a:pt x="162476" y="272685"/>
                  </a:cubicBezTo>
                  <a:cubicBezTo>
                    <a:pt x="174338" y="277598"/>
                    <a:pt x="187992" y="274883"/>
                    <a:pt x="197073" y="265806"/>
                  </a:cubicBezTo>
                  <a:lnTo>
                    <a:pt x="301626" y="161253"/>
                  </a:lnTo>
                  <a:cubicBezTo>
                    <a:pt x="314020" y="148854"/>
                    <a:pt x="314020" y="128757"/>
                    <a:pt x="301626" y="116358"/>
                  </a:cubicBezTo>
                  <a:lnTo>
                    <a:pt x="197073" y="11805"/>
                  </a:lnTo>
                  <a:cubicBezTo>
                    <a:pt x="187993" y="2719"/>
                    <a:pt x="174333" y="0"/>
                    <a:pt x="162465" y="4915"/>
                  </a:cubicBezTo>
                  <a:lnTo>
                    <a:pt x="160163" y="5995"/>
                  </a:lnTo>
                  <a:close/>
                </a:path>
              </a:pathLst>
            </a:custGeom>
            <a:solidFill>
              <a:srgbClr val="22D3E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67256" y="4987290"/>
              <a:ext cx="22857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Langkah berikutnya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69542" y="5378768"/>
              <a:ext cx="586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350" dirty="0">
                  <a:solidFill>
                    <a:srgbClr val="93A4BD"/>
                  </a:solidFill>
                  <a:latin typeface="+mn-lt"/>
                  <a:ea typeface="+mn-ea"/>
                  <a:cs typeface="+mn-cs"/>
                </a:rPr>
                <a:t>Aktifkan kredensial admin, tinjau konten, lalu luncurkan ke domain resmi.</a:t>
              </a:r>
            </a:p>
          </p:txBody>
        </p:sp>
      </p:grpSp>
      <p:grpSp>
        <p:nvGrpSpPr>
          <p:cNvPr id="31" name="end-meta"/>
          <p:cNvGrpSpPr/>
          <p:nvPr/>
        </p:nvGrpSpPr>
        <p:grpSpPr>
          <a:xfrm>
            <a:off x="762000" y="6038850"/>
            <a:ext cx="10673715" cy="631984"/>
            <a:chOff x="762000" y="6038850"/>
            <a:chExt cx="10673715" cy="631984"/>
          </a:xfrm>
        </p:grpSpPr>
        <p:sp>
          <p:nvSpPr>
            <p:cNvPr id="28" name="Line 28"/>
            <p:cNvSpPr/>
            <p:nvPr/>
          </p:nvSpPr>
          <p:spPr>
            <a:xfrm>
              <a:off x="762000" y="60388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3344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70868" y="6206014"/>
              <a:ext cx="5450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28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Diskominfo SP HST · Kabupaten Hulu Sungai Tengah · September 2026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1720" y="6450806"/>
              <a:ext cx="173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erbandingan-web-diskominfo">
  <a:themeElements>
    <a:clrScheme name="perbandingan-web-diskominf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bandingan-web-diskominfo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bandingan-web-diskominf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id-ID</dc:language>
  <cp:lastModifiedBy/>
  <cp:revision>1</cp:revision>
  <dcterms:created xsi:type="dcterms:W3CDTF">2026-09-27T18:47:51Z</dcterms:created>
  <dcterms:modified xsi:type="dcterms:W3CDTF">2026-09-27T18:47:51Z</dcterms:modified>
  <cp:category/>
  <cp:contentStatus/>
</cp:coreProperties>
</file>